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  <p:sldMasterId id="2147483661" r:id="rId2"/>
  </p:sldMasterIdLst>
  <p:notesMasterIdLst>
    <p:notesMasterId r:id="rId40"/>
  </p:notesMasterIdLst>
  <p:sldIdLst>
    <p:sldId id="278" r:id="rId3"/>
    <p:sldId id="258" r:id="rId4"/>
    <p:sldId id="261" r:id="rId5"/>
    <p:sldId id="281" r:id="rId6"/>
    <p:sldId id="285" r:id="rId7"/>
    <p:sldId id="286" r:id="rId8"/>
    <p:sldId id="287" r:id="rId9"/>
    <p:sldId id="288" r:id="rId10"/>
    <p:sldId id="289" r:id="rId11"/>
    <p:sldId id="292" r:id="rId12"/>
    <p:sldId id="293" r:id="rId13"/>
    <p:sldId id="294" r:id="rId14"/>
    <p:sldId id="295" r:id="rId15"/>
    <p:sldId id="298" r:id="rId16"/>
    <p:sldId id="297" r:id="rId17"/>
    <p:sldId id="296" r:id="rId18"/>
    <p:sldId id="322" r:id="rId19"/>
    <p:sldId id="314" r:id="rId20"/>
    <p:sldId id="300" r:id="rId21"/>
    <p:sldId id="299" r:id="rId22"/>
    <p:sldId id="301" r:id="rId23"/>
    <p:sldId id="323" r:id="rId24"/>
    <p:sldId id="324" r:id="rId25"/>
    <p:sldId id="302" r:id="rId26"/>
    <p:sldId id="303" r:id="rId27"/>
    <p:sldId id="304" r:id="rId28"/>
    <p:sldId id="305" r:id="rId29"/>
    <p:sldId id="307" r:id="rId30"/>
    <p:sldId id="306" r:id="rId31"/>
    <p:sldId id="308" r:id="rId32"/>
    <p:sldId id="309" r:id="rId33"/>
    <p:sldId id="310" r:id="rId34"/>
    <p:sldId id="312" r:id="rId35"/>
    <p:sldId id="313" r:id="rId36"/>
    <p:sldId id="311" r:id="rId37"/>
    <p:sldId id="276" r:id="rId38"/>
    <p:sldId id="277" r:id="rId39"/>
  </p:sldIdLst>
  <p:sldSz cx="9144000" cy="5148263"/>
  <p:notesSz cx="6858000" cy="9144000"/>
  <p:embeddedFontLst>
    <p:embeddedFont>
      <p:font typeface="Cambria Math" panose="02040503050406030204" pitchFamily="18" charset="0"/>
      <p:regular r:id="rId41"/>
    </p:embeddedFont>
    <p:embeddedFont>
      <p:font typeface="Gotham HTF" charset="0"/>
      <p:bold r:id="rId42"/>
      <p:boldItalic r:id="rId43"/>
    </p:embeddedFont>
    <p:embeddedFont>
      <p:font typeface="Gotham HTF Light" charset="0"/>
      <p:regular r:id="rId44"/>
      <p:italic r:id="rId45"/>
    </p:embeddedFont>
    <p:embeddedFont>
      <p:font typeface="Gotham HTF Medium" charset="0"/>
      <p:regular r:id="rId4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35" userDrawn="1">
          <p15:clr>
            <a:srgbClr val="A4A3A4"/>
          </p15:clr>
        </p15:guide>
        <p15:guide id="3" orient="horz" pos="737" userDrawn="1">
          <p15:clr>
            <a:srgbClr val="A4A3A4"/>
          </p15:clr>
        </p15:guide>
        <p15:guide id="4" orient="horz" pos="2937" userDrawn="1">
          <p15:clr>
            <a:srgbClr val="A4A3A4"/>
          </p15:clr>
        </p15:guide>
        <p15:guide id="5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45B"/>
    <a:srgbClr val="797979"/>
    <a:srgbClr val="91A3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8" autoAdjust="0"/>
    <p:restoredTop sz="94660"/>
  </p:normalViewPr>
  <p:slideViewPr>
    <p:cSldViewPr snapToGrid="0" snapToObjects="1">
      <p:cViewPr varScale="1">
        <p:scale>
          <a:sx n="141" d="100"/>
          <a:sy n="141" d="100"/>
        </p:scale>
        <p:origin x="702" y="120"/>
      </p:cViewPr>
      <p:guideLst>
        <p:guide pos="635"/>
        <p:guide orient="horz" pos="737"/>
        <p:guide orient="horz" pos="293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3.fntdata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6.fntdata"/><Relationship Id="rId20" Type="http://schemas.openxmlformats.org/officeDocument/2006/relationships/slide" Target="slides/slide18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es Egydio" userId="00575a3e5205fb66" providerId="LiveId" clId="{9A655243-E64D-4473-8CF4-EDD64B2C821E}"/>
    <pc:docChg chg="modSld">
      <pc:chgData name="Jones Egydio" userId="00575a3e5205fb66" providerId="LiveId" clId="{9A655243-E64D-4473-8CF4-EDD64B2C821E}" dt="2024-04-30T15:09:43.616" v="3" actId="20577"/>
      <pc:docMkLst>
        <pc:docMk/>
      </pc:docMkLst>
      <pc:sldChg chg="modSp mod">
        <pc:chgData name="Jones Egydio" userId="00575a3e5205fb66" providerId="LiveId" clId="{9A655243-E64D-4473-8CF4-EDD64B2C821E}" dt="2024-04-30T15:09:43.616" v="3" actId="20577"/>
        <pc:sldMkLst>
          <pc:docMk/>
          <pc:sldMk cId="3817959263" sldId="306"/>
        </pc:sldMkLst>
        <pc:spChg chg="mod">
          <ac:chgData name="Jones Egydio" userId="00575a3e5205fb66" providerId="LiveId" clId="{9A655243-E64D-4473-8CF4-EDD64B2C821E}" dt="2024-04-30T15:09:43.616" v="3" actId="20577"/>
          <ac:spMkLst>
            <pc:docMk/>
            <pc:sldMk cId="3817959263" sldId="306"/>
            <ac:spMk id="6" creationId="{DB33B55F-AC39-4216-8F32-3B81D9F28850}"/>
          </ac:spMkLst>
        </pc:spChg>
      </pc:sldChg>
      <pc:sldChg chg="modSp mod">
        <pc:chgData name="Jones Egydio" userId="00575a3e5205fb66" providerId="LiveId" clId="{9A655243-E64D-4473-8CF4-EDD64B2C821E}" dt="2024-04-30T15:09:34.029" v="1" actId="20577"/>
        <pc:sldMkLst>
          <pc:docMk/>
          <pc:sldMk cId="3949984735" sldId="307"/>
        </pc:sldMkLst>
        <pc:spChg chg="mod">
          <ac:chgData name="Jones Egydio" userId="00575a3e5205fb66" providerId="LiveId" clId="{9A655243-E64D-4473-8CF4-EDD64B2C821E}" dt="2024-04-30T15:09:34.029" v="1" actId="20577"/>
          <ac:spMkLst>
            <pc:docMk/>
            <pc:sldMk cId="3949984735" sldId="307"/>
            <ac:spMk id="6" creationId="{DB33B55F-AC39-4216-8F32-3B81D9F2885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A3B6B-DA47-6145-A916-4C71632D9FE2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9CAFCE-C102-6747-9B79-E03F9BCB8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28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8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8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78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539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961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013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03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62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0268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28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28618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2154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7099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2859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28011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5525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88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8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9299"/>
            <a:ext cx="7772400" cy="110354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7349"/>
            <a:ext cx="6400800" cy="1315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71679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4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1262"/>
            <a:ext cx="8229600" cy="33976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71679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047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8236"/>
            <a:ext cx="7772400" cy="102250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2055"/>
            <a:ext cx="7772400" cy="112618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71679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42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2139"/>
            <a:ext cx="4038600" cy="2550297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2139"/>
            <a:ext cx="4038600" cy="2550297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71679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1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2401"/>
            <a:ext cx="4040188" cy="4802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2667"/>
            <a:ext cx="4040188" cy="296621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2401"/>
            <a:ext cx="4041775" cy="48026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2667"/>
            <a:ext cx="4041775" cy="296621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71679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02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71679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589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71679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11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978"/>
            <a:ext cx="3008313" cy="87234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977"/>
            <a:ext cx="5111750" cy="43939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7323"/>
            <a:ext cx="3008313" cy="3521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71679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16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3784"/>
            <a:ext cx="5486400" cy="42544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007"/>
            <a:ext cx="5486400" cy="30889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9232"/>
            <a:ext cx="5486400" cy="604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71679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01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1262"/>
            <a:ext cx="8229600" cy="339761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71679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087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925"/>
            <a:ext cx="2057400" cy="329751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925"/>
            <a:ext cx="6019800" cy="329751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34DE395E-34A2-AA4D-9868-153B79C4F40E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71679"/>
            <a:ext cx="2895600" cy="2740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71679"/>
            <a:ext cx="2133600" cy="274097"/>
          </a:xfrm>
          <a:prstGeom prst="rect">
            <a:avLst/>
          </a:prstGeom>
        </p:spPr>
        <p:txBody>
          <a:bodyPr/>
          <a:lstStyle/>
          <a:p>
            <a:fld id="{4AB888C7-909F-294F-8D58-CCD5DCAC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430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+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9635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E5B1C-B3F5-4185-9472-787D4B78B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2963"/>
            <a:ext cx="6858000" cy="17922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4912B0-BD5C-485A-BF42-70D35A1A7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3513"/>
            <a:ext cx="6858000" cy="124301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6D1B7F-CA94-466C-AFAD-D17AEE3F3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CF1C-E999-4C2C-BAF7-9B2E598755BE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3AE329-D863-4772-8A1A-A1B2AD4C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2DB79E-5CB4-419A-97A8-A967D4171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DC0A8-CFEF-4BF6-9A36-FF19E8B711F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8815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0E47D1-427C-4558-BC0A-2F150A24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2381EE-BD01-4AF9-9F36-A2C087A98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3970B1-2719-4B49-9A94-AF9012698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CF1C-E999-4C2C-BAF7-9B2E598755BE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3C7FB8-D2C5-40C3-B81A-5AE1F76DC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388F5F-535C-4873-B85D-963F1DFC6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DC0A8-CFEF-4BF6-9A36-FF19E8B711F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3510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E1E49-FA0B-48DA-9470-6160EE01A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15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1B3452-C2F9-4917-9C58-599DAF955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4875"/>
            <a:ext cx="7886700" cy="11271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A8DC6C-28C5-48B2-A7E7-3EF80A808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CF1C-E999-4C2C-BAF7-9B2E598755BE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47023D-DABD-4C75-8451-4514F53E7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54B5C9-9B80-4809-84C0-2F5FC721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DC0A8-CFEF-4BF6-9A36-FF19E8B711F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0410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1A160-0A99-4168-B088-D9BC4C5FA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338448-524F-4FF7-9D99-83A7D0DA93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707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9C43459-0AB4-4C9E-B860-5F9F4888B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707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D14EE7-0017-4DA1-AD84-54E45862B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CF1C-E999-4C2C-BAF7-9B2E598755BE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3CF18C-3706-44C0-85CE-01A7EA41A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2916D3-70C4-4BEE-8EA8-48F042AC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DC0A8-CFEF-4BF6-9A36-FF19E8B711F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767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6B04E2-1F2C-4D0D-99F2-BD976F2D8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01BF57-E276-4C18-8EB1-FE8290CC9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2063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3B9BE8-6594-4F5C-8C90-C3AD52265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81188"/>
            <a:ext cx="3868737" cy="27654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15B86BB-3156-44E7-B9F8-906AA36CB1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2063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D28FEA3-6306-4952-832C-C5519AF92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81188"/>
            <a:ext cx="3887788" cy="27654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41B82C0-AA06-4DF3-9213-9952310D9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CF1C-E999-4C2C-BAF7-9B2E598755BE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1620E8E-4A9B-4938-9AE2-828F2EDF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8EAB3FF-D273-4C92-95B7-B6323F1CB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DC0A8-CFEF-4BF6-9A36-FF19E8B711F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09965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5F555-EE2F-4E3C-AA7F-931304404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7381DB8-FB6D-4AF4-9D64-C3F23AE7E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CF1C-E999-4C2C-BAF7-9B2E598755BE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BE6A8FA-5726-4C62-A078-3EEB74594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7D862B9-5702-47F4-A01D-807378A9E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DC0A8-CFEF-4BF6-9A36-FF19E8B711F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676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C355F2E-6C9E-404D-B06C-8664A0BA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CF1C-E999-4C2C-BAF7-9B2E598755BE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C77B522-F6B2-4065-BD14-CBFBB940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F732C7-4A15-410B-9BCD-A19A3268A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DC0A8-CFEF-4BF6-9A36-FF19E8B711F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82755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3777A-CE91-4F33-B821-D7E1D320D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173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D8F023-AEF0-4C70-BFB5-0B9549733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91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143C4D-E755-44FE-B15E-646092019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4638"/>
            <a:ext cx="2949575" cy="28606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2251C0-2198-4B2F-97CB-92CD62DAB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CF1C-E999-4C2C-BAF7-9B2E598755BE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5B2B0D-0837-40B3-B7DF-DBB1B3D3B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EA83DF-2661-4EC0-9843-1BA9BC3D1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DC0A8-CFEF-4BF6-9A36-FF19E8B711F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35207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10419-BB55-4DB6-B259-57442A192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173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F1E8DDD-581C-4C27-AA44-66E186CC20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91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E57F0D4-9A23-403F-8522-94CE7F5E5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4638"/>
            <a:ext cx="2949575" cy="28606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203235-BFC4-411F-A80F-4D47DC76E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CF1C-E999-4C2C-BAF7-9B2E598755BE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C521ED-B770-4F9C-809B-97497D4B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6BB71F-206D-40F7-A7C3-2ABE94685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DC0A8-CFEF-4BF6-9A36-FF19E8B711F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05886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FEB639-5A09-481A-A5E4-B7AD714FD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7D5C45D-79BC-4F0E-8783-92F450E9E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93DFF7-2D80-4F91-B3ED-42B56530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CF1C-E999-4C2C-BAF7-9B2E598755BE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9AF59A-F34B-4B30-A210-F3ED65B5B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82EDE8-FF13-4DEC-89CC-6DA3C841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DC0A8-CFEF-4BF6-9A36-FF19E8B711F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10614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1A69CE-0B12-41CF-8367-E94F3462CF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6245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F2463F-5893-4039-A4C0-CDA105D4E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6245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F44292-BE36-4171-B0E8-D4F718C74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FCF1C-E999-4C2C-BAF7-9B2E598755BE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098FF3-89D1-4637-BD8E-E37EA87E7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3E05DE-7688-4DB5-8E72-765E4BD37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DC0A8-CFEF-4BF6-9A36-FF19E8B711F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975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34CE4504-2FB0-4138-B474-2003D0B5834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05943" y="211486"/>
            <a:ext cx="8732115" cy="4725291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BDA2537-4423-422C-A401-88DC5C2C12F4}"/>
              </a:ext>
            </a:extLst>
          </p:cNvPr>
          <p:cNvSpPr/>
          <p:nvPr userDrawn="1"/>
        </p:nvSpPr>
        <p:spPr>
          <a:xfrm>
            <a:off x="951978" y="1252603"/>
            <a:ext cx="413359" cy="2740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3489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F7B6106-04A5-4DD4-ACBC-350899138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5FA6E3-20EA-45DF-A829-6ABD32820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68B1FF-E18B-4746-AF57-6EE8B7A0F4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72025"/>
            <a:ext cx="2057400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FCF1C-E999-4C2C-BAF7-9B2E598755BE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EE2349-9387-4C47-8EF2-FF8FB061CE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72025"/>
            <a:ext cx="3086100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28B50A-EA42-4B15-9B34-AF8FA8436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72025"/>
            <a:ext cx="2057400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DC0A8-CFEF-4BF6-9A36-FF19E8B711F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5790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rchive.org/details/CalculusForDummies_201709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655" y="2215502"/>
            <a:ext cx="2648691" cy="71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55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79" y="739692"/>
            <a:ext cx="2046785" cy="2399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93272" y="1989356"/>
            <a:ext cx="59574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DATA ANALYSIS</a:t>
            </a:r>
            <a:r>
              <a:rPr lang="en-US" sz="3500" dirty="0">
                <a:solidFill>
                  <a:srgbClr val="91A3AD"/>
                </a:solidFill>
                <a:latin typeface="Gotham HTF Medium"/>
                <a:cs typeface="Gotham HTF Medium"/>
              </a:rPr>
              <a:t> </a:t>
            </a:r>
            <a:r>
              <a:rPr lang="en-US" sz="3500" dirty="0">
                <a:solidFill>
                  <a:srgbClr val="ED145B"/>
                </a:solidFill>
                <a:latin typeface="Gotham HTF" pitchFamily="50" charset="0"/>
                <a:cs typeface="Gotham HTF Medium"/>
              </a:rPr>
              <a:t>FUNDAMENTALS</a:t>
            </a:r>
            <a:endParaRPr lang="en-US" sz="3500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6E4B68E-89DD-4CDE-B093-AEFBCBC569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8572" y="2192778"/>
            <a:ext cx="2017354" cy="23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71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áfico 8">
            <a:extLst>
              <a:ext uri="{FF2B5EF4-FFF2-40B4-BE49-F238E27FC236}">
                <a16:creationId xmlns:a16="http://schemas.microsoft.com/office/drawing/2014/main" id="{32A49873-DC93-4CBD-8AFD-CA0F3F13C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943" y="211486"/>
            <a:ext cx="8732115" cy="47252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9767" y="1573953"/>
            <a:ext cx="6844466" cy="200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12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Gotham HTF Book"/>
              </a:rPr>
              <a:t>"Capacitar o aluno no entendimento de conceitos básicos de estatística e análise de dados.“</a:t>
            </a:r>
          </a:p>
          <a:p>
            <a:pPr algn="ctr">
              <a:lnSpc>
                <a:spcPct val="130000"/>
              </a:lnSpc>
              <a:spcAft>
                <a:spcPts val="1200"/>
              </a:spcAft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Gotham HTF Book"/>
              </a:rPr>
              <a:t>"Preparar os alunos para entender e desempenhar conceitos futuros relacionados à Análise Exploratória de Dados e </a:t>
            </a:r>
            <a:r>
              <a:rPr lang="pt-BR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Gotham HTF Book"/>
              </a:rPr>
              <a:t>Machine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Gotham HTF Book"/>
              </a:rPr>
              <a:t> Learning."</a:t>
            </a:r>
          </a:p>
        </p:txBody>
      </p:sp>
    </p:spTree>
    <p:extLst>
      <p:ext uri="{BB962C8B-B14F-4D97-AF65-F5344CB8AC3E}">
        <p14:creationId xmlns:p14="http://schemas.microsoft.com/office/powerpoint/2010/main" val="300536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79" y="739692"/>
            <a:ext cx="2046785" cy="2399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93272" y="2258660"/>
            <a:ext cx="59574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LIMITES E</a:t>
            </a:r>
            <a:r>
              <a:rPr lang="en-US" sz="3500" dirty="0">
                <a:solidFill>
                  <a:srgbClr val="91A3AD"/>
                </a:solidFill>
                <a:latin typeface="Gotham HTF Medium"/>
                <a:cs typeface="Gotham HTF Medium"/>
              </a:rPr>
              <a:t> </a:t>
            </a:r>
            <a:r>
              <a:rPr lang="en-US" sz="3500" dirty="0">
                <a:solidFill>
                  <a:srgbClr val="ED145B"/>
                </a:solidFill>
                <a:latin typeface="Gotham HTF" pitchFamily="50" charset="0"/>
                <a:cs typeface="Gotham HTF Medium"/>
              </a:rPr>
              <a:t>DERIVADAS</a:t>
            </a:r>
            <a:endParaRPr lang="en-US" sz="3500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D6E6704-DC54-4E9F-82A9-64A5D86289FC}"/>
              </a:ext>
            </a:extLst>
          </p:cNvPr>
          <p:cNvSpPr txBox="1">
            <a:spLocks/>
          </p:cNvSpPr>
          <p:nvPr/>
        </p:nvSpPr>
        <p:spPr>
          <a:xfrm>
            <a:off x="887104" y="692243"/>
            <a:ext cx="1308565" cy="333781"/>
          </a:xfrm>
          <a:prstGeom prst="rect">
            <a:avLst/>
          </a:prstGeom>
        </p:spPr>
        <p:txBody>
          <a:bodyPr anchor="b"/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ED145B"/>
                </a:solidFill>
                <a:effectLst/>
                <a:uLnTx/>
                <a:uFillTx/>
                <a:latin typeface="Gotham HTF" pitchFamily="50" charset="0"/>
                <a:ea typeface="+mj-ea"/>
                <a:cs typeface="+mj-cs"/>
              </a:rPr>
              <a:t>AULA 4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9265FC28-AA8E-4F42-9ABD-814BDB086E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8572" y="2192778"/>
            <a:ext cx="2017354" cy="23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694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59">
            <a:extLst>
              <a:ext uri="{FF2B5EF4-FFF2-40B4-BE49-F238E27FC236}">
                <a16:creationId xmlns:a16="http://schemas.microsoft.com/office/drawing/2014/main" id="{5A1B2A1F-7393-4A91-B495-B8BCBE85786A}"/>
              </a:ext>
            </a:extLst>
          </p:cNvPr>
          <p:cNvSpPr txBox="1"/>
          <p:nvPr/>
        </p:nvSpPr>
        <p:spPr>
          <a:xfrm>
            <a:off x="936052" y="555773"/>
            <a:ext cx="4600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INTRODUÇÃO LIMITES</a:t>
            </a:r>
            <a:r>
              <a:rPr lang="pt-BR" dirty="0">
                <a:solidFill>
                  <a:srgbClr val="91A3AD"/>
                </a:solidFill>
                <a:latin typeface="Gotham HTF Light"/>
                <a:cs typeface="Gotham HTF Light"/>
              </a:rPr>
              <a:t>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E DERIVADAS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490D6AD-55D0-4EEE-9F89-19777FFF8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1" y="2139235"/>
            <a:ext cx="3438951" cy="86979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EDE50C7-2CB1-47CD-B323-E3827DC4D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072" y="1635299"/>
            <a:ext cx="3243872" cy="187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259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59">
            <a:extLst>
              <a:ext uri="{FF2B5EF4-FFF2-40B4-BE49-F238E27FC236}">
                <a16:creationId xmlns:a16="http://schemas.microsoft.com/office/drawing/2014/main" id="{5A1B2A1F-7393-4A91-B495-B8BCBE85786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NUM DIA QUALQUER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EM UMA EMPRESA…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63F6EFF-3341-48DE-8423-5B752A2E77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89" t="3466" b="2489"/>
          <a:stretch/>
        </p:blipFill>
        <p:spPr>
          <a:xfrm>
            <a:off x="1841863" y="1537061"/>
            <a:ext cx="5555708" cy="2715852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DB33B55F-AC39-4216-8F32-3B81D9F28850}"/>
              </a:ext>
            </a:extLst>
          </p:cNvPr>
          <p:cNvSpPr txBox="1"/>
          <p:nvPr/>
        </p:nvSpPr>
        <p:spPr>
          <a:xfrm>
            <a:off x="936053" y="1035919"/>
            <a:ext cx="7419854" cy="369718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228600" indent="-228600"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Comportamento dos preços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F2699E18-753E-4D59-BFCD-7A98EB80E8A6}"/>
              </a:ext>
            </a:extLst>
          </p:cNvPr>
          <p:cNvSpPr txBox="1"/>
          <p:nvPr/>
        </p:nvSpPr>
        <p:spPr>
          <a:xfrm rot="16200000">
            <a:off x="1325923" y="2615658"/>
            <a:ext cx="741096" cy="290785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  <a:cs typeface="Roboto Light"/>
              </a:rPr>
              <a:t>PREÇO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7B0838EA-3B2C-4C81-8A4C-05C9AA4370D0}"/>
              </a:ext>
            </a:extLst>
          </p:cNvPr>
          <p:cNvSpPr txBox="1"/>
          <p:nvPr/>
        </p:nvSpPr>
        <p:spPr>
          <a:xfrm>
            <a:off x="3315144" y="4184726"/>
            <a:ext cx="2609146" cy="290785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  <a:cs typeface="Roboto Light"/>
              </a:rPr>
              <a:t>NÚMERO DE DIAS ATÉ O EVENTO</a:t>
            </a:r>
          </a:p>
        </p:txBody>
      </p:sp>
    </p:spTree>
    <p:extLst>
      <p:ext uri="{BB962C8B-B14F-4D97-AF65-F5344CB8AC3E}">
        <p14:creationId xmlns:p14="http://schemas.microsoft.com/office/powerpoint/2010/main" val="221651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44752EFF-8428-4700-85E1-12110972B9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10" t="3076" b="3163"/>
          <a:stretch/>
        </p:blipFill>
        <p:spPr>
          <a:xfrm>
            <a:off x="1843088" y="1515980"/>
            <a:ext cx="5554483" cy="2711341"/>
          </a:xfrm>
          <a:prstGeom prst="rect">
            <a:avLst/>
          </a:prstGeom>
        </p:spPr>
      </p:pic>
      <p:sp>
        <p:nvSpPr>
          <p:cNvPr id="7" name="TextBox 59">
            <a:extLst>
              <a:ext uri="{FF2B5EF4-FFF2-40B4-BE49-F238E27FC236}">
                <a16:creationId xmlns:a16="http://schemas.microsoft.com/office/drawing/2014/main" id="{5A1B2A1F-7393-4A91-B495-B8BCBE85786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NUM DIA QUALQUER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EM UMA EMPRESA…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B33B55F-AC39-4216-8F32-3B81D9F28850}"/>
              </a:ext>
            </a:extLst>
          </p:cNvPr>
          <p:cNvSpPr txBox="1"/>
          <p:nvPr/>
        </p:nvSpPr>
        <p:spPr>
          <a:xfrm>
            <a:off x="936053" y="1035919"/>
            <a:ext cx="7419854" cy="369718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228600" indent="-228600"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Comportamento das vendas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F0D2A5F1-7FD7-4EB6-BCD6-46A146294BA6}"/>
              </a:ext>
            </a:extLst>
          </p:cNvPr>
          <p:cNvSpPr txBox="1"/>
          <p:nvPr/>
        </p:nvSpPr>
        <p:spPr>
          <a:xfrm rot="16200000">
            <a:off x="477403" y="2726258"/>
            <a:ext cx="2323835" cy="290785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  <a:cs typeface="Roboto Light"/>
              </a:rPr>
              <a:t>QUANTIDADE DE INSCRIÇÕES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376F3999-6EA9-40C9-A0FE-3A241610316B}"/>
              </a:ext>
            </a:extLst>
          </p:cNvPr>
          <p:cNvSpPr txBox="1"/>
          <p:nvPr/>
        </p:nvSpPr>
        <p:spPr>
          <a:xfrm>
            <a:off x="3315756" y="4184726"/>
            <a:ext cx="2609146" cy="290785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  <a:cs typeface="Roboto Light"/>
              </a:rPr>
              <a:t>NÚMERO DE DIAS ATÉ O EVENTO</a:t>
            </a:r>
          </a:p>
        </p:txBody>
      </p:sp>
    </p:spTree>
    <p:extLst>
      <p:ext uri="{BB962C8B-B14F-4D97-AF65-F5344CB8AC3E}">
        <p14:creationId xmlns:p14="http://schemas.microsoft.com/office/powerpoint/2010/main" val="176228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849B3932-4DAA-4FBA-815A-7D80226E50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1" t="2782" b="2887"/>
          <a:stretch/>
        </p:blipFill>
        <p:spPr>
          <a:xfrm>
            <a:off x="1645004" y="1516451"/>
            <a:ext cx="6081124" cy="2988874"/>
          </a:xfrm>
          <a:prstGeom prst="rect">
            <a:avLst/>
          </a:prstGeom>
        </p:spPr>
      </p:pic>
      <p:sp>
        <p:nvSpPr>
          <p:cNvPr id="7" name="TextBox 59">
            <a:extLst>
              <a:ext uri="{FF2B5EF4-FFF2-40B4-BE49-F238E27FC236}">
                <a16:creationId xmlns:a16="http://schemas.microsoft.com/office/drawing/2014/main" id="{5A1B2A1F-7393-4A91-B495-B8BCBE85786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O PROBLEMA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B33B55F-AC39-4216-8F32-3B81D9F28850}"/>
              </a:ext>
            </a:extLst>
          </p:cNvPr>
          <p:cNvSpPr txBox="1"/>
          <p:nvPr/>
        </p:nvSpPr>
        <p:spPr>
          <a:xfrm>
            <a:off x="936053" y="1035919"/>
            <a:ext cx="7419854" cy="369718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228600" indent="-228600"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Não conseguem equilibrar preços e vendas para obter melhor lucratividade.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42114D6B-6F9C-4F2A-BDEA-2B10E71E6B12}"/>
              </a:ext>
            </a:extLst>
          </p:cNvPr>
          <p:cNvSpPr txBox="1"/>
          <p:nvPr/>
        </p:nvSpPr>
        <p:spPr>
          <a:xfrm>
            <a:off x="3459326" y="4447097"/>
            <a:ext cx="2452481" cy="290785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  <a:cs typeface="Roboto Light"/>
              </a:rPr>
              <a:t>NÚMERO DE DIAS ATÉ O EVENTO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E1D85FA0-65E8-41FC-A94F-AD86B2966AD8}"/>
              </a:ext>
            </a:extLst>
          </p:cNvPr>
          <p:cNvSpPr txBox="1"/>
          <p:nvPr/>
        </p:nvSpPr>
        <p:spPr>
          <a:xfrm rot="16200000">
            <a:off x="1043767" y="2594702"/>
            <a:ext cx="973504" cy="290785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  <a:cs typeface="Roboto Light"/>
              </a:rPr>
              <a:t>VALORES</a:t>
            </a:r>
          </a:p>
        </p:txBody>
      </p:sp>
    </p:spTree>
    <p:extLst>
      <p:ext uri="{BB962C8B-B14F-4D97-AF65-F5344CB8AC3E}">
        <p14:creationId xmlns:p14="http://schemas.microsoft.com/office/powerpoint/2010/main" val="128300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59">
            <a:extLst>
              <a:ext uri="{FF2B5EF4-FFF2-40B4-BE49-F238E27FC236}">
                <a16:creationId xmlns:a16="http://schemas.microsoft.com/office/drawing/2014/main" id="{5A1B2A1F-7393-4A91-B495-B8BCBE85786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O PROBLEMA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B33B55F-AC39-4216-8F32-3B81D9F28850}"/>
              </a:ext>
            </a:extLst>
          </p:cNvPr>
          <p:cNvSpPr txBox="1"/>
          <p:nvPr/>
        </p:nvSpPr>
        <p:spPr>
          <a:xfrm>
            <a:off x="936053" y="1035919"/>
            <a:ext cx="7419854" cy="846771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228600" indent="-228600"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Qual o melhor preço que essa empresa poderia oferecer?</a:t>
            </a:r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Qual a relação de limites e derivadas com esse problema?</a:t>
            </a:r>
          </a:p>
        </p:txBody>
      </p:sp>
    </p:spTree>
    <p:extLst>
      <p:ext uri="{BB962C8B-B14F-4D97-AF65-F5344CB8AC3E}">
        <p14:creationId xmlns:p14="http://schemas.microsoft.com/office/powerpoint/2010/main" val="1621746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217FFDA-53E8-4DEC-93B4-6F0D40B81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816" y="1608906"/>
            <a:ext cx="3734779" cy="2726525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DB33B55F-AC39-4216-8F32-3B81D9F28850}"/>
              </a:ext>
            </a:extLst>
          </p:cNvPr>
          <p:cNvSpPr txBox="1"/>
          <p:nvPr/>
        </p:nvSpPr>
        <p:spPr>
          <a:xfrm>
            <a:off x="936052" y="1049341"/>
            <a:ext cx="3852927" cy="369718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228600" indent="-228600"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Relação com o problema dos preços</a:t>
            </a:r>
          </a:p>
        </p:txBody>
      </p:sp>
      <p:sp>
        <p:nvSpPr>
          <p:cNvPr id="4" name="TextBox 59">
            <a:extLst>
              <a:ext uri="{FF2B5EF4-FFF2-40B4-BE49-F238E27FC236}">
                <a16:creationId xmlns:a16="http://schemas.microsoft.com/office/drawing/2014/main" id="{355A03A7-AA12-4956-8F38-6740BFFFFE2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CONCEITO DE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LIMITES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53EBB5B0-1333-48A3-891D-C4DA6B4DB44C}"/>
              </a:ext>
            </a:extLst>
          </p:cNvPr>
          <p:cNvSpPr txBox="1"/>
          <p:nvPr/>
        </p:nvSpPr>
        <p:spPr>
          <a:xfrm>
            <a:off x="907553" y="4341508"/>
            <a:ext cx="6745548" cy="369718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A empresa avalia preços que possam melhorar sua lucratividade.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B1B3E4F6-365C-4F9B-B91F-D38918C9251E}"/>
              </a:ext>
            </a:extLst>
          </p:cNvPr>
          <p:cNvGrpSpPr/>
          <p:nvPr/>
        </p:nvGrpSpPr>
        <p:grpSpPr>
          <a:xfrm>
            <a:off x="3246693" y="1556654"/>
            <a:ext cx="2364126" cy="2880821"/>
            <a:chOff x="1489880" y="1342840"/>
            <a:chExt cx="2788972" cy="3357058"/>
          </a:xfrm>
        </p:grpSpPr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41BF1A9F-4362-438B-B02E-D4E36A9447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39307" y="1342840"/>
              <a:ext cx="740225" cy="462064"/>
            </a:xfrm>
            <a:prstGeom prst="straightConnector1">
              <a:avLst/>
            </a:prstGeom>
            <a:ln w="2222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96F41A70-90C6-4685-B714-F048C4CF0EA8}"/>
                </a:ext>
              </a:extLst>
            </p:cNvPr>
            <p:cNvCxnSpPr/>
            <p:nvPr/>
          </p:nvCxnSpPr>
          <p:spPr>
            <a:xfrm flipH="1" flipV="1">
              <a:off x="3879532" y="2299581"/>
              <a:ext cx="399320" cy="805861"/>
            </a:xfrm>
            <a:prstGeom prst="straightConnector1">
              <a:avLst/>
            </a:prstGeom>
            <a:ln w="12700">
              <a:solidFill>
                <a:srgbClr val="ED145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5943CB21-0D89-4E30-8BE4-F365DE4E04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1764" y="2252781"/>
              <a:ext cx="454753" cy="816812"/>
            </a:xfrm>
            <a:prstGeom prst="straightConnector1">
              <a:avLst/>
            </a:prstGeom>
            <a:ln w="12700">
              <a:solidFill>
                <a:srgbClr val="ED145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E6C6D291-B317-464B-8FE1-49365C8DE765}"/>
                </a:ext>
              </a:extLst>
            </p:cNvPr>
            <p:cNvCxnSpPr/>
            <p:nvPr/>
          </p:nvCxnSpPr>
          <p:spPr>
            <a:xfrm flipV="1">
              <a:off x="3013881" y="1880311"/>
              <a:ext cx="26127" cy="2077777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52E633D6-BF3C-432E-9ED7-605D92C48FD3}"/>
                </a:ext>
              </a:extLst>
            </p:cNvPr>
            <p:cNvCxnSpPr/>
            <p:nvPr/>
          </p:nvCxnSpPr>
          <p:spPr>
            <a:xfrm flipH="1">
              <a:off x="3139305" y="4522026"/>
              <a:ext cx="771184" cy="4174"/>
            </a:xfrm>
            <a:prstGeom prst="straightConnector1">
              <a:avLst/>
            </a:prstGeom>
            <a:ln w="12700">
              <a:solidFill>
                <a:srgbClr val="ED145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F0C605CC-9C61-401E-800F-13DC28E64F53}"/>
                </a:ext>
              </a:extLst>
            </p:cNvPr>
            <p:cNvCxnSpPr/>
            <p:nvPr/>
          </p:nvCxnSpPr>
          <p:spPr>
            <a:xfrm>
              <a:off x="2073356" y="4522026"/>
              <a:ext cx="778565" cy="238"/>
            </a:xfrm>
            <a:prstGeom prst="straightConnector1">
              <a:avLst/>
            </a:prstGeom>
            <a:ln w="12700">
              <a:solidFill>
                <a:srgbClr val="ED145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7EF24E10-1DDC-49F3-AEFC-900AA26BB80E}"/>
                </a:ext>
              </a:extLst>
            </p:cNvPr>
            <p:cNvCxnSpPr/>
            <p:nvPr/>
          </p:nvCxnSpPr>
          <p:spPr>
            <a:xfrm flipH="1" flipV="1">
              <a:off x="1607314" y="1880311"/>
              <a:ext cx="1344654" cy="1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725D60F1-8C0A-453E-B996-6CBA9BD586D9}"/>
                </a:ext>
              </a:extLst>
            </p:cNvPr>
            <p:cNvSpPr txBox="1"/>
            <p:nvPr/>
          </p:nvSpPr>
          <p:spPr>
            <a:xfrm>
              <a:off x="1489880" y="1484953"/>
              <a:ext cx="313509" cy="3945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dirty="0">
                  <a:solidFill>
                    <a:schemeClr val="bg1">
                      <a:lumMod val="75000"/>
                    </a:schemeClr>
                  </a:solidFill>
                  <a:latin typeface="Gotham HTF Medium" pitchFamily="50" charset="0"/>
                </a:rPr>
                <a:t>L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49DEAD78-5825-4546-B4FA-8DE94D8B30F3}"/>
                </a:ext>
              </a:extLst>
            </p:cNvPr>
            <p:cNvSpPr txBox="1"/>
            <p:nvPr/>
          </p:nvSpPr>
          <p:spPr>
            <a:xfrm>
              <a:off x="2855412" y="4305377"/>
              <a:ext cx="313509" cy="3945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600" b="1" dirty="0">
                  <a:solidFill>
                    <a:schemeClr val="bg1">
                      <a:lumMod val="75000"/>
                    </a:schemeClr>
                  </a:solidFill>
                  <a:latin typeface="Gotham HTF Medium" pitchFamily="50" charset="0"/>
                </a:rPr>
                <a:t>a</a:t>
              </a:r>
            </a:p>
          </p:txBody>
        </p:sp>
      </p:grpSp>
      <p:sp>
        <p:nvSpPr>
          <p:cNvPr id="21" name="TextBox 3">
            <a:extLst>
              <a:ext uri="{FF2B5EF4-FFF2-40B4-BE49-F238E27FC236}">
                <a16:creationId xmlns:a16="http://schemas.microsoft.com/office/drawing/2014/main" id="{F0F83AC6-C1B2-49AC-876E-DBB55016EADD}"/>
              </a:ext>
            </a:extLst>
          </p:cNvPr>
          <p:cNvSpPr txBox="1"/>
          <p:nvPr/>
        </p:nvSpPr>
        <p:spPr>
          <a:xfrm>
            <a:off x="5300363" y="1081616"/>
            <a:ext cx="3350273" cy="1016048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Toda empresa busca encontrar este ponto. O limite de lucro (máximo) considerando os preços adotados.</a:t>
            </a:r>
          </a:p>
        </p:txBody>
      </p:sp>
    </p:spTree>
    <p:extLst>
      <p:ext uri="{BB962C8B-B14F-4D97-AF65-F5344CB8AC3E}">
        <p14:creationId xmlns:p14="http://schemas.microsoft.com/office/powerpoint/2010/main" val="293210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59">
            <a:extLst>
              <a:ext uri="{FF2B5EF4-FFF2-40B4-BE49-F238E27FC236}">
                <a16:creationId xmlns:a16="http://schemas.microsoft.com/office/drawing/2014/main" id="{5A1B2A1F-7393-4A91-B495-B8BCBE85786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CONCEITO DE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DERIVADAS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B33B55F-AC39-4216-8F32-3B81D9F28850}"/>
              </a:ext>
            </a:extLst>
          </p:cNvPr>
          <p:cNvSpPr txBox="1"/>
          <p:nvPr/>
        </p:nvSpPr>
        <p:spPr>
          <a:xfrm>
            <a:off x="936053" y="1035919"/>
            <a:ext cx="7419854" cy="2447209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228600" indent="-228600"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Agora imagine que a empresa deseja conhecer qual a sensibilidade do lucro se ela mexer no preço.</a:t>
            </a:r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Ou seja, qual a taxa de variação do lucro em determinado ponto de preço fixado?</a:t>
            </a:r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Será que conseguimos determinar o melhor preço?</a:t>
            </a:r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Vamos agora falar de derivadas.</a:t>
            </a:r>
          </a:p>
        </p:txBody>
      </p:sp>
    </p:spTree>
    <p:extLst>
      <p:ext uri="{BB962C8B-B14F-4D97-AF65-F5344CB8AC3E}">
        <p14:creationId xmlns:p14="http://schemas.microsoft.com/office/powerpoint/2010/main" val="410800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DB33B55F-AC39-4216-8F32-3B81D9F28850}"/>
              </a:ext>
            </a:extLst>
          </p:cNvPr>
          <p:cNvSpPr txBox="1"/>
          <p:nvPr/>
        </p:nvSpPr>
        <p:spPr>
          <a:xfrm>
            <a:off x="936052" y="1049341"/>
            <a:ext cx="7068080" cy="846771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228600" indent="-228600"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A derivada pode ser visualizada como uma taxa de variação instantânea.</a:t>
            </a:r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Ou seja, se </a:t>
            </a:r>
            <a:r>
              <a:rPr lang="pt-BR" sz="1400" dirty="0">
                <a:solidFill>
                  <a:srgbClr val="ED145B"/>
                </a:solidFill>
                <a:latin typeface="Gotham HTF Light" pitchFamily="50" charset="0"/>
                <a:cs typeface="Roboto Light"/>
              </a:rPr>
              <a:t>x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 variar, quanto será a variação em </a:t>
            </a:r>
            <a:r>
              <a:rPr lang="pt-BR" sz="1400" dirty="0">
                <a:solidFill>
                  <a:srgbClr val="ED145B"/>
                </a:solidFill>
                <a:latin typeface="Gotham HTF Light" pitchFamily="50" charset="0"/>
                <a:cs typeface="Roboto Light"/>
              </a:rPr>
              <a:t>f(x)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?</a:t>
            </a:r>
          </a:p>
        </p:txBody>
      </p:sp>
      <p:sp>
        <p:nvSpPr>
          <p:cNvPr id="4" name="TextBox 59">
            <a:extLst>
              <a:ext uri="{FF2B5EF4-FFF2-40B4-BE49-F238E27FC236}">
                <a16:creationId xmlns:a16="http://schemas.microsoft.com/office/drawing/2014/main" id="{355A03A7-AA12-4956-8F38-6740BFFFFE2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CONCEITO DE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DERIVADAS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27E6190-8E5D-4CD0-A084-A7D6375F1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88" y="2107739"/>
            <a:ext cx="2468296" cy="2386660"/>
          </a:xfrm>
          <a:prstGeom prst="rect">
            <a:avLst/>
          </a:prstGeom>
          <a:solidFill>
            <a:srgbClr val="ED145B"/>
          </a:solidFill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3">
                <a:extLst>
                  <a:ext uri="{FF2B5EF4-FFF2-40B4-BE49-F238E27FC236}">
                    <a16:creationId xmlns:a16="http://schemas.microsoft.com/office/drawing/2014/main" id="{68F828C4-C9A4-4032-AB05-75D84D4A3C0C}"/>
                  </a:ext>
                </a:extLst>
              </p:cNvPr>
              <p:cNvSpPr txBox="1"/>
              <p:nvPr/>
            </p:nvSpPr>
            <p:spPr>
              <a:xfrm>
                <a:off x="5227390" y="3045294"/>
                <a:ext cx="1511613" cy="511551"/>
              </a:xfrm>
              <a:prstGeom prst="rect">
                <a:avLst/>
              </a:prstGeom>
              <a:noFill/>
            </p:spPr>
            <p:txBody>
              <a:bodyPr wrap="square" tIns="468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i="1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1400" i="1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400" i="1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1400" i="1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1400" i="1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pt-BR" sz="1400" i="1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1400" i="1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1400" i="1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400" i="1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pt-BR" sz="1400" i="1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pt-BR" sz="1400" dirty="0">
                  <a:latin typeface="Gotham HTF Light "/>
                </a:endParaRPr>
              </a:p>
            </p:txBody>
          </p:sp>
        </mc:Choice>
        <mc:Fallback xmlns="">
          <p:sp>
            <p:nvSpPr>
              <p:cNvPr id="23" name="TextBox 3">
                <a:extLst>
                  <a:ext uri="{FF2B5EF4-FFF2-40B4-BE49-F238E27FC236}">
                    <a16:creationId xmlns:a16="http://schemas.microsoft.com/office/drawing/2014/main" id="{68F828C4-C9A4-4032-AB05-75D84D4A3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390" y="3045294"/>
                <a:ext cx="1511613" cy="511551"/>
              </a:xfrm>
              <a:prstGeom prst="rect">
                <a:avLst/>
              </a:prstGeom>
              <a:blipFill>
                <a:blip r:embed="rId5"/>
                <a:stretch>
                  <a:fillRect b="-24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eta para a Direita 2">
            <a:extLst>
              <a:ext uri="{FF2B5EF4-FFF2-40B4-BE49-F238E27FC236}">
                <a16:creationId xmlns:a16="http://schemas.microsoft.com/office/drawing/2014/main" id="{4C32BC2E-E4C4-48FB-8FCF-2CE990F0666D}"/>
              </a:ext>
            </a:extLst>
          </p:cNvPr>
          <p:cNvSpPr/>
          <p:nvPr/>
        </p:nvSpPr>
        <p:spPr>
          <a:xfrm>
            <a:off x="3930430" y="3266235"/>
            <a:ext cx="758599" cy="69669"/>
          </a:xfrm>
          <a:prstGeom prst="rightArrow">
            <a:avLst/>
          </a:prstGeom>
          <a:solidFill>
            <a:srgbClr val="ED145B"/>
          </a:solidFill>
          <a:ln>
            <a:solidFill>
              <a:srgbClr val="ED14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005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Resultado de imagem para derivadas gif">
            <a:extLst>
              <a:ext uri="{FF2B5EF4-FFF2-40B4-BE49-F238E27FC236}">
                <a16:creationId xmlns:a16="http://schemas.microsoft.com/office/drawing/2014/main" id="{19F00BA1-9050-466A-B22B-3B66546CAC7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665" y="2117404"/>
            <a:ext cx="2647542" cy="2598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DB33B55F-AC39-4216-8F32-3B81D9F28850}"/>
              </a:ext>
            </a:extLst>
          </p:cNvPr>
          <p:cNvSpPr txBox="1"/>
          <p:nvPr/>
        </p:nvSpPr>
        <p:spPr>
          <a:xfrm>
            <a:off x="936052" y="1049341"/>
            <a:ext cx="7068080" cy="1169937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228600" indent="-228600"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Imagine agora que você deseja analisar qual a menor variação possível em </a:t>
            </a:r>
            <a:r>
              <a:rPr lang="pt-BR" sz="1400" dirty="0">
                <a:solidFill>
                  <a:srgbClr val="ED145B"/>
                </a:solidFill>
                <a:latin typeface="Gotham HTF Light" pitchFamily="50" charset="0"/>
                <a:cs typeface="Roboto Light"/>
              </a:rPr>
              <a:t>f(x) 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dada a menor variação possível em </a:t>
            </a:r>
            <a:r>
              <a:rPr lang="pt-BR" sz="1400" dirty="0">
                <a:solidFill>
                  <a:srgbClr val="ED145B"/>
                </a:solidFill>
                <a:latin typeface="Gotham HTF Light" pitchFamily="50" charset="0"/>
                <a:cs typeface="Roboto Light"/>
              </a:rPr>
              <a:t>x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.</a:t>
            </a:r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No </a:t>
            </a:r>
            <a:r>
              <a:rPr lang="pt-BR" sz="1400" dirty="0">
                <a:solidFill>
                  <a:srgbClr val="ED145B"/>
                </a:solidFill>
                <a:latin typeface="Gotham HTF Light" pitchFamily="50" charset="0"/>
                <a:cs typeface="Roboto Light"/>
              </a:rPr>
              <a:t>limite (h=0)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 teremos a variação instantânea, ou a derivada de </a:t>
            </a:r>
            <a:r>
              <a:rPr lang="pt-BR" sz="1400" dirty="0">
                <a:solidFill>
                  <a:srgbClr val="ED145B"/>
                </a:solidFill>
                <a:latin typeface="Gotham HTF Light" pitchFamily="50" charset="0"/>
                <a:cs typeface="Roboto Light"/>
              </a:rPr>
              <a:t>f(x)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.</a:t>
            </a:r>
          </a:p>
        </p:txBody>
      </p:sp>
      <p:sp>
        <p:nvSpPr>
          <p:cNvPr id="4" name="TextBox 59">
            <a:extLst>
              <a:ext uri="{FF2B5EF4-FFF2-40B4-BE49-F238E27FC236}">
                <a16:creationId xmlns:a16="http://schemas.microsoft.com/office/drawing/2014/main" id="{355A03A7-AA12-4956-8F38-6740BFFFFE2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CONCEITO DE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DERIVADAS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3">
                <a:extLst>
                  <a:ext uri="{FF2B5EF4-FFF2-40B4-BE49-F238E27FC236}">
                    <a16:creationId xmlns:a16="http://schemas.microsoft.com/office/drawing/2014/main" id="{68F828C4-C9A4-4032-AB05-75D84D4A3C0C}"/>
                  </a:ext>
                </a:extLst>
              </p:cNvPr>
              <p:cNvSpPr txBox="1"/>
              <p:nvPr/>
            </p:nvSpPr>
            <p:spPr>
              <a:xfrm>
                <a:off x="5227390" y="3195606"/>
                <a:ext cx="2776742" cy="511551"/>
              </a:xfrm>
              <a:prstGeom prst="rect">
                <a:avLst/>
              </a:prstGeom>
              <a:noFill/>
            </p:spPr>
            <p:txBody>
              <a:bodyPr wrap="square" tIns="468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1400" i="1" smtClean="0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400" i="1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sz="1400" i="1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pt-BR" sz="1400" i="1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i="1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1400" i="1">
                          <a:solidFill>
                            <a:srgbClr val="79797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1400" i="1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1400" i="1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1400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1400" i="1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pt-BR" sz="1400" i="1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pt-BR" sz="1400" i="1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1400" i="1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400" i="1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t-BR" sz="1400" i="1">
                                      <a:solidFill>
                                        <a:srgbClr val="79797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400" i="1">
                                      <a:solidFill>
                                        <a:srgbClr val="797979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1400" i="1">
                                      <a:solidFill>
                                        <a:srgbClr val="797979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sz="1400" i="1">
                                      <a:solidFill>
                                        <a:srgbClr val="797979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pt-BR" sz="1400" i="1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1400" i="1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t-BR" sz="1400" i="1">
                                      <a:solidFill>
                                        <a:srgbClr val="79797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400" i="1">
                                      <a:solidFill>
                                        <a:srgbClr val="797979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pt-BR" sz="1400" i="1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pt-BR" sz="1400" dirty="0">
                  <a:latin typeface="Gotham HTF Light "/>
                </a:endParaRPr>
              </a:p>
            </p:txBody>
          </p:sp>
        </mc:Choice>
        <mc:Fallback xmlns="">
          <p:sp>
            <p:nvSpPr>
              <p:cNvPr id="23" name="TextBox 3">
                <a:extLst>
                  <a:ext uri="{FF2B5EF4-FFF2-40B4-BE49-F238E27FC236}">
                    <a16:creationId xmlns:a16="http://schemas.microsoft.com/office/drawing/2014/main" id="{68F828C4-C9A4-4032-AB05-75D84D4A3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390" y="3195606"/>
                <a:ext cx="2776742" cy="511551"/>
              </a:xfrm>
              <a:prstGeom prst="rect">
                <a:avLst/>
              </a:prstGeom>
              <a:blipFill>
                <a:blip r:embed="rId4"/>
                <a:stretch>
                  <a:fillRect b="-11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eta para a Direita 2">
            <a:extLst>
              <a:ext uri="{FF2B5EF4-FFF2-40B4-BE49-F238E27FC236}">
                <a16:creationId xmlns:a16="http://schemas.microsoft.com/office/drawing/2014/main" id="{4C32BC2E-E4C4-48FB-8FCF-2CE990F0666D}"/>
              </a:ext>
            </a:extLst>
          </p:cNvPr>
          <p:cNvSpPr/>
          <p:nvPr/>
        </p:nvSpPr>
        <p:spPr>
          <a:xfrm>
            <a:off x="3930430" y="3416547"/>
            <a:ext cx="758599" cy="69669"/>
          </a:xfrm>
          <a:prstGeom prst="rightArrow">
            <a:avLst/>
          </a:prstGeom>
          <a:solidFill>
            <a:srgbClr val="ED145B"/>
          </a:solidFill>
          <a:ln>
            <a:solidFill>
              <a:srgbClr val="ED14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00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/>
              <p:nvPr/>
            </p:nvSpPr>
            <p:spPr>
              <a:xfrm>
                <a:off x="936052" y="1086919"/>
                <a:ext cx="7068080" cy="2423292"/>
              </a:xfrm>
              <a:prstGeom prst="rect">
                <a:avLst/>
              </a:prstGeom>
              <a:noFill/>
            </p:spPr>
            <p:txBody>
              <a:bodyPr wrap="square" tIns="46800" rtlCol="0">
                <a:spAutoFit/>
              </a:bodyPr>
              <a:lstStyle/>
              <a:p>
                <a:pPr marL="457200" lvl="0" indent="-381000">
                  <a:lnSpc>
                    <a:spcPct val="115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 "/>
                  </a:rPr>
                  <a:t>A derivada da função f(x) em relação a x é a função f’(x):</a:t>
                </a:r>
              </a:p>
              <a:p>
                <a:pPr marL="457200" lvl="0" indent="-381000">
                  <a:lnSpc>
                    <a:spcPct val="115000"/>
                  </a:lnSpc>
                  <a:buClr>
                    <a:srgbClr val="000000"/>
                  </a:buClr>
                  <a:buSzPts val="2400"/>
                  <a:buFont typeface="Arial"/>
                  <a:buChar char="●"/>
                </a:pPr>
                <a:endParaRPr lang="pt-BR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 "/>
                  <a:ea typeface="Arial"/>
                  <a:cs typeface="Arial"/>
                  <a:sym typeface="Arial"/>
                </a:endParaRPr>
              </a:p>
              <a:p>
                <a:pPr marL="76200" lvl="0">
                  <a:lnSpc>
                    <a:spcPct val="115000"/>
                  </a:lnSpc>
                  <a:buSzPts val="24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4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ar-AE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14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ar-AE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ar-AE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ar-AE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ar-AE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ar-AE" sz="14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4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ar-AE" sz="14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ar-AE" sz="14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ar-AE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ar-AE" sz="14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4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ar-AE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  <m:r>
                        <a:rPr lang="pt-BR" sz="14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 "/>
                  <a:ea typeface="Arial"/>
                  <a:cs typeface="Arial"/>
                  <a:sym typeface="Arial"/>
                </a:endParaRPr>
              </a:p>
              <a:p>
                <a:pPr marL="457200" lvl="0" indent="-381000">
                  <a:lnSpc>
                    <a:spcPct val="115000"/>
                  </a:lnSpc>
                  <a:buClr>
                    <a:srgbClr val="000000"/>
                  </a:buClr>
                  <a:buSzPts val="2400"/>
                  <a:buFont typeface="Arial"/>
                  <a:buChar char="●"/>
                </a:pPr>
                <a:endParaRPr lang="ar-AE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 "/>
                </a:endParaRPr>
              </a:p>
              <a:p>
                <a:pPr marL="457200" lvl="0" indent="-381000">
                  <a:lnSpc>
                    <a:spcPct val="115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 "/>
                    <a:ea typeface="Arial"/>
                    <a:cs typeface="Arial"/>
                    <a:sym typeface="Arial"/>
                  </a:rPr>
                  <a:t>Outra notação pode ser:</a:t>
                </a:r>
              </a:p>
              <a:p>
                <a:pPr marL="457200" lvl="0" indent="-381000">
                  <a:lnSpc>
                    <a:spcPct val="115000"/>
                  </a:lnSpc>
                  <a:buClr>
                    <a:srgbClr val="000000"/>
                  </a:buClr>
                  <a:buSzPts val="2400"/>
                  <a:buFont typeface="Arial"/>
                  <a:buChar char="●"/>
                </a:pPr>
                <a:endParaRPr lang="pt-BR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 "/>
                </a:endParaRPr>
              </a:p>
              <a:p>
                <a:pPr marL="76200" lvl="0">
                  <a:lnSpc>
                    <a:spcPct val="115000"/>
                  </a:lnSpc>
                  <a:buSzPts val="2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4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14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14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 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052" y="1086919"/>
                <a:ext cx="7068080" cy="24232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59">
            <a:extLst>
              <a:ext uri="{FF2B5EF4-FFF2-40B4-BE49-F238E27FC236}">
                <a16:creationId xmlns:a16="http://schemas.microsoft.com/office/drawing/2014/main" id="{355A03A7-AA12-4956-8F38-6740BFFFFE2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CONCEITO DE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DERIVADAS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</p:spTree>
    <p:extLst>
      <p:ext uri="{BB962C8B-B14F-4D97-AF65-F5344CB8AC3E}">
        <p14:creationId xmlns:p14="http://schemas.microsoft.com/office/powerpoint/2010/main" val="408469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DB33B55F-AC39-4216-8F32-3B81D9F28850}"/>
              </a:ext>
            </a:extLst>
          </p:cNvPr>
          <p:cNvSpPr txBox="1"/>
          <p:nvPr/>
        </p:nvSpPr>
        <p:spPr>
          <a:xfrm>
            <a:off x="936052" y="1049341"/>
            <a:ext cx="7068080" cy="1169937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228600" indent="-228600"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Deste modo, o processo de derivação pode ser usado em qualquer ponto da curva.</a:t>
            </a:r>
          </a:p>
          <a:p>
            <a:pPr marL="228600" indent="-228600"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Algo que se torna extremamente útil na prática.</a:t>
            </a:r>
          </a:p>
        </p:txBody>
      </p:sp>
      <p:sp>
        <p:nvSpPr>
          <p:cNvPr id="4" name="TextBox 59">
            <a:extLst>
              <a:ext uri="{FF2B5EF4-FFF2-40B4-BE49-F238E27FC236}">
                <a16:creationId xmlns:a16="http://schemas.microsoft.com/office/drawing/2014/main" id="{355A03A7-AA12-4956-8F38-6740BFFFFE2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CONCEITO DE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DERIVADAS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  <p:pic>
        <p:nvPicPr>
          <p:cNvPr id="7" name="Picture 2" descr="Resultado de imagem para derivadas gif">
            <a:extLst>
              <a:ext uri="{FF2B5EF4-FFF2-40B4-BE49-F238E27FC236}">
                <a16:creationId xmlns:a16="http://schemas.microsoft.com/office/drawing/2014/main" id="{1ADED497-EE0A-40B7-8024-B1A7EDBA76B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67" y="2219278"/>
            <a:ext cx="2514466" cy="224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65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/>
              <p:nvPr/>
            </p:nvSpPr>
            <p:spPr>
              <a:xfrm>
                <a:off x="860896" y="1086919"/>
                <a:ext cx="7068080" cy="3774752"/>
              </a:xfrm>
              <a:prstGeom prst="rect">
                <a:avLst/>
              </a:prstGeom>
              <a:noFill/>
            </p:spPr>
            <p:txBody>
              <a:bodyPr wrap="square" tIns="46800" rtlCol="0">
                <a:spAutoFit/>
              </a:bodyPr>
              <a:lstStyle/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Gotham HTF Light" pitchFamily="50" charset="0"/>
                    <a:sym typeface="Arial"/>
                  </a:rPr>
                  <a:t>Regra da constante:</a:t>
                </a:r>
              </a:p>
              <a:p>
                <a:pPr marL="76200" lvl="0">
                  <a:lnSpc>
                    <a:spcPct val="150000"/>
                  </a:lnSpc>
                  <a:buSzPts val="2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𝑑𝑐</m:t>
                          </m:r>
                        </m:num>
                        <m:den>
                          <m:r>
                            <a:rPr lang="ar-AE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12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2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12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Gotham HTF Light" pitchFamily="50" charset="0"/>
                  <a:sym typeface="Arial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Gotham HTF Light" pitchFamily="50" charset="0"/>
                  </a:rPr>
                  <a:t>Regra da potência:</a:t>
                </a:r>
              </a:p>
              <a:p>
                <a:pPr marL="76200">
                  <a:lnSpc>
                    <a:spcPct val="150000"/>
                  </a:lnSpc>
                  <a:buSzPts val="2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ar-AE" sz="12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2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12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ar-AE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12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2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pt-BR" sz="12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SzPts val="2400"/>
                  <a:buFont typeface="Arial"/>
                  <a:buChar char="●"/>
                </a:pPr>
                <a:endParaRPr lang="pt-B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Gotham HTF Light" pitchFamily="50" charset="0"/>
                  </a:rPr>
                  <a:t>Regra da multiplicação:</a:t>
                </a:r>
                <a:endParaRPr lang="pt-B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Gotham HTF Light" pitchFamily="50" charset="0"/>
                  <a:sym typeface="Arial"/>
                </a:endParaRPr>
              </a:p>
              <a:p>
                <a:pPr marL="76200" lvl="0">
                  <a:lnSpc>
                    <a:spcPct val="150000"/>
                  </a:lnSpc>
                  <a:buSzPts val="2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12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2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sz="12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2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ar-AE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12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2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𝑑𝑔</m:t>
                          </m:r>
                        </m:num>
                        <m:den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12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12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12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Gotham HTF Light" pitchFamily="50" charset="0"/>
                  </a:rPr>
                  <a:t>Regra da divisão:</a:t>
                </a:r>
              </a:p>
              <a:p>
                <a:pPr marL="76200">
                  <a:lnSpc>
                    <a:spcPct val="150000"/>
                  </a:lnSpc>
                  <a:buSzPts val="2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2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12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2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lang="pt-BR" sz="12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pt-BR" sz="12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 lang="pt-BR" sz="12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2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12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  <m:sSup>
                            <m:sSupPr>
                              <m:ctrlPr>
                                <a:rPr lang="pt-BR" sz="12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2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pt-BR" sz="12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12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2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pt-BR" sz="12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12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Gotham HTF Light" pitchFamily="50" charset="0"/>
                </a:endParaRPr>
              </a:p>
            </p:txBody>
          </p:sp>
        </mc:Choice>
        <mc:Fallback xmlns="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96" y="1086919"/>
                <a:ext cx="7068080" cy="37747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59">
            <a:extLst>
              <a:ext uri="{FF2B5EF4-FFF2-40B4-BE49-F238E27FC236}">
                <a16:creationId xmlns:a16="http://schemas.microsoft.com/office/drawing/2014/main" id="{355A03A7-AA12-4956-8F38-6740BFFFFE2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REGRAS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DERIVAÇÃO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</p:spTree>
    <p:extLst>
      <p:ext uri="{BB962C8B-B14F-4D97-AF65-F5344CB8AC3E}">
        <p14:creationId xmlns:p14="http://schemas.microsoft.com/office/powerpoint/2010/main" val="271123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/>
              <p:nvPr/>
            </p:nvSpPr>
            <p:spPr>
              <a:xfrm>
                <a:off x="860896" y="1086919"/>
                <a:ext cx="7068080" cy="1983556"/>
              </a:xfrm>
              <a:prstGeom prst="rect">
                <a:avLst/>
              </a:prstGeom>
              <a:noFill/>
            </p:spPr>
            <p:txBody>
              <a:bodyPr wrap="square" tIns="46800" rtlCol="0">
                <a:spAutoFit/>
              </a:bodyPr>
              <a:lstStyle/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Gotham HTF Light" pitchFamily="50" charset="0"/>
                    <a:sym typeface="Arial"/>
                  </a:rPr>
                  <a:t>Regra do logaritmo:</a:t>
                </a:r>
              </a:p>
              <a:p>
                <a:pPr marL="76200" lvl="0">
                  <a:lnSpc>
                    <a:spcPct val="150000"/>
                  </a:lnSpc>
                  <a:buSzPts val="2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ar-AE" sz="120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pt-BR" sz="1200" i="1" smtClean="0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1200" i="0" smtClean="0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pt-BR" sz="1200" b="0" i="1" smtClean="0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ar-AE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12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2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2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2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12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Gotham HTF Light" pitchFamily="50" charset="0"/>
                  <a:sym typeface="Arial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Gotham HTF Light" pitchFamily="50" charset="0"/>
                  </a:rPr>
                  <a:t>Regra da exponencial:</a:t>
                </a:r>
              </a:p>
              <a:p>
                <a:pPr marL="76200">
                  <a:lnSpc>
                    <a:spcPct val="150000"/>
                  </a:lnSpc>
                  <a:buSzPts val="2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pt-BR" sz="120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20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12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ar-AE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12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pt-BR" sz="12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ar-AE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sz="12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ar-AE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12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pt-BR" sz="12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pt-BR" sz="12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pt-BR" sz="12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1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pt-BR" sz="12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SzPts val="2400"/>
                  <a:buFont typeface="Arial"/>
                  <a:buChar char="●"/>
                </a:pPr>
                <a:endParaRPr lang="pt-B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Gotham HTF Light" pitchFamily="50" charset="0"/>
                </a:endParaRPr>
              </a:p>
            </p:txBody>
          </p:sp>
        </mc:Choice>
        <mc:Fallback xmlns="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96" y="1086919"/>
                <a:ext cx="7068080" cy="19835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59">
            <a:extLst>
              <a:ext uri="{FF2B5EF4-FFF2-40B4-BE49-F238E27FC236}">
                <a16:creationId xmlns:a16="http://schemas.microsoft.com/office/drawing/2014/main" id="{355A03A7-AA12-4956-8F38-6740BFFFFE2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REGRAS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DERIVAÇÃO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</p:spTree>
    <p:extLst>
      <p:ext uri="{BB962C8B-B14F-4D97-AF65-F5344CB8AC3E}">
        <p14:creationId xmlns:p14="http://schemas.microsoft.com/office/powerpoint/2010/main" val="4023145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/>
              <p:nvPr/>
            </p:nvSpPr>
            <p:spPr>
              <a:xfrm>
                <a:off x="860896" y="1086919"/>
                <a:ext cx="7068080" cy="2437335"/>
              </a:xfrm>
              <a:prstGeom prst="rect">
                <a:avLst/>
              </a:prstGeom>
              <a:noFill/>
            </p:spPr>
            <p:txBody>
              <a:bodyPr wrap="square" tIns="46800" rtlCol="0">
                <a:spAutoFit/>
              </a:bodyPr>
              <a:lstStyle/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Regra da constante:</a:t>
                </a:r>
              </a:p>
              <a:p>
                <a:pPr marL="76200" lvl="0">
                  <a:lnSpc>
                    <a:spcPct val="115000"/>
                  </a:lnSpc>
                  <a:buSzPts val="2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400" i="1" smtClean="0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400" i="1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𝑑𝑐</m:t>
                          </m:r>
                        </m:num>
                        <m:den>
                          <m:r>
                            <a:rPr lang="ar-AE" sz="1400" i="1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1400" i="1">
                          <a:solidFill>
                            <a:srgbClr val="79797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400" i="1">
                          <a:solidFill>
                            <a:srgbClr val="797979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sz="1400" i="1">
                          <a:solidFill>
                            <a:srgbClr val="797979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1400" dirty="0">
                  <a:solidFill>
                    <a:srgbClr val="797979"/>
                  </a:solidFill>
                  <a:latin typeface="Gotham HTF Light" pitchFamily="50" charset="0"/>
                  <a:sym typeface="Arial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endParaRPr lang="pt-BR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Exemplos:</a:t>
                </a: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+mj-lt"/>
                  <a:buAutoNum type="alphaLcParenR"/>
                </a:pPr>
                <a:r>
                  <a:rPr lang="pt-BR" sz="1400" dirty="0">
                    <a:solidFill>
                      <a:srgbClr val="797979"/>
                    </a:solidFill>
                    <a:latin typeface="Gotham HTF Light" pitchFamily="50" charset="0"/>
                    <a:sym typeface="Arial"/>
                  </a:rPr>
                  <a:t>Derivada de 3: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400" i="1" smtClean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ar-AE" sz="1400" b="0" i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pt-BR" sz="1400" b="0" i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ar-AE" sz="1400" b="0" i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dx</m:t>
                        </m:r>
                      </m:den>
                    </m:f>
                    <m:r>
                      <a:rPr lang="pt-BR" sz="1400" b="0" i="0">
                        <a:solidFill>
                          <a:srgbClr val="ED145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400" b="0" i="0">
                        <a:solidFill>
                          <a:srgbClr val="ED145B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pt-BR" sz="1400" dirty="0">
                  <a:solidFill>
                    <a:srgbClr val="ED145B"/>
                  </a:solidFill>
                  <a:latin typeface="Gotham HTF Light" pitchFamily="50" charset="0"/>
                  <a:sym typeface="Arial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+mj-lt"/>
                  <a:buAutoNum type="alphaLcParenR"/>
                </a:pPr>
                <a:r>
                  <a:rPr lang="pt-BR" sz="1400" dirty="0">
                    <a:solidFill>
                      <a:srgbClr val="797979"/>
                    </a:solidFill>
                    <a:latin typeface="Gotham HTF Light" pitchFamily="50" charset="0"/>
                  </a:rPr>
                  <a:t>Derivada de t (sendo t = 2):</a:t>
                </a:r>
                <a:r>
                  <a:rPr lang="pt-BR" sz="1400" dirty="0">
                    <a:solidFill>
                      <a:srgbClr val="ED145B"/>
                    </a:solidFill>
                    <a:latin typeface="Gotham HTF Light" pitchFamily="50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400" i="1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ar-AE" sz="1400" b="0" i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pt-BR" sz="1400" b="0" i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ar-AE" sz="1400" b="0" i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dx</m:t>
                        </m:r>
                      </m:den>
                    </m:f>
                    <m:r>
                      <a:rPr lang="pt-BR" sz="1400" b="0" i="0">
                        <a:solidFill>
                          <a:srgbClr val="ED145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400" i="1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ar-AE" sz="1400" b="0" i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pt-BR" sz="1400" b="0" i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ar-AE" sz="1400" b="0" i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dx</m:t>
                        </m:r>
                      </m:den>
                    </m:f>
                    <m:r>
                      <a:rPr lang="pt-BR" sz="1400" b="0" i="0">
                        <a:solidFill>
                          <a:srgbClr val="ED145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400" b="0" i="0">
                        <a:solidFill>
                          <a:srgbClr val="ED145B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sz="1400" dirty="0">
                    <a:solidFill>
                      <a:srgbClr val="ED145B"/>
                    </a:solidFill>
                    <a:latin typeface="Gotham HTF Light" pitchFamily="50" charset="0"/>
                  </a:rPr>
                  <a:t> </a:t>
                </a:r>
                <a:endParaRPr lang="ar-AE" sz="1400" dirty="0">
                  <a:solidFill>
                    <a:srgbClr val="000000"/>
                  </a:solidFill>
                  <a:latin typeface="Gotham HTF Light" pitchFamily="50" charset="0"/>
                  <a:sym typeface="Arial"/>
                </a:endParaRPr>
              </a:p>
            </p:txBody>
          </p:sp>
        </mc:Choice>
        <mc:Fallback xmlns="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96" y="1086919"/>
                <a:ext cx="7068080" cy="24373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59">
            <a:extLst>
              <a:ext uri="{FF2B5EF4-FFF2-40B4-BE49-F238E27FC236}">
                <a16:creationId xmlns:a16="http://schemas.microsoft.com/office/drawing/2014/main" id="{355A03A7-AA12-4956-8F38-6740BFFFFE2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APLICAÇÃO DAS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REGRAS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</p:spTree>
    <p:extLst>
      <p:ext uri="{BB962C8B-B14F-4D97-AF65-F5344CB8AC3E}">
        <p14:creationId xmlns:p14="http://schemas.microsoft.com/office/powerpoint/2010/main" val="1389046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/>
              <p:nvPr/>
            </p:nvSpPr>
            <p:spPr>
              <a:xfrm>
                <a:off x="860896" y="1086919"/>
                <a:ext cx="7068080" cy="2883354"/>
              </a:xfrm>
              <a:prstGeom prst="rect">
                <a:avLst/>
              </a:prstGeom>
              <a:noFill/>
            </p:spPr>
            <p:txBody>
              <a:bodyPr wrap="square" tIns="46800" rtlCol="0">
                <a:spAutoFit/>
              </a:bodyPr>
              <a:lstStyle/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Regra da potência:</a:t>
                </a:r>
              </a:p>
              <a:p>
                <a:pPr marL="247650" indent="-17145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ar-AE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ar-AE" sz="140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ar-AE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pt-BR" sz="1400" i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pt-BR" sz="1400" i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ar-AE" sz="140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dx</m:t>
                        </m:r>
                      </m:den>
                    </m:f>
                    <m:r>
                      <a:rPr lang="pt-BR" sz="140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pt-BR" sz="140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n</m:t>
                    </m:r>
                    <m:sSup>
                      <m:sSupPr>
                        <m:ctrlP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sz="140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pt-BR" sz="140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pt-BR" sz="140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140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pt-BR" sz="1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endParaRPr lang="pt-BR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Exemplos:</a:t>
                </a: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+mj-lt"/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ar-AE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ar-AE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ar-AE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pt-BR" sz="1400" b="0" i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pt-BR" sz="1400" b="0" i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ar-AE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dx</m:t>
                        </m:r>
                      </m:den>
                    </m:f>
                    <m:r>
                      <a:rPr lang="pt-BR" sz="1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400" b="0" i="0" smtClean="0">
                        <a:solidFill>
                          <a:srgbClr val="ED145B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pt-BR" sz="1400" i="1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sz="1400" b="0" i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pt-BR" sz="1400" b="0" i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1400" b="0" i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1400" b="0" i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pt-BR" sz="1400" b="0" i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pt-BR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pt-BR" sz="1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400" b="0" i="0" smtClean="0">
                        <a:solidFill>
                          <a:srgbClr val="ED145B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pt-BR" sz="1400" i="1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sz="1400" b="0" i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/>
                    </m:sSup>
                  </m:oMath>
                </a14:m>
                <a:endParaRPr lang="pt-BR" sz="1400" dirty="0">
                  <a:solidFill>
                    <a:srgbClr val="797979"/>
                  </a:solidFill>
                  <a:latin typeface="Gotham HTF Light" pitchFamily="50" charset="0"/>
                  <a:sym typeface="Arial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endParaRPr lang="pt-BR" sz="1400" dirty="0">
                  <a:solidFill>
                    <a:srgbClr val="797979"/>
                  </a:solidFill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+mj-lt"/>
                  <a:buAutoNum type="alphaLcParenR" startAt="2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ar-AE" sz="1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ar-AE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ar-AE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1400" b="0" i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1400" b="0" i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pt-BR" sz="1400" b="0" i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pt-BR" sz="1400" b="0" i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pt-BR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1400" b="0" i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1400" b="0" i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pt-BR" sz="1400" b="0" i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pt-BR" sz="1400" b="0" i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pt-BR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ar-AE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dx</m:t>
                        </m:r>
                      </m:den>
                    </m:f>
                    <m:r>
                      <a:rPr lang="pt-BR" sz="1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1400" b="0" i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pt-BR" sz="1400" b="0" i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pt-BR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pt-BR" sz="1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1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1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pt-BR" sz="1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pt-BR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pt-BR" sz="1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1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sSupPr>
                        <m:ctrlP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pt-BR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1400" b="0" i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pt-BR" sz="1400" b="0" i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1400" i="1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400" b="0" i="1" smtClean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pt-BR" sz="1400" b="0" i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pt-BR" sz="1400" b="0" i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1400" b="0" i="0">
                        <a:solidFill>
                          <a:srgbClr val="ED145B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1400" b="0" i="0">
                        <a:solidFill>
                          <a:srgbClr val="ED145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pt-BR" sz="1400" i="1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pt-BR" sz="1400" b="0" i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/>
                    </m:sSup>
                    <m:r>
                      <a:rPr lang="pt-BR" sz="1400" b="0" i="0">
                        <a:solidFill>
                          <a:srgbClr val="ED145B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1400" b="0" i="0">
                        <a:solidFill>
                          <a:srgbClr val="ED145B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pt-BR" sz="1400" dirty="0">
                  <a:solidFill>
                    <a:srgbClr val="797979"/>
                  </a:solidFill>
                  <a:latin typeface="Gotham HTF Light" pitchFamily="50" charset="0"/>
                  <a:sym typeface="Arial"/>
                </a:endParaRPr>
              </a:p>
            </p:txBody>
          </p:sp>
        </mc:Choice>
        <mc:Fallback xmlns="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96" y="1086919"/>
                <a:ext cx="7068080" cy="28833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59">
            <a:extLst>
              <a:ext uri="{FF2B5EF4-FFF2-40B4-BE49-F238E27FC236}">
                <a16:creationId xmlns:a16="http://schemas.microsoft.com/office/drawing/2014/main" id="{355A03A7-AA12-4956-8F38-6740BFFFFE2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REGRAS DE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DERIVAÇÃO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C5C1D9C4-ED10-45F0-A87A-9B202DAEBAF7}"/>
              </a:ext>
            </a:extLst>
          </p:cNvPr>
          <p:cNvCxnSpPr>
            <a:cxnSpLocks/>
          </p:cNvCxnSpPr>
          <p:nvPr/>
        </p:nvCxnSpPr>
        <p:spPr>
          <a:xfrm flipV="1">
            <a:off x="3507288" y="2252888"/>
            <a:ext cx="2769687" cy="582501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498EBE09-256E-491C-9D11-3B75E14C4B21}"/>
              </a:ext>
            </a:extLst>
          </p:cNvPr>
          <p:cNvCxnSpPr>
            <a:cxnSpLocks/>
          </p:cNvCxnSpPr>
          <p:nvPr/>
        </p:nvCxnSpPr>
        <p:spPr>
          <a:xfrm flipV="1">
            <a:off x="5348614" y="2321719"/>
            <a:ext cx="990274" cy="1185570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3">
            <a:extLst>
              <a:ext uri="{FF2B5EF4-FFF2-40B4-BE49-F238E27FC236}">
                <a16:creationId xmlns:a16="http://schemas.microsoft.com/office/drawing/2014/main" id="{0696BB0C-1579-4BD1-8728-69209072F440}"/>
              </a:ext>
            </a:extLst>
          </p:cNvPr>
          <p:cNvSpPr txBox="1"/>
          <p:nvPr/>
        </p:nvSpPr>
        <p:spPr>
          <a:xfrm>
            <a:off x="4681829" y="1883170"/>
            <a:ext cx="3684352" cy="369718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76200" lvl="0">
              <a:lnSpc>
                <a:spcPct val="150000"/>
              </a:lnSpc>
              <a:buClr>
                <a:srgbClr val="ED145B"/>
              </a:buClr>
              <a:buSzPct val="100000"/>
            </a:pPr>
            <a:r>
              <a:rPr lang="it-IT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Dica</a:t>
            </a:r>
            <a:r>
              <a:rPr lang="it-IT" sz="1400" dirty="0">
                <a:solidFill>
                  <a:srgbClr val="797979"/>
                </a:solidFill>
                <a:latin typeface="Gotham HTF Light" pitchFamily="50" charset="0"/>
              </a:rPr>
              <a:t>: </a:t>
            </a:r>
            <a:r>
              <a:rPr lang="it-IT" sz="1400" dirty="0">
                <a:solidFill>
                  <a:srgbClr val="ED145B"/>
                </a:solidFill>
                <a:latin typeface="Gotham HTF Light" pitchFamily="50" charset="0"/>
              </a:rPr>
              <a:t>https://www.wolframalpha.com/</a:t>
            </a:r>
          </a:p>
        </p:txBody>
      </p:sp>
    </p:spTree>
    <p:extLst>
      <p:ext uri="{BB962C8B-B14F-4D97-AF65-F5344CB8AC3E}">
        <p14:creationId xmlns:p14="http://schemas.microsoft.com/office/powerpoint/2010/main" val="118497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/>
              <p:nvPr/>
            </p:nvSpPr>
            <p:spPr>
              <a:xfrm>
                <a:off x="860896" y="1086919"/>
                <a:ext cx="7068080" cy="3500062"/>
              </a:xfrm>
              <a:prstGeom prst="rect">
                <a:avLst/>
              </a:prstGeom>
              <a:noFill/>
            </p:spPr>
            <p:txBody>
              <a:bodyPr wrap="square" tIns="46800" rtlCol="0">
                <a:spAutoFit/>
              </a:bodyPr>
              <a:lstStyle/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Regra da multiplicação:</a:t>
                </a:r>
              </a:p>
              <a:p>
                <a:pPr marL="76200" lvl="0">
                  <a:lnSpc>
                    <a:spcPct val="150000"/>
                  </a:lnSpc>
                  <a:buClr>
                    <a:srgbClr val="ED145B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4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4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sz="14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40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sz="14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40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ar-AE" sz="14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14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4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𝑑𝑔</m:t>
                          </m:r>
                        </m:num>
                        <m:den>
                          <m:r>
                            <a:rPr lang="pt-BR" sz="14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14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14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pt-BR" sz="14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pt-BR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Exemplo:</a:t>
                </a: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+mj-lt"/>
                  <a:buAutoNum type="alphaLcParenR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1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sz="1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140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BR" sz="140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BR" sz="140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sz="140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pt-BR" sz="1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140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140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sz="140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pt-BR" sz="1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pt-BR" sz="14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: </a:t>
                </a: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Fazemos 𝑓(𝑥)=𝑥^2+3 e 𝑔(𝑥)= 2𝑥+1, depois:</a:t>
                </a: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endParaRPr lang="pt-BR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(𝑥^2+3)∙(2𝑥^(1−1)+0)+(2𝑥+1)∙(2𝑥^(2−1)+0)=⋯</a:t>
                </a: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(𝑥^2+3)∙(2)+(2𝑥+1)∙(2𝑥)=⋯</a:t>
                </a: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(2𝑥)^2+6+(4𝑥)^2+2𝑥=</a:t>
                </a:r>
                <a:r>
                  <a:rPr lang="pt-BR" sz="1400" dirty="0">
                    <a:solidFill>
                      <a:srgbClr val="ED145B"/>
                    </a:solidFill>
                    <a:latin typeface="Gotham HTF Light" pitchFamily="50" charset="0"/>
                  </a:rPr>
                  <a:t>𝟔𝒙</a:t>
                </a:r>
                <a:r>
                  <a:rPr lang="pt-BR" sz="1400" baseline="30000" dirty="0">
                    <a:solidFill>
                      <a:srgbClr val="ED145B"/>
                    </a:solidFill>
                    <a:latin typeface="Gotham HTF Light" pitchFamily="50" charset="0"/>
                  </a:rPr>
                  <a:t>𝟐</a:t>
                </a:r>
                <a:r>
                  <a:rPr lang="pt-BR" sz="1400" dirty="0">
                    <a:solidFill>
                      <a:srgbClr val="ED145B"/>
                    </a:solidFill>
                    <a:latin typeface="Gotham HTF Light" pitchFamily="50" charset="0"/>
                  </a:rPr>
                  <a:t>+𝟐𝒙+𝟔</a:t>
                </a:r>
              </a:p>
            </p:txBody>
          </p:sp>
        </mc:Choice>
        <mc:Fallback xmlns="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96" y="1086919"/>
                <a:ext cx="7068080" cy="35000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59">
            <a:extLst>
              <a:ext uri="{FF2B5EF4-FFF2-40B4-BE49-F238E27FC236}">
                <a16:creationId xmlns:a16="http://schemas.microsoft.com/office/drawing/2014/main" id="{355A03A7-AA12-4956-8F38-6740BFFFFE2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REGRAS DE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DERIVAÇÃO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C5C1D9C4-ED10-45F0-A87A-9B202DAEBAF7}"/>
              </a:ext>
            </a:extLst>
          </p:cNvPr>
          <p:cNvCxnSpPr>
            <a:cxnSpLocks/>
          </p:cNvCxnSpPr>
          <p:nvPr/>
        </p:nvCxnSpPr>
        <p:spPr>
          <a:xfrm>
            <a:off x="2655518" y="2724574"/>
            <a:ext cx="2091846" cy="0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3">
            <a:extLst>
              <a:ext uri="{FF2B5EF4-FFF2-40B4-BE49-F238E27FC236}">
                <a16:creationId xmlns:a16="http://schemas.microsoft.com/office/drawing/2014/main" id="{0696BB0C-1579-4BD1-8728-69209072F440}"/>
              </a:ext>
            </a:extLst>
          </p:cNvPr>
          <p:cNvSpPr txBox="1"/>
          <p:nvPr/>
        </p:nvSpPr>
        <p:spPr>
          <a:xfrm>
            <a:off x="4747364" y="2503929"/>
            <a:ext cx="3684352" cy="369718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76200" lvl="0">
              <a:lnSpc>
                <a:spcPct val="150000"/>
              </a:lnSpc>
              <a:buClr>
                <a:srgbClr val="ED145B"/>
              </a:buClr>
              <a:buSzPct val="100000"/>
            </a:pPr>
            <a:r>
              <a:rPr lang="it-IT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Dica</a:t>
            </a:r>
            <a:r>
              <a:rPr lang="it-IT" sz="1400" dirty="0">
                <a:solidFill>
                  <a:srgbClr val="797979"/>
                </a:solidFill>
                <a:latin typeface="Gotham HTF Light" pitchFamily="50" charset="0"/>
              </a:rPr>
              <a:t>: </a:t>
            </a:r>
            <a:r>
              <a:rPr lang="it-IT" sz="1400" dirty="0">
                <a:solidFill>
                  <a:srgbClr val="ED145B"/>
                </a:solidFill>
                <a:latin typeface="Gotham HTF Light" pitchFamily="50" charset="0"/>
              </a:rPr>
              <a:t>https://www.wolframalpha.com/</a:t>
            </a:r>
          </a:p>
        </p:txBody>
      </p:sp>
    </p:spTree>
    <p:extLst>
      <p:ext uri="{BB962C8B-B14F-4D97-AF65-F5344CB8AC3E}">
        <p14:creationId xmlns:p14="http://schemas.microsoft.com/office/powerpoint/2010/main" val="356667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/>
              <p:nvPr/>
            </p:nvSpPr>
            <p:spPr>
              <a:xfrm>
                <a:off x="860896" y="1086919"/>
                <a:ext cx="7068080" cy="3644717"/>
              </a:xfrm>
              <a:prstGeom prst="rect">
                <a:avLst/>
              </a:prstGeom>
              <a:noFill/>
            </p:spPr>
            <p:txBody>
              <a:bodyPr wrap="square" tIns="46800" rtlCol="0">
                <a:spAutoFit/>
              </a:bodyPr>
              <a:lstStyle/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Regra da divisão:</a:t>
                </a:r>
              </a:p>
              <a:p>
                <a:pPr marL="76200">
                  <a:lnSpc>
                    <a:spcPct val="150000"/>
                  </a:lnSpc>
                  <a:buSzPts val="2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14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14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4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lang="pt-BR" sz="14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pt-BR" sz="14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sSup>
                            <m:sSupPr>
                              <m:ctrlP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14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1400" dirty="0"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Exemplo:</a:t>
                </a: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+mj-lt"/>
                  <a:buAutoNum type="alphaLcParenR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sSupPr>
                                    <m:ctrlPr>
                                      <a:rPr lang="pt-BR" sz="1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pt-BR" sz="1400" i="1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ctrlP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den>
                        </m:f>
                      </m:num>
                      <m:den>
                        <m: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:</a:t>
                </a:r>
              </a:p>
              <a:p>
                <a:pPr marL="45720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Fazemos </a:t>
                </a:r>
                <a14:m>
                  <m:oMath xmlns:m="http://schemas.openxmlformats.org/officeDocument/2006/math">
                    <m:r>
                      <a:rPr lang="pt-BR" sz="1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1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1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1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 e </a:t>
                </a:r>
                <a14:m>
                  <m:oMath xmlns:m="http://schemas.openxmlformats.org/officeDocument/2006/math">
                    <m:r>
                      <a:rPr lang="pt-BR" sz="1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1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pt-BR" sz="1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pt-BR" sz="14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pt-BR" sz="1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, depois:</a:t>
                </a: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pt-BR" sz="1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14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pt-BR" sz="14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sz="14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pt-BR" sz="1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endParaRPr lang="pt-BR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pt-BR" sz="14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14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/>
                            </m:sSup>
                          </m:e>
                        </m:d>
                        <m: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sz="14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pt-BR" sz="1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pt-BR" sz="14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sSup>
                              <m:sSupPr>
                                <m:ctrlP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t-BR" sz="14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400" i="1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pt-BR" sz="14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pt-BR" sz="14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1400" b="1" i="1" smtClean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1400" b="1" i="1">
                                <a:solidFill>
                                  <a:srgbClr val="ED145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1400" b="1" i="1">
                                <a:solidFill>
                                  <a:srgbClr val="ED145B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pt-BR" sz="1400" b="1" i="1">
                                <a:solidFill>
                                  <a:srgbClr val="ED145B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pt-BR" sz="1400" b="1" i="1">
                                <a:solidFill>
                                  <a:srgbClr val="ED145B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pt-BR" sz="1400" b="1" i="1" smtClean="0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1400" b="1" i="1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pt-BR" sz="1400" b="1" i="1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400" b="1" i="1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1400" b="1" i="1">
                            <a:solidFill>
                              <a:srgbClr val="ED145B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sSup>
                          <m:sSupPr>
                            <m:ctrlPr>
                              <a:rPr lang="pt-BR" sz="1400" b="1" i="1">
                                <a:solidFill>
                                  <a:srgbClr val="ED145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sz="1400" b="1" i="1">
                                    <a:solidFill>
                                      <a:srgbClr val="ED145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1400" b="1" i="1">
                                    <a:solidFill>
                                      <a:srgbClr val="ED145B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pt-BR" sz="1400" b="1" i="1">
                                    <a:solidFill>
                                      <a:srgbClr val="ED145B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pt-BR" sz="1400" b="1" i="1" smtClean="0">
                                    <a:solidFill>
                                      <a:srgbClr val="ED145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400" b="1" i="1">
                                    <a:solidFill>
                                      <a:srgbClr val="ED145B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e>
                          <m:sup>
                            <m:r>
                              <a:rPr lang="pt-BR" sz="1400" b="1" i="1">
                                <a:solidFill>
                                  <a:srgbClr val="ED145B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pt-BR" sz="1400" dirty="0">
                  <a:solidFill>
                    <a:srgbClr val="ED145B"/>
                  </a:solidFill>
                  <a:latin typeface="Gotham HTF Light" pitchFamily="50" charset="0"/>
                </a:endParaRPr>
              </a:p>
            </p:txBody>
          </p:sp>
        </mc:Choice>
        <mc:Fallback xmlns="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96" y="1086919"/>
                <a:ext cx="7068080" cy="36447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59">
            <a:extLst>
              <a:ext uri="{FF2B5EF4-FFF2-40B4-BE49-F238E27FC236}">
                <a16:creationId xmlns:a16="http://schemas.microsoft.com/office/drawing/2014/main" id="{355A03A7-AA12-4956-8F38-6740BFFFFE2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REGRAS DE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DERIVAÇÃO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C5C1D9C4-ED10-45F0-A87A-9B202DAEBAF7}"/>
              </a:ext>
            </a:extLst>
          </p:cNvPr>
          <p:cNvCxnSpPr>
            <a:cxnSpLocks/>
          </p:cNvCxnSpPr>
          <p:nvPr/>
        </p:nvCxnSpPr>
        <p:spPr>
          <a:xfrm>
            <a:off x="2152778" y="2938660"/>
            <a:ext cx="2091846" cy="0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3">
            <a:extLst>
              <a:ext uri="{FF2B5EF4-FFF2-40B4-BE49-F238E27FC236}">
                <a16:creationId xmlns:a16="http://schemas.microsoft.com/office/drawing/2014/main" id="{0696BB0C-1579-4BD1-8728-69209072F440}"/>
              </a:ext>
            </a:extLst>
          </p:cNvPr>
          <p:cNvSpPr txBox="1"/>
          <p:nvPr/>
        </p:nvSpPr>
        <p:spPr>
          <a:xfrm>
            <a:off x="4244624" y="2718015"/>
            <a:ext cx="3684352" cy="369718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76200" lvl="0">
              <a:lnSpc>
                <a:spcPct val="150000"/>
              </a:lnSpc>
              <a:buClr>
                <a:srgbClr val="ED145B"/>
              </a:buClr>
              <a:buSzPct val="100000"/>
            </a:pPr>
            <a:r>
              <a:rPr lang="it-IT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Dica</a:t>
            </a:r>
            <a:r>
              <a:rPr lang="it-IT" sz="1400" dirty="0">
                <a:solidFill>
                  <a:srgbClr val="797979"/>
                </a:solidFill>
                <a:latin typeface="Gotham HTF Light" pitchFamily="50" charset="0"/>
              </a:rPr>
              <a:t>: </a:t>
            </a:r>
            <a:r>
              <a:rPr lang="it-IT" sz="1400" dirty="0">
                <a:solidFill>
                  <a:srgbClr val="ED145B"/>
                </a:solidFill>
                <a:latin typeface="Gotham HTF Light" pitchFamily="50" charset="0"/>
              </a:rPr>
              <a:t>https://www.wolframalpha.com/</a:t>
            </a:r>
          </a:p>
        </p:txBody>
      </p:sp>
    </p:spTree>
    <p:extLst>
      <p:ext uri="{BB962C8B-B14F-4D97-AF65-F5344CB8AC3E}">
        <p14:creationId xmlns:p14="http://schemas.microsoft.com/office/powerpoint/2010/main" val="2527171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/>
              <p:nvPr/>
            </p:nvSpPr>
            <p:spPr>
              <a:xfrm>
                <a:off x="860896" y="1086919"/>
                <a:ext cx="7068080" cy="1320106"/>
              </a:xfrm>
              <a:prstGeom prst="rect">
                <a:avLst/>
              </a:prstGeom>
              <a:noFill/>
            </p:spPr>
            <p:txBody>
              <a:bodyPr wrap="square" tIns="46800" rtlCol="0">
                <a:spAutoFit/>
              </a:bodyPr>
              <a:lstStyle/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Regra do logaritmo:</a:t>
                </a:r>
              </a:p>
              <a:p>
                <a:pPr marL="76200">
                  <a:lnSpc>
                    <a:spcPct val="150000"/>
                  </a:lnSpc>
                  <a:buSzPts val="2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ar-AE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pt-BR" sz="14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1400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pt-BR" sz="1400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14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14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1400" dirty="0"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Exemplo:</a:t>
                </a:r>
              </a:p>
            </p:txBody>
          </p:sp>
        </mc:Choice>
        <mc:Fallback xmlns="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96" y="1086919"/>
                <a:ext cx="7068080" cy="1320106"/>
              </a:xfrm>
              <a:prstGeom prst="rect">
                <a:avLst/>
              </a:prstGeom>
              <a:blipFill>
                <a:blip r:embed="rId3"/>
                <a:stretch>
                  <a:fillRect b="-41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59">
            <a:extLst>
              <a:ext uri="{FF2B5EF4-FFF2-40B4-BE49-F238E27FC236}">
                <a16:creationId xmlns:a16="http://schemas.microsoft.com/office/drawing/2014/main" id="{355A03A7-AA12-4956-8F38-6740BFFFFE2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REGRAS DE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DERIVAÇÃO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C5C1D9C4-ED10-45F0-A87A-9B202DAEBAF7}"/>
              </a:ext>
            </a:extLst>
          </p:cNvPr>
          <p:cNvCxnSpPr>
            <a:cxnSpLocks/>
          </p:cNvCxnSpPr>
          <p:nvPr/>
        </p:nvCxnSpPr>
        <p:spPr>
          <a:xfrm>
            <a:off x="2152778" y="2938660"/>
            <a:ext cx="2091846" cy="0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3">
            <a:extLst>
              <a:ext uri="{FF2B5EF4-FFF2-40B4-BE49-F238E27FC236}">
                <a16:creationId xmlns:a16="http://schemas.microsoft.com/office/drawing/2014/main" id="{0696BB0C-1579-4BD1-8728-69209072F440}"/>
              </a:ext>
            </a:extLst>
          </p:cNvPr>
          <p:cNvSpPr txBox="1"/>
          <p:nvPr/>
        </p:nvSpPr>
        <p:spPr>
          <a:xfrm>
            <a:off x="4244624" y="2718015"/>
            <a:ext cx="3684352" cy="369718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76200" lvl="0">
              <a:lnSpc>
                <a:spcPct val="150000"/>
              </a:lnSpc>
              <a:buClr>
                <a:srgbClr val="ED145B"/>
              </a:buClr>
              <a:buSzPct val="100000"/>
            </a:pPr>
            <a:r>
              <a:rPr lang="it-IT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Dica</a:t>
            </a:r>
            <a:r>
              <a:rPr lang="it-IT" sz="1400" dirty="0">
                <a:solidFill>
                  <a:srgbClr val="797979"/>
                </a:solidFill>
                <a:latin typeface="Gotham HTF Light" pitchFamily="50" charset="0"/>
              </a:rPr>
              <a:t>: </a:t>
            </a:r>
            <a:r>
              <a:rPr lang="it-IT" sz="1400" dirty="0">
                <a:solidFill>
                  <a:srgbClr val="ED145B"/>
                </a:solidFill>
                <a:latin typeface="Gotham HTF Light" pitchFamily="50" charset="0"/>
              </a:rPr>
              <a:t>https://www.wolframalpha.com/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749618" y="2306633"/>
                <a:ext cx="5401607" cy="22120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+mj-lt"/>
                  <a:buAutoNum type="alphaLcParenR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pt-BR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func>
                              <m:funcPr>
                                <m:ctrlPr>
                                  <a:rPr lang="pt-BR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pt-BR" b="0" i="0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pt-BR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a:rPr lang="pt-B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:</a:t>
                </a:r>
              </a:p>
              <a:p>
                <a:pPr marL="76200" lvl="0">
                  <a:lnSpc>
                    <a:spcPct val="150000"/>
                  </a:lnSpc>
                  <a:buClr>
                    <a:srgbClr val="ED145B"/>
                  </a:buClr>
                  <a:buSzPct val="100000"/>
                </a:pPr>
                <a:endParaRPr lang="pt-B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" pitchFamily="50" charset="0"/>
                </a:endParaRPr>
              </a:p>
              <a:p>
                <a:pPr marL="76200" lvl="0">
                  <a:lnSpc>
                    <a:spcPct val="150000"/>
                  </a:lnSpc>
                  <a:buClr>
                    <a:srgbClr val="ED145B"/>
                  </a:buClr>
                  <a:buSzPct val="100000"/>
                </a:pPr>
                <a:r>
                  <a:rPr lang="pt-B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Aqui combinamos a regra </a:t>
                </a:r>
                <a14:m>
                  <m:oMath xmlns:m="http://schemas.openxmlformats.org/officeDocument/2006/math"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f>
                      <m:f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𝑑𝑔</m:t>
                        </m:r>
                      </m:num>
                      <m:den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f>
                      <m:f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𝑑𝑓</m:t>
                        </m:r>
                      </m:num>
                      <m:den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pt-B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 com a regra do logaritmo:</a:t>
                </a:r>
              </a:p>
              <a:p>
                <a:pPr marL="76200" lvl="0">
                  <a:lnSpc>
                    <a:spcPct val="150000"/>
                  </a:lnSpc>
                  <a:buClr>
                    <a:srgbClr val="ED145B"/>
                  </a:buClr>
                  <a:buSzPct val="100000"/>
                </a:pPr>
                <a:r>
                  <a:rPr lang="pt-B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Fazemos </a:t>
                </a:r>
                <a14:m>
                  <m:oMath xmlns:m="http://schemas.openxmlformats.org/officeDocument/2006/math"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2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 e </a:t>
                </a:r>
                <a14:m>
                  <m:oMath xmlns:m="http://schemas.openxmlformats.org/officeDocument/2006/math"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120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pt-B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, depois:</a:t>
                </a:r>
              </a:p>
              <a:p>
                <a:pPr marL="76200" lvl="0">
                  <a:lnSpc>
                    <a:spcPct val="150000"/>
                  </a:lnSpc>
                  <a:buClr>
                    <a:srgbClr val="ED145B"/>
                  </a:buClr>
                  <a:buSzPct val="100000"/>
                </a:pPr>
                <a:r>
                  <a:rPr lang="pt-B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2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func>
                          <m:funcPr>
                            <m:ctrlPr>
                              <a:rPr lang="pt-BR" sz="12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t-BR" sz="120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pt-BR" sz="12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num>
                      <m:den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120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func>
                    <m:f>
                      <m:f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sz="12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pt-BR" sz="12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2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2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120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pt-BR" sz="12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pt-BR" sz="12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pt-BR" sz="12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sz="1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pt-BR" sz="1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pt-BR" sz="1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pt-BR" sz="1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𝒍𝒏</m:t>
                        </m:r>
                      </m:fName>
                      <m:e>
                        <m:r>
                          <a:rPr lang="pt-BR" sz="1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func>
                  </m:oMath>
                </a14:m>
                <a:endParaRPr lang="pt-B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" pitchFamily="50" charset="0"/>
                </a:endParaRPr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618" y="2306633"/>
                <a:ext cx="5401607" cy="2212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839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/>
              <p:nvPr/>
            </p:nvSpPr>
            <p:spPr>
              <a:xfrm>
                <a:off x="860896" y="1086919"/>
                <a:ext cx="7068080" cy="1314976"/>
              </a:xfrm>
              <a:prstGeom prst="rect">
                <a:avLst/>
              </a:prstGeom>
              <a:noFill/>
            </p:spPr>
            <p:txBody>
              <a:bodyPr wrap="square" tIns="46800" rtlCol="0">
                <a:spAutoFit/>
              </a:bodyPr>
              <a:lstStyle/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Regra da exponencial:</a:t>
                </a:r>
              </a:p>
              <a:p>
                <a:pPr marL="76200">
                  <a:lnSpc>
                    <a:spcPct val="150000"/>
                  </a:lnSpc>
                  <a:buSzPts val="2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14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pt-BR" sz="14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ar-AE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14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pt-BR" sz="14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pt-BR" sz="14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pt-BR" sz="14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pt-BR" sz="14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1400" dirty="0"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Exemplo:</a:t>
                </a:r>
              </a:p>
            </p:txBody>
          </p:sp>
        </mc:Choice>
        <mc:Fallback xmlns="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96" y="1086919"/>
                <a:ext cx="7068080" cy="1314976"/>
              </a:xfrm>
              <a:prstGeom prst="rect">
                <a:avLst/>
              </a:prstGeom>
              <a:blipFill>
                <a:blip r:embed="rId3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59">
            <a:extLst>
              <a:ext uri="{FF2B5EF4-FFF2-40B4-BE49-F238E27FC236}">
                <a16:creationId xmlns:a16="http://schemas.microsoft.com/office/drawing/2014/main" id="{355A03A7-AA12-4956-8F38-6740BFFFFE2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REGRAS DE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DERIVAÇÃO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C5C1D9C4-ED10-45F0-A87A-9B202DAEBAF7}"/>
              </a:ext>
            </a:extLst>
          </p:cNvPr>
          <p:cNvCxnSpPr>
            <a:cxnSpLocks/>
          </p:cNvCxnSpPr>
          <p:nvPr/>
        </p:nvCxnSpPr>
        <p:spPr>
          <a:xfrm>
            <a:off x="2152778" y="2938660"/>
            <a:ext cx="2091846" cy="0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3">
            <a:extLst>
              <a:ext uri="{FF2B5EF4-FFF2-40B4-BE49-F238E27FC236}">
                <a16:creationId xmlns:a16="http://schemas.microsoft.com/office/drawing/2014/main" id="{0696BB0C-1579-4BD1-8728-69209072F440}"/>
              </a:ext>
            </a:extLst>
          </p:cNvPr>
          <p:cNvSpPr txBox="1"/>
          <p:nvPr/>
        </p:nvSpPr>
        <p:spPr>
          <a:xfrm>
            <a:off x="4244624" y="2718015"/>
            <a:ext cx="3684352" cy="369718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76200" lvl="0">
              <a:lnSpc>
                <a:spcPct val="150000"/>
              </a:lnSpc>
              <a:buClr>
                <a:srgbClr val="ED145B"/>
              </a:buClr>
              <a:buSzPct val="100000"/>
            </a:pPr>
            <a:r>
              <a:rPr lang="it-IT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Dica</a:t>
            </a:r>
            <a:r>
              <a:rPr lang="it-IT" sz="1400" dirty="0">
                <a:solidFill>
                  <a:srgbClr val="797979"/>
                </a:solidFill>
                <a:latin typeface="Gotham HTF Light" pitchFamily="50" charset="0"/>
              </a:rPr>
              <a:t>: </a:t>
            </a:r>
            <a:r>
              <a:rPr lang="it-IT" sz="1400" dirty="0">
                <a:solidFill>
                  <a:srgbClr val="ED145B"/>
                </a:solidFill>
                <a:latin typeface="Gotham HTF Light" pitchFamily="50" charset="0"/>
              </a:rPr>
              <a:t>https://www.wolframalpha.com/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tângulo 6"/>
              <p:cNvSpPr/>
              <p:nvPr/>
            </p:nvSpPr>
            <p:spPr>
              <a:xfrm>
                <a:off x="636445" y="2518497"/>
                <a:ext cx="6478697" cy="1837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+mj-lt"/>
                  <a:buAutoNum type="alphaLcParenR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pt-BR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pt-BR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pt-BR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pt-BR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pt-BR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:</a:t>
                </a:r>
              </a:p>
              <a:p>
                <a:pPr marL="76200" lvl="0">
                  <a:lnSpc>
                    <a:spcPct val="150000"/>
                  </a:lnSpc>
                  <a:buClr>
                    <a:srgbClr val="ED145B"/>
                  </a:buClr>
                  <a:buSzPct val="100000"/>
                </a:pPr>
                <a:r>
                  <a:rPr lang="pt-B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Aqui combinamos a regra </a:t>
                </a:r>
                <a14:m>
                  <m:oMath xmlns:m="http://schemas.openxmlformats.org/officeDocument/2006/math"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f>
                      <m:f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𝑑𝑔</m:t>
                        </m:r>
                      </m:num>
                      <m:den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f>
                      <m:f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𝑑𝑓</m:t>
                        </m:r>
                      </m:num>
                      <m:den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pt-B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 com a regra da exponencial:</a:t>
                </a:r>
              </a:p>
              <a:p>
                <a:pPr marL="76200" lvl="0">
                  <a:lnSpc>
                    <a:spcPct val="150000"/>
                  </a:lnSpc>
                  <a:buClr>
                    <a:srgbClr val="ED145B"/>
                  </a:buClr>
                  <a:buSzPct val="100000"/>
                </a:pPr>
                <a:r>
                  <a:rPr lang="pt-B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Fazemos </a:t>
                </a:r>
                <a14:m>
                  <m:oMath xmlns:m="http://schemas.openxmlformats.org/officeDocument/2006/math"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 e </a:t>
                </a:r>
                <a14:m>
                  <m:oMath xmlns:m="http://schemas.openxmlformats.org/officeDocument/2006/math"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pt-B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, depois:</a:t>
                </a:r>
              </a:p>
              <a:p>
                <a:pPr marL="76200" lvl="0">
                  <a:lnSpc>
                    <a:spcPct val="150000"/>
                  </a:lnSpc>
                  <a:buClr>
                    <a:srgbClr val="ED145B"/>
                  </a:buClr>
                  <a:buSzPct val="100000"/>
                </a:pPr>
                <a:r>
                  <a:rPr lang="pt-B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2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pt-BR" sz="12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12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12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12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pt-BR" sz="12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lang="pt-BR" sz="12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12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12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12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12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pt-BR" sz="12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pt-BR" sz="12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12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pt-BR" sz="12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12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pt-BR" sz="12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den>
                        </m:f>
                      </m:e>
                    </m:d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12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12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12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1200" i="1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pt-BR" sz="12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pt-BR" sz="12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sz="12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pt-BR" sz="12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pt-BR" sz="12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pt-BR" sz="12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1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pt-BR" sz="1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pt-BR" sz="1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sup>
                    </m:sSup>
                    <m:d>
                      <m:dPr>
                        <m:ctrlPr>
                          <a:rPr lang="pt-BR" sz="1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pt-BR" sz="1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pt-BR" sz="1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pt-BR" sz="1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pt-BR" sz="12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" pitchFamily="50" charset="0"/>
                </a:endParaRPr>
              </a:p>
            </p:txBody>
          </p:sp>
        </mc:Choice>
        <mc:Fallback xmlns="">
          <p:sp>
            <p:nvSpPr>
              <p:cNvPr id="7" name="Retâ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45" y="2518497"/>
                <a:ext cx="6478697" cy="1837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96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DB33B55F-AC39-4216-8F32-3B81D9F28850}"/>
              </a:ext>
            </a:extLst>
          </p:cNvPr>
          <p:cNvSpPr txBox="1"/>
          <p:nvPr/>
        </p:nvSpPr>
        <p:spPr>
          <a:xfrm>
            <a:off x="860896" y="1086919"/>
            <a:ext cx="7068080" cy="1339214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Qual o melhor preço que essa empresa poderia oferecer?</a:t>
            </a: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  <a:latin typeface="Gotham HTF Light" pitchFamily="50" charset="0"/>
            </a:endParaRP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Solução: teremos que obter o preço que trará maior lucro para a empresa.</a:t>
            </a:r>
          </a:p>
        </p:txBody>
      </p:sp>
      <p:sp>
        <p:nvSpPr>
          <p:cNvPr id="4" name="TextBox 59">
            <a:extLst>
              <a:ext uri="{FF2B5EF4-FFF2-40B4-BE49-F238E27FC236}">
                <a16:creationId xmlns:a16="http://schemas.microsoft.com/office/drawing/2014/main" id="{355A03A7-AA12-4956-8F38-6740BFFFFE2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VOLTANDO AO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PROBLEMA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</p:spTree>
    <p:extLst>
      <p:ext uri="{BB962C8B-B14F-4D97-AF65-F5344CB8AC3E}">
        <p14:creationId xmlns:p14="http://schemas.microsoft.com/office/powerpoint/2010/main" val="3485094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31D07709-2F38-4BD4-B38B-B6A4A2254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794" y="2223859"/>
            <a:ext cx="3734779" cy="2726525"/>
          </a:xfrm>
          <a:prstGeom prst="rect">
            <a:avLst/>
          </a:prstGeom>
        </p:spPr>
      </p:pic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03AE5FD6-F03E-4208-A500-61BBDD820B81}"/>
              </a:ext>
            </a:extLst>
          </p:cNvPr>
          <p:cNvCxnSpPr>
            <a:cxnSpLocks/>
          </p:cNvCxnSpPr>
          <p:nvPr/>
        </p:nvCxnSpPr>
        <p:spPr>
          <a:xfrm flipH="1">
            <a:off x="4411084" y="2128640"/>
            <a:ext cx="585459" cy="452293"/>
          </a:xfrm>
          <a:prstGeom prst="straightConnector1">
            <a:avLst/>
          </a:prstGeom>
          <a:ln w="12700">
            <a:solidFill>
              <a:srgbClr val="ED1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F1F3500D-02A9-4BBF-92EB-25644AEFB4D2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457703" y="2604573"/>
            <a:ext cx="895348" cy="0"/>
          </a:xfrm>
          <a:prstGeom prst="straightConnector1">
            <a:avLst/>
          </a:prstGeom>
          <a:ln w="12700">
            <a:solidFill>
              <a:srgbClr val="ED1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3">
            <a:extLst>
              <a:ext uri="{FF2B5EF4-FFF2-40B4-BE49-F238E27FC236}">
                <a16:creationId xmlns:a16="http://schemas.microsoft.com/office/drawing/2014/main" id="{DB33B55F-AC39-4216-8F32-3B81D9F28850}"/>
              </a:ext>
            </a:extLst>
          </p:cNvPr>
          <p:cNvSpPr txBox="1"/>
          <p:nvPr/>
        </p:nvSpPr>
        <p:spPr>
          <a:xfrm>
            <a:off x="860896" y="1086919"/>
            <a:ext cx="7068080" cy="692883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Podemos usar a derivação para qualquer ponto na curva. Mas, na prática, queremos encontrar o ponto ótimo.</a:t>
            </a:r>
          </a:p>
        </p:txBody>
      </p:sp>
      <p:sp>
        <p:nvSpPr>
          <p:cNvPr id="4" name="TextBox 59">
            <a:extLst>
              <a:ext uri="{FF2B5EF4-FFF2-40B4-BE49-F238E27FC236}">
                <a16:creationId xmlns:a16="http://schemas.microsoft.com/office/drawing/2014/main" id="{355A03A7-AA12-4956-8F38-6740BFFFFE2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RELAÇÃO COM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NOSSO PROBLEMA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E3D7B1E3-E229-4C8C-81A0-D8586FC87C87}"/>
              </a:ext>
            </a:extLst>
          </p:cNvPr>
          <p:cNvSpPr txBox="1"/>
          <p:nvPr/>
        </p:nvSpPr>
        <p:spPr>
          <a:xfrm>
            <a:off x="4933119" y="1618369"/>
            <a:ext cx="3280776" cy="692883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76200" lvl="0">
              <a:lnSpc>
                <a:spcPct val="150000"/>
              </a:lnSpc>
              <a:buClr>
                <a:srgbClr val="ED145B"/>
              </a:buClr>
              <a:buSzPct val="100000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Usamos a derivada para obter o ponto de </a:t>
            </a:r>
            <a:r>
              <a:rPr lang="pt-BR" sz="1400" dirty="0">
                <a:solidFill>
                  <a:srgbClr val="ED145B"/>
                </a:solidFill>
                <a:latin typeface="Gotham HTF Light" pitchFamily="50" charset="0"/>
              </a:rPr>
              <a:t>lucro máximo.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3">
                <a:extLst>
                  <a:ext uri="{FF2B5EF4-FFF2-40B4-BE49-F238E27FC236}">
                    <a16:creationId xmlns:a16="http://schemas.microsoft.com/office/drawing/2014/main" id="{8278443F-DC0A-46CB-A380-3744CCA61848}"/>
                  </a:ext>
                </a:extLst>
              </p:cNvPr>
              <p:cNvSpPr txBox="1"/>
              <p:nvPr/>
            </p:nvSpPr>
            <p:spPr>
              <a:xfrm>
                <a:off x="5353051" y="2223859"/>
                <a:ext cx="1312276" cy="761427"/>
              </a:xfrm>
              <a:prstGeom prst="rect">
                <a:avLst/>
              </a:prstGeom>
              <a:noFill/>
            </p:spPr>
            <p:txBody>
              <a:bodyPr wrap="square" tIns="46800" rtlCol="0">
                <a:spAutoFit/>
              </a:bodyPr>
              <a:lstStyle/>
              <a:p>
                <a:pPr marL="76200" lvl="0">
                  <a:lnSpc>
                    <a:spcPct val="150000"/>
                  </a:lnSpc>
                  <a:buClr>
                    <a:srgbClr val="ED145B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1400" i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dLucro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1400" i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dPre</m:t>
                          </m:r>
                          <m:r>
                            <a:rPr lang="pt-BR" sz="1400" i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ç</m:t>
                          </m:r>
                          <m:r>
                            <m:rPr>
                              <m:sty m:val="p"/>
                            </m:rPr>
                            <a:rPr lang="pt-BR" sz="1400" i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den>
                      </m:f>
                      <m:r>
                        <a:rPr lang="pt-BR" sz="140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400" i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" pitchFamily="50" charset="0"/>
                </a:endParaRPr>
              </a:p>
            </p:txBody>
          </p:sp>
        </mc:Choice>
        <mc:Fallback xmlns="">
          <p:sp>
            <p:nvSpPr>
              <p:cNvPr id="8" name="TextBox 3">
                <a:extLst>
                  <a:ext uri="{FF2B5EF4-FFF2-40B4-BE49-F238E27FC236}">
                    <a16:creationId xmlns:a16="http://schemas.microsoft.com/office/drawing/2014/main" id="{8278443F-DC0A-46CB-A380-3744CCA61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051" y="2223859"/>
                <a:ext cx="1312276" cy="7614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5337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DB33B55F-AC39-4216-8F32-3B81D9F28850}"/>
              </a:ext>
            </a:extLst>
          </p:cNvPr>
          <p:cNvSpPr txBox="1"/>
          <p:nvPr/>
        </p:nvSpPr>
        <p:spPr>
          <a:xfrm>
            <a:off x="860896" y="1086919"/>
            <a:ext cx="7068080" cy="1339214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Precisaremos pensar no seguinte:</a:t>
            </a: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Qual a relação entre preço e quantidade vendida?</a:t>
            </a: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Qual(</a:t>
            </a:r>
            <a:r>
              <a:rPr lang="pt-BR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is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) custo(s) envolvido(s)?</a:t>
            </a: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Como iremos utilizar essas informações para obter o Lucro máximo?</a:t>
            </a:r>
          </a:p>
        </p:txBody>
      </p:sp>
      <p:sp>
        <p:nvSpPr>
          <p:cNvPr id="4" name="TextBox 59">
            <a:extLst>
              <a:ext uri="{FF2B5EF4-FFF2-40B4-BE49-F238E27FC236}">
                <a16:creationId xmlns:a16="http://schemas.microsoft.com/office/drawing/2014/main" id="{355A03A7-AA12-4956-8F38-6740BFFFFE2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RESOLUÇÃO</a:t>
            </a:r>
          </a:p>
        </p:txBody>
      </p:sp>
    </p:spTree>
    <p:extLst>
      <p:ext uri="{BB962C8B-B14F-4D97-AF65-F5344CB8AC3E}">
        <p14:creationId xmlns:p14="http://schemas.microsoft.com/office/powerpoint/2010/main" val="432286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DB33B55F-AC39-4216-8F32-3B81D9F28850}"/>
              </a:ext>
            </a:extLst>
          </p:cNvPr>
          <p:cNvSpPr txBox="1"/>
          <p:nvPr/>
        </p:nvSpPr>
        <p:spPr>
          <a:xfrm>
            <a:off x="860896" y="1086919"/>
            <a:ext cx="7068080" cy="3601372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Qual a relação entre preço e quantidade vendida?</a:t>
            </a: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  <a:latin typeface="Gotham HTF Light" pitchFamily="50" charset="0"/>
            </a:endParaRP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  <a:latin typeface="Gotham HTF Light" pitchFamily="50" charset="0"/>
            </a:endParaRP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  <a:latin typeface="Gotham HTF Light" pitchFamily="50" charset="0"/>
            </a:endParaRPr>
          </a:p>
          <a:p>
            <a:pPr marL="76200" lvl="0">
              <a:lnSpc>
                <a:spcPct val="150000"/>
              </a:lnSpc>
              <a:buClr>
                <a:srgbClr val="ED145B"/>
              </a:buClr>
              <a:buSzPct val="100000"/>
            </a:pP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  <a:latin typeface="Gotham HTF Light" pitchFamily="50" charset="0"/>
            </a:endParaRP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  <a:latin typeface="Gotham HTF Light" pitchFamily="50" charset="0"/>
            </a:endParaRP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  <a:latin typeface="Gotham HTF Light" pitchFamily="50" charset="0"/>
            </a:endParaRP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  <a:latin typeface="Gotham HTF Light" pitchFamily="50" charset="0"/>
            </a:endParaRP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Vemos que à medida que o preço diminui, as vendas aumentam. </a:t>
            </a: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Podemos obter uma equação. (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Medium" pitchFamily="50" charset="0"/>
              </a:rPr>
              <a:t>Na prática podemos aplicar um modelo de regressão linear, mas isto será tema do próximo ano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D454AE5-3BDA-4892-A8A7-F99BE0086C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92" t="2782" b="2801"/>
          <a:stretch/>
        </p:blipFill>
        <p:spPr>
          <a:xfrm>
            <a:off x="2671763" y="1422399"/>
            <a:ext cx="3862970" cy="1899445"/>
          </a:xfrm>
          <a:prstGeom prst="rect">
            <a:avLst/>
          </a:prstGeom>
        </p:spPr>
      </p:pic>
      <p:sp>
        <p:nvSpPr>
          <p:cNvPr id="8" name="TextBox 59">
            <a:extLst>
              <a:ext uri="{FF2B5EF4-FFF2-40B4-BE49-F238E27FC236}">
                <a16:creationId xmlns:a16="http://schemas.microsoft.com/office/drawing/2014/main" id="{06266C34-7B83-4E14-B6AA-D47CBB2518C4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RELAÇÃO PREÇO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X QUANTIDADE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A7B5FE80-1A85-48AE-A5D4-DC220F5A9994}"/>
              </a:ext>
            </a:extLst>
          </p:cNvPr>
          <p:cNvSpPr txBox="1"/>
          <p:nvPr/>
        </p:nvSpPr>
        <p:spPr>
          <a:xfrm>
            <a:off x="3427487" y="3272628"/>
            <a:ext cx="2351521" cy="271036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</a:pPr>
            <a:r>
              <a:rPr lang="pt-B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NÚMERO DE DIAS ATÉ O EVENTO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7E841B5C-9626-47C2-8F80-0A39DF7721C3}"/>
              </a:ext>
            </a:extLst>
          </p:cNvPr>
          <p:cNvSpPr txBox="1"/>
          <p:nvPr/>
        </p:nvSpPr>
        <p:spPr>
          <a:xfrm rot="16200000">
            <a:off x="2169963" y="2236602"/>
            <a:ext cx="772731" cy="271036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buClr>
                <a:srgbClr val="ED145B"/>
              </a:buClr>
            </a:pPr>
            <a:r>
              <a:rPr lang="pt-B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VALORES</a:t>
            </a:r>
          </a:p>
        </p:txBody>
      </p:sp>
    </p:spTree>
    <p:extLst>
      <p:ext uri="{BB962C8B-B14F-4D97-AF65-F5344CB8AC3E}">
        <p14:creationId xmlns:p14="http://schemas.microsoft.com/office/powerpoint/2010/main" val="1959799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DB33B55F-AC39-4216-8F32-3B81D9F28850}"/>
              </a:ext>
            </a:extLst>
          </p:cNvPr>
          <p:cNvSpPr txBox="1"/>
          <p:nvPr/>
        </p:nvSpPr>
        <p:spPr>
          <a:xfrm>
            <a:off x="860896" y="1086919"/>
            <a:ext cx="7068080" cy="2972673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Equação preço x quantidade:</a:t>
            </a:r>
          </a:p>
          <a:p>
            <a:pPr marL="76200" lvl="0" algn="ctr">
              <a:lnSpc>
                <a:spcPct val="150000"/>
              </a:lnSpc>
              <a:buClr>
                <a:srgbClr val="ED145B"/>
              </a:buClr>
              <a:buSzPct val="100000"/>
            </a:pPr>
            <a:r>
              <a:rPr lang="pt-B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q(p) = 50 – 2p</a:t>
            </a: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Custo: R$0,20 por unidade</a:t>
            </a: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Lucro:</a:t>
            </a:r>
          </a:p>
          <a:p>
            <a:pPr marL="76200" lvl="0">
              <a:lnSpc>
                <a:spcPct val="150000"/>
              </a:lnSpc>
              <a:buClr>
                <a:srgbClr val="ED145B"/>
              </a:buClr>
              <a:buSzPct val="100000"/>
            </a:pPr>
            <a:r>
              <a:rPr lang="pt-B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		Lucro= Receita total – Custo Total</a:t>
            </a: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Receita Total:</a:t>
            </a:r>
          </a:p>
          <a:p>
            <a:pPr marL="76200" lvl="0">
              <a:lnSpc>
                <a:spcPct val="150000"/>
              </a:lnSpc>
              <a:buClr>
                <a:srgbClr val="ED145B"/>
              </a:buClr>
              <a:buSzPct val="100000"/>
            </a:pPr>
            <a:r>
              <a:rPr lang="pt-B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		Receita total = p ∙ q(p)</a:t>
            </a: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Custo Total:</a:t>
            </a:r>
          </a:p>
          <a:p>
            <a:pPr marL="76200" lvl="0">
              <a:lnSpc>
                <a:spcPct val="150000"/>
              </a:lnSpc>
              <a:buClr>
                <a:srgbClr val="ED145B"/>
              </a:buClr>
              <a:buSzPct val="100000"/>
            </a:pPr>
            <a:r>
              <a:rPr lang="pt-B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		Custo Total = custo ∙ q(p)</a:t>
            </a:r>
          </a:p>
        </p:txBody>
      </p:sp>
      <p:sp>
        <p:nvSpPr>
          <p:cNvPr id="8" name="TextBox 59">
            <a:extLst>
              <a:ext uri="{FF2B5EF4-FFF2-40B4-BE49-F238E27FC236}">
                <a16:creationId xmlns:a16="http://schemas.microsoft.com/office/drawing/2014/main" id="{06266C34-7B83-4E14-B6AA-D47CBB2518C4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DADOS DO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PROBLEMA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</p:spTree>
    <p:extLst>
      <p:ext uri="{BB962C8B-B14F-4D97-AF65-F5344CB8AC3E}">
        <p14:creationId xmlns:p14="http://schemas.microsoft.com/office/powerpoint/2010/main" val="394998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">
            <a:extLst>
              <a:ext uri="{FF2B5EF4-FFF2-40B4-BE49-F238E27FC236}">
                <a16:creationId xmlns:a16="http://schemas.microsoft.com/office/drawing/2014/main" id="{DB33B55F-AC39-4216-8F32-3B81D9F28850}"/>
              </a:ext>
            </a:extLst>
          </p:cNvPr>
          <p:cNvSpPr txBox="1"/>
          <p:nvPr/>
        </p:nvSpPr>
        <p:spPr>
          <a:xfrm>
            <a:off x="860896" y="1086919"/>
            <a:ext cx="7068080" cy="3001912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Receita Total:</a:t>
            </a:r>
          </a:p>
          <a:p>
            <a:pPr marL="76200" lvl="0" algn="ctr">
              <a:lnSpc>
                <a:spcPct val="150000"/>
              </a:lnSpc>
              <a:buClr>
                <a:srgbClr val="ED145B"/>
              </a:buClr>
              <a:buSzPct val="100000"/>
            </a:pPr>
            <a:r>
              <a:rPr lang="pt-B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Receita total=p∙(50−2p)=50p− 2p²</a:t>
            </a: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tx1">
                  <a:lumMod val="75000"/>
                  <a:lumOff val="25000"/>
                </a:schemeClr>
              </a:solidFill>
              <a:latin typeface="Gotham HTF Light" pitchFamily="50" charset="0"/>
            </a:endParaRP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Custo Total:</a:t>
            </a:r>
          </a:p>
          <a:p>
            <a:pPr marL="76200" lvl="0" algn="ctr">
              <a:lnSpc>
                <a:spcPct val="150000"/>
              </a:lnSpc>
              <a:buClr>
                <a:srgbClr val="ED145B"/>
              </a:buClr>
              <a:buSzPct val="100000"/>
            </a:pPr>
            <a:r>
              <a:rPr lang="pt-B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Custo total = 0,2∙(50−2p)=10−0,4p</a:t>
            </a: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tx1">
                  <a:lumMod val="75000"/>
                  <a:lumOff val="25000"/>
                </a:schemeClr>
              </a:solidFill>
              <a:latin typeface="Gotham HTF Light" pitchFamily="50" charset="0"/>
            </a:endParaRP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Lucro:</a:t>
            </a:r>
          </a:p>
          <a:p>
            <a:pPr marL="76200" lvl="0" algn="ctr">
              <a:lnSpc>
                <a:spcPct val="150000"/>
              </a:lnSpc>
              <a:buClr>
                <a:srgbClr val="ED145B"/>
              </a:buClr>
              <a:buSzPct val="100000"/>
            </a:pPr>
            <a:r>
              <a:rPr lang="pt-B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Lucro = (50p−2p² )−(10−0,4p)</a:t>
            </a:r>
          </a:p>
          <a:p>
            <a:pPr marL="76200" lvl="0" algn="ctr">
              <a:lnSpc>
                <a:spcPct val="150000"/>
              </a:lnSpc>
              <a:buClr>
                <a:srgbClr val="ED145B"/>
              </a:buClr>
              <a:buSzPct val="100000"/>
            </a:pPr>
            <a:r>
              <a:rPr lang="pt-B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Lucro=−2p² + 50,4p − 10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334F14B-9874-4696-9BC4-A77D34E42972}"/>
              </a:ext>
            </a:extLst>
          </p:cNvPr>
          <p:cNvSpPr txBox="1"/>
          <p:nvPr/>
        </p:nvSpPr>
        <p:spPr>
          <a:xfrm>
            <a:off x="3766094" y="2979909"/>
            <a:ext cx="10377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Receita</a:t>
            </a: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Total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B74FD4F-62C8-4F27-990A-43694B864132}"/>
              </a:ext>
            </a:extLst>
          </p:cNvPr>
          <p:cNvSpPr txBox="1"/>
          <p:nvPr/>
        </p:nvSpPr>
        <p:spPr>
          <a:xfrm>
            <a:off x="4991100" y="2977613"/>
            <a:ext cx="9405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Custo Total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F3A36749-D461-4D2A-8175-04E9825A5931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4053477" y="3226130"/>
            <a:ext cx="231503" cy="215120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50E90F75-055C-41CB-BB8F-CB647311D081}"/>
              </a:ext>
            </a:extLst>
          </p:cNvPr>
          <p:cNvCxnSpPr>
            <a:endCxn id="8" idx="2"/>
          </p:cNvCxnSpPr>
          <p:nvPr/>
        </p:nvCxnSpPr>
        <p:spPr>
          <a:xfrm flipV="1">
            <a:off x="5274128" y="3223834"/>
            <a:ext cx="187235" cy="200376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A93AA2F-475A-495A-A06E-B5F4E613646B}"/>
              </a:ext>
            </a:extLst>
          </p:cNvPr>
          <p:cNvSpPr txBox="1"/>
          <p:nvPr/>
        </p:nvSpPr>
        <p:spPr>
          <a:xfrm>
            <a:off x="6382566" y="3553345"/>
            <a:ext cx="1309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O lucro é uma equação de segundo grau.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64E30B1E-7354-4C7D-BB2C-645A68389F93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462783" y="3876511"/>
            <a:ext cx="919783" cy="0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A24F971-199C-4A37-BD9D-8AC0276A7DF3}"/>
              </a:ext>
            </a:extLst>
          </p:cNvPr>
          <p:cNvSpPr txBox="1"/>
          <p:nvPr/>
        </p:nvSpPr>
        <p:spPr>
          <a:xfrm>
            <a:off x="922729" y="4237096"/>
            <a:ext cx="5033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Relaxem, não vamos usar a fórmula de </a:t>
            </a:r>
            <a:r>
              <a:rPr lang="pt-B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Bhaskara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, </a:t>
            </a:r>
            <a:r>
              <a:rPr lang="pt-B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rsrs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otham HTF Light" pitchFamily="50" charset="0"/>
              </a:rPr>
              <a:t>...</a:t>
            </a:r>
          </a:p>
        </p:txBody>
      </p:sp>
      <p:sp>
        <p:nvSpPr>
          <p:cNvPr id="17" name="TextBox 59">
            <a:extLst>
              <a:ext uri="{FF2B5EF4-FFF2-40B4-BE49-F238E27FC236}">
                <a16:creationId xmlns:a16="http://schemas.microsoft.com/office/drawing/2014/main" id="{0AD8CF7F-A74A-45CD-82D0-4B955C6B11A3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FAZENDO AS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CONTAS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</p:spTree>
    <p:extLst>
      <p:ext uri="{BB962C8B-B14F-4D97-AF65-F5344CB8AC3E}">
        <p14:creationId xmlns:p14="http://schemas.microsoft.com/office/powerpoint/2010/main" val="3817959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3CCF9034-B076-4ED3-90AA-5CF4C0ED9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380" y="2838774"/>
            <a:ext cx="4024182" cy="17618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DB33B55F-AC39-4216-8F32-3B81D9F28850}"/>
              </a:ext>
            </a:extLst>
          </p:cNvPr>
          <p:cNvSpPr txBox="1"/>
          <p:nvPr/>
        </p:nvSpPr>
        <p:spPr>
          <a:xfrm>
            <a:off x="860896" y="1086919"/>
            <a:ext cx="7068080" cy="1339214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Lucro:</a:t>
            </a: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lucro=−2p²+50,4p−10</a:t>
            </a: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  <a:latin typeface="Gotham HTF Light" pitchFamily="50" charset="0"/>
            </a:endParaRPr>
          </a:p>
          <a:p>
            <a:pPr marL="457200" lvl="0" indent="-3810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Temos o seguinte gráfico da fórmula: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334F14B-9874-4696-9BC4-A77D34E42972}"/>
              </a:ext>
            </a:extLst>
          </p:cNvPr>
          <p:cNvSpPr txBox="1"/>
          <p:nvPr/>
        </p:nvSpPr>
        <p:spPr>
          <a:xfrm>
            <a:off x="5724524" y="2186067"/>
            <a:ext cx="1653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Vamos encontrar este “x” utilizando derivadas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4FB7571A-110F-4F56-8C1D-3638EF7F5FCB}"/>
              </a:ext>
            </a:extLst>
          </p:cNvPr>
          <p:cNvCxnSpPr>
            <a:cxnSpLocks/>
          </p:cNvCxnSpPr>
          <p:nvPr/>
        </p:nvCxnSpPr>
        <p:spPr>
          <a:xfrm flipH="1">
            <a:off x="4626769" y="2587947"/>
            <a:ext cx="1097756" cy="595784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59">
            <a:extLst>
              <a:ext uri="{FF2B5EF4-FFF2-40B4-BE49-F238E27FC236}">
                <a16:creationId xmlns:a16="http://schemas.microsoft.com/office/drawing/2014/main" id="{1379CFB8-1EB4-4246-913F-7BC2038BA00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FAZENDO AS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CONTAS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</p:spTree>
    <p:extLst>
      <p:ext uri="{BB962C8B-B14F-4D97-AF65-F5344CB8AC3E}">
        <p14:creationId xmlns:p14="http://schemas.microsoft.com/office/powerpoint/2010/main" val="223332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/>
              <p:nvPr/>
            </p:nvSpPr>
            <p:spPr>
              <a:xfrm>
                <a:off x="860896" y="1086919"/>
                <a:ext cx="7068080" cy="3401380"/>
              </a:xfrm>
              <a:prstGeom prst="rect">
                <a:avLst/>
              </a:prstGeom>
              <a:noFill/>
            </p:spPr>
            <p:txBody>
              <a:bodyPr wrap="square" tIns="46800" rtlCol="0">
                <a:spAutoFit/>
              </a:bodyPr>
              <a:lstStyle/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b="1" dirty="0">
                    <a:solidFill>
                      <a:srgbClr val="797979"/>
                    </a:solidFill>
                    <a:latin typeface="Gotham HTF Light" pitchFamily="50" charset="0"/>
                  </a:rPr>
                  <a:t>Lucro:</a:t>
                </a:r>
              </a:p>
              <a:p>
                <a:pPr marL="76200" lvl="0" algn="ctr">
                  <a:lnSpc>
                    <a:spcPct val="150000"/>
                  </a:lnSpc>
                  <a:buClr>
                    <a:srgbClr val="ED145B"/>
                  </a:buClr>
                  <a:buSzPct val="100000"/>
                </a:pPr>
                <a:r>
                  <a:rPr lang="pt-BR" sz="1400" dirty="0">
                    <a:solidFill>
                      <a:srgbClr val="797979"/>
                    </a:solidFill>
                    <a:latin typeface="Gotham HTF Light" pitchFamily="50" charset="0"/>
                  </a:rPr>
                  <a:t>𝐿𝑢𝑐𝑟𝑜=−2𝑝²+50,4𝑝−10</a:t>
                </a: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endParaRPr lang="pt-BR" sz="1400" b="1" dirty="0">
                  <a:solidFill>
                    <a:srgbClr val="797979"/>
                  </a:solidFill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400" b="1" dirty="0">
                    <a:solidFill>
                      <a:srgbClr val="797979"/>
                    </a:solidFill>
                    <a:latin typeface="Gotham HTF Light" pitchFamily="50" charset="0"/>
                  </a:rPr>
                  <a:t>A derivada do Lucro para obter o melhor preço seria o seguinte:</a:t>
                </a:r>
              </a:p>
              <a:p>
                <a:pPr marL="76200">
                  <a:lnSpc>
                    <a:spcPct val="115000"/>
                  </a:lnSpc>
                  <a:buSzPts val="2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 smtClean="0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𝑑𝐿𝑢𝑐𝑟𝑜</m:t>
                          </m:r>
                        </m:num>
                        <m:den>
                          <m:r>
                            <a:rPr lang="pt-BR" sz="1400" b="0" i="1" smtClean="0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𝑑𝑃𝑟𝑒</m:t>
                          </m:r>
                          <m:r>
                            <a:rPr lang="pt-BR" sz="1400" b="0" i="1" smtClean="0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ç</m:t>
                          </m:r>
                          <m:r>
                            <a:rPr lang="pt-BR" sz="1400" b="0" i="1" smtClean="0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den>
                      </m:f>
                      <m:r>
                        <a:rPr lang="pt-BR" sz="1400" b="0" i="1" smtClean="0">
                          <a:solidFill>
                            <a:srgbClr val="797979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1400" dirty="0">
                  <a:solidFill>
                    <a:srgbClr val="797979"/>
                  </a:solidFill>
                  <a:latin typeface="Gotham HTF Light" pitchFamily="50" charset="0"/>
                </a:endParaRPr>
              </a:p>
              <a:p>
                <a:pPr marL="76200">
                  <a:lnSpc>
                    <a:spcPct val="115000"/>
                  </a:lnSpc>
                  <a:buSzPts val="2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1400" i="1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𝑑𝐿𝑢𝑐𝑟𝑜</m:t>
                          </m:r>
                        </m:num>
                        <m:den>
                          <m:r>
                            <a:rPr lang="pt-BR" sz="1400" b="0" i="1" smtClean="0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𝑑𝑝</m:t>
                          </m:r>
                        </m:den>
                      </m:f>
                      <m:r>
                        <a:rPr lang="pt-BR" sz="1400" b="0" i="1" smtClean="0">
                          <a:solidFill>
                            <a:srgbClr val="79797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400" i="1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sz="1400" b="0" i="1" smtClean="0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pt-BR" sz="1400" i="1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400" b="0" i="1" smtClean="0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p>
                                <m:sSupPr>
                                  <m:ctrlPr>
                                    <a:rPr lang="pt-BR" sz="1400" i="1">
                                      <a:solidFill>
                                        <a:srgbClr val="79797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1400" b="0" i="1" smtClean="0">
                                      <a:solidFill>
                                        <a:srgbClr val="797979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pt-BR" sz="1400" b="0" i="1" smtClean="0">
                                      <a:solidFill>
                                        <a:srgbClr val="797979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1400" b="0" i="1" smtClean="0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</a:rPr>
                                <m:t>+50,4</m:t>
                              </m:r>
                              <m:r>
                                <a:rPr lang="pt-BR" sz="1400" b="0" i="1" smtClean="0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pt-BR" sz="1400" b="0" i="1" smtClean="0">
                                  <a:solidFill>
                                    <a:srgbClr val="797979"/>
                                  </a:solidFill>
                                  <a:latin typeface="Cambria Math" panose="02040503050406030204" pitchFamily="18" charset="0"/>
                                </a:rPr>
                                <m:t>−10</m:t>
                              </m:r>
                            </m:e>
                          </m:d>
                        </m:num>
                        <m:den>
                          <m:r>
                            <a:rPr lang="pt-BR" sz="1400" b="0" i="1" smtClean="0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𝑑𝑝</m:t>
                          </m:r>
                        </m:den>
                      </m:f>
                      <m:r>
                        <a:rPr lang="pt-BR" sz="1400" b="0" i="1" smtClean="0">
                          <a:solidFill>
                            <a:srgbClr val="797979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1400" dirty="0">
                  <a:solidFill>
                    <a:srgbClr val="797979"/>
                  </a:solidFill>
                  <a:latin typeface="Gotham HTF Light" pitchFamily="50" charset="0"/>
                </a:endParaRPr>
              </a:p>
              <a:p>
                <a:pPr marL="76200">
                  <a:lnSpc>
                    <a:spcPct val="115000"/>
                  </a:lnSpc>
                  <a:buSzPts val="2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400" b="0" i="1" smtClean="0">
                          <a:solidFill>
                            <a:srgbClr val="797979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pt-BR" sz="1400" b="0" i="1" smtClean="0">
                          <a:solidFill>
                            <a:srgbClr val="79797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∙2</m:t>
                      </m:r>
                      <m:sSup>
                        <m:sSupPr>
                          <m:ctrlPr>
                            <a:rPr lang="pt-BR" sz="1400" i="1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400" b="0" i="1" smtClean="0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pt-BR" sz="1400" b="0" i="1" smtClean="0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2−1</m:t>
                          </m:r>
                        </m:sup>
                      </m:sSup>
                      <m:r>
                        <a:rPr lang="pt-BR" sz="1400" b="0" i="1" smtClean="0">
                          <a:solidFill>
                            <a:srgbClr val="797979"/>
                          </a:solidFill>
                          <a:latin typeface="Cambria Math" panose="02040503050406030204" pitchFamily="18" charset="0"/>
                        </a:rPr>
                        <m:t>+50,4</m:t>
                      </m:r>
                      <m:sSup>
                        <m:sSupPr>
                          <m:ctrlPr>
                            <a:rPr lang="pt-BR" sz="1400" i="1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400" b="0" i="1" smtClean="0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pt-BR" sz="1400" b="0" i="1" smtClean="0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1−1</m:t>
                          </m:r>
                        </m:sup>
                      </m:sSup>
                      <m:r>
                        <a:rPr lang="pt-BR" sz="1400" b="0" i="1" smtClean="0">
                          <a:solidFill>
                            <a:srgbClr val="797979"/>
                          </a:solidFill>
                          <a:latin typeface="Cambria Math" panose="02040503050406030204" pitchFamily="18" charset="0"/>
                        </a:rPr>
                        <m:t>−0=0</m:t>
                      </m:r>
                    </m:oMath>
                  </m:oMathPara>
                </a14:m>
                <a:endParaRPr lang="pt-BR" sz="1400" dirty="0">
                  <a:solidFill>
                    <a:srgbClr val="797979"/>
                  </a:solidFill>
                  <a:latin typeface="Gotham HTF Light" pitchFamily="50" charset="0"/>
                </a:endParaRPr>
              </a:p>
              <a:p>
                <a:pPr marL="76200">
                  <a:lnSpc>
                    <a:spcPct val="115000"/>
                  </a:lnSpc>
                  <a:buSzPts val="2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400" b="0" i="1" smtClean="0">
                          <a:solidFill>
                            <a:srgbClr val="797979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pt-BR" sz="1400" b="0" i="1" smtClean="0">
                          <a:solidFill>
                            <a:srgbClr val="797979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1400" b="0" i="1" smtClean="0">
                          <a:solidFill>
                            <a:srgbClr val="797979"/>
                          </a:solidFill>
                          <a:latin typeface="Cambria Math" panose="02040503050406030204" pitchFamily="18" charset="0"/>
                        </a:rPr>
                        <m:t>+50,4=0</m:t>
                      </m:r>
                    </m:oMath>
                  </m:oMathPara>
                </a14:m>
                <a:endParaRPr lang="pt-BR" sz="1400" dirty="0">
                  <a:solidFill>
                    <a:srgbClr val="797979"/>
                  </a:solidFill>
                  <a:latin typeface="Gotham HTF Light" pitchFamily="50" charset="0"/>
                </a:endParaRPr>
              </a:p>
              <a:p>
                <a:pPr marL="76200">
                  <a:lnSpc>
                    <a:spcPct val="115000"/>
                  </a:lnSpc>
                  <a:buSzPts val="24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400" b="0" i="1">
                          <a:solidFill>
                            <a:srgbClr val="797979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1400" b="0" i="1">
                          <a:solidFill>
                            <a:srgbClr val="79797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400" i="1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50,4</m:t>
                          </m:r>
                        </m:num>
                        <m:den>
                          <m:r>
                            <a:rPr lang="pt-BR" sz="1400" b="0" i="1">
                              <a:solidFill>
                                <a:srgbClr val="797979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pt-BR" sz="1400" b="0" i="1">
                          <a:solidFill>
                            <a:srgbClr val="797979"/>
                          </a:solidFill>
                          <a:latin typeface="Cambria Math" panose="02040503050406030204" pitchFamily="18" charset="0"/>
                        </a:rPr>
                        <m:t>=12,6</m:t>
                      </m:r>
                    </m:oMath>
                  </m:oMathPara>
                </a14:m>
                <a:endParaRPr lang="pt-BR" sz="1400" dirty="0">
                  <a:solidFill>
                    <a:srgbClr val="797979"/>
                  </a:solidFill>
                  <a:latin typeface="Gotham HTF Light" pitchFamily="50" charset="0"/>
                </a:endParaRPr>
              </a:p>
            </p:txBody>
          </p:sp>
        </mc:Choice>
        <mc:Fallback xmlns="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96" y="1086919"/>
                <a:ext cx="7068080" cy="34013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A334F14B-9874-4696-9BC4-A77D34E42972}"/>
              </a:ext>
            </a:extLst>
          </p:cNvPr>
          <p:cNvSpPr txBox="1"/>
          <p:nvPr/>
        </p:nvSpPr>
        <p:spPr>
          <a:xfrm>
            <a:off x="6175461" y="3306769"/>
            <a:ext cx="1540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Este é o preço que trará maior lucro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4FB7571A-110F-4F56-8C1D-3638EF7F5FCB}"/>
              </a:ext>
            </a:extLst>
          </p:cNvPr>
          <p:cNvCxnSpPr>
            <a:cxnSpLocks/>
          </p:cNvCxnSpPr>
          <p:nvPr/>
        </p:nvCxnSpPr>
        <p:spPr>
          <a:xfrm flipH="1">
            <a:off x="5077706" y="3560559"/>
            <a:ext cx="1097756" cy="595784"/>
          </a:xfrm>
          <a:prstGeom prst="straightConnector1">
            <a:avLst/>
          </a:prstGeom>
          <a:ln>
            <a:solidFill>
              <a:srgbClr val="ED1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59">
            <a:extLst>
              <a:ext uri="{FF2B5EF4-FFF2-40B4-BE49-F238E27FC236}">
                <a16:creationId xmlns:a16="http://schemas.microsoft.com/office/drawing/2014/main" id="{1379CFB8-1EB4-4246-913F-7BC2038BA00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OBTER A DERIVADA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DO LUCRO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</p:spTree>
    <p:extLst>
      <p:ext uri="{BB962C8B-B14F-4D97-AF65-F5344CB8AC3E}">
        <p14:creationId xmlns:p14="http://schemas.microsoft.com/office/powerpoint/2010/main" val="191055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/>
              <p:nvPr/>
            </p:nvSpPr>
            <p:spPr>
              <a:xfrm>
                <a:off x="860896" y="1086919"/>
                <a:ext cx="7068080" cy="4061241"/>
              </a:xfrm>
              <a:prstGeom prst="rect">
                <a:avLst/>
              </a:prstGeom>
              <a:noFill/>
            </p:spPr>
            <p:txBody>
              <a:bodyPr wrap="square" tIns="46800" rtlCol="0">
                <a:spAutoFit/>
              </a:bodyPr>
              <a:lstStyle/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Alguns limites para avaliar:</a:t>
                </a: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endParaRPr lang="pt-BR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+mj-lt"/>
                  <a:buAutoNum type="alphaLcParenR"/>
                </a:pPr>
                <a:r>
                  <a:rPr lang="pt-BR" sz="1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sz="1300" i="1">
                            <a:solidFill>
                              <a:srgbClr val="7979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sz="1300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pt-BR" sz="1300" b="0" i="1" smtClean="0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sz="1300" i="1">
                            <a:solidFill>
                              <a:srgbClr val="7979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300" i="1">
                            <a:solidFill>
                              <a:srgbClr val="7979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pt-BR" sz="1300" i="1">
                            <a:solidFill>
                              <a:srgbClr val="7979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pt-BR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+mj-lt"/>
                  <a:buAutoNum type="alphaLcParenR"/>
                </a:pPr>
                <a:r>
                  <a:rPr lang="pt-BR" sz="1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sz="1300" i="1">
                            <a:solidFill>
                              <a:srgbClr val="7979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sz="1300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→−</m:t>
                            </m:r>
                            <m: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pt-BR" sz="1300" i="1">
                                    <a:solidFill>
                                      <a:srgbClr val="79797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1300" i="1">
                                    <a:solidFill>
                                      <a:srgbClr val="79797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pt-BR" sz="1300" i="1">
                                    <a:solidFill>
                                      <a:srgbClr val="79797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300" i="1">
                                    <a:solidFill>
                                      <a:srgbClr val="79797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endParaRPr lang="pt-BR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endParaRPr lang="pt-BR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Algumas derivadas para resolver:</a:t>
                </a: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endParaRPr lang="pt-BR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+mj-lt"/>
                  <a:buAutoNum type="alphaLcParenR"/>
                </a:pPr>
                <a:r>
                  <a:rPr lang="pt-BR" sz="1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 𝑓(𝑥)=</a:t>
                </a:r>
                <a:r>
                  <a:rPr lang="pt-BR" sz="1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3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3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sz="13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endParaRPr lang="pt-BR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+mj-lt"/>
                  <a:buAutoNum type="alphaLcParenR"/>
                </a:pPr>
                <a:r>
                  <a:rPr lang="pt-BR" sz="1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 𝑓(𝑥)=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1300" i="1">
                            <a:solidFill>
                              <a:srgbClr val="7979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300" i="1">
                            <a:solidFill>
                              <a:srgbClr val="7979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1300" i="1">
                            <a:solidFill>
                              <a:srgbClr val="7979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pt-BR" sz="1300" i="1">
                            <a:solidFill>
                              <a:srgbClr val="79797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1300" i="1">
                                <a:solidFill>
                                  <a:srgbClr val="797979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pt-BR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endParaRPr lang="pt-BR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otham HTF Light" pitchFamily="50" charset="0"/>
                </a:endParaRP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otham HTF Light" pitchFamily="50" charset="0"/>
                  </a:rPr>
                  <a:t>Assistir ao vídeo para um resumo geral de cálculo (com desenhos):</a:t>
                </a:r>
              </a:p>
              <a:p>
                <a:pPr marL="457200" lvl="0" indent="-381000">
                  <a:lnSpc>
                    <a:spcPct val="150000"/>
                  </a:lnSpc>
                  <a:buClr>
                    <a:srgbClr val="ED145B"/>
                  </a:buClr>
                  <a:buSzPct val="100000"/>
                  <a:buFont typeface="Arial" panose="020B0604020202020204" pitchFamily="34" charset="0"/>
                  <a:buChar char="•"/>
                </a:pPr>
                <a:r>
                  <a:rPr lang="pt-BR" sz="1300" dirty="0">
                    <a:solidFill>
                      <a:srgbClr val="ED145B"/>
                    </a:solidFill>
                    <a:latin typeface="Gotham HTF Light" pitchFamily="50" charset="0"/>
                  </a:rPr>
                  <a:t>https://www.youtube.com/watch?v=4fqVT-DfpGg</a:t>
                </a:r>
              </a:p>
            </p:txBody>
          </p:sp>
        </mc:Choice>
        <mc:Fallback xmlns="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id="{DB33B55F-AC39-4216-8F32-3B81D9F28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96" y="1086919"/>
                <a:ext cx="7068080" cy="40612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59">
            <a:extLst>
              <a:ext uri="{FF2B5EF4-FFF2-40B4-BE49-F238E27FC236}">
                <a16:creationId xmlns:a16="http://schemas.microsoft.com/office/drawing/2014/main" id="{1379CFB8-1EB4-4246-913F-7BC2038BA00A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EXERCÍCIOS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</p:spTree>
    <p:extLst>
      <p:ext uri="{BB962C8B-B14F-4D97-AF65-F5344CB8AC3E}">
        <p14:creationId xmlns:p14="http://schemas.microsoft.com/office/powerpoint/2010/main" val="3302244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9">
            <a:extLst>
              <a:ext uri="{FF2B5EF4-FFF2-40B4-BE49-F238E27FC236}">
                <a16:creationId xmlns:a16="http://schemas.microsoft.com/office/drawing/2014/main" id="{B6A9C566-9A4B-4F81-BBBD-588C4B0E2753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ONDE ESTUDAR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MAIS!!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  <p:sp>
        <p:nvSpPr>
          <p:cNvPr id="6" name="Shape 413">
            <a:extLst>
              <a:ext uri="{FF2B5EF4-FFF2-40B4-BE49-F238E27FC236}">
                <a16:creationId xmlns:a16="http://schemas.microsoft.com/office/drawing/2014/main" id="{13D40D6C-DD9F-46C7-A4CF-4AC9A9059D00}"/>
              </a:ext>
            </a:extLst>
          </p:cNvPr>
          <p:cNvSpPr/>
          <p:nvPr/>
        </p:nvSpPr>
        <p:spPr>
          <a:xfrm>
            <a:off x="936051" y="1089676"/>
            <a:ext cx="7205867" cy="291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>
              <a:lnSpc>
                <a:spcPct val="150000"/>
              </a:lnSpc>
              <a:buClr>
                <a:srgbClr val="ED145B"/>
              </a:buClr>
              <a:buSzPct val="100000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Vídeos</a:t>
            </a:r>
          </a:p>
          <a:p>
            <a:pPr marL="393700" lvl="0" indent="-3429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Regra da potência: </a:t>
            </a:r>
            <a:r>
              <a:rPr lang="pt-BR" sz="1000" dirty="0">
                <a:solidFill>
                  <a:srgbClr val="ED145B"/>
                </a:solidFill>
                <a:latin typeface="Gotham HTF Light" pitchFamily="50" charset="0"/>
              </a:rPr>
              <a:t>https://www.khanacademy.org/math/ap-calculus-ab/ab-differentiation-1-new/ab-2-5/v/power-rule</a:t>
            </a:r>
          </a:p>
          <a:p>
            <a:pPr marL="50800" lvl="0">
              <a:lnSpc>
                <a:spcPct val="150000"/>
              </a:lnSpc>
              <a:buClr>
                <a:srgbClr val="ED145B"/>
              </a:buClr>
              <a:buSzPct val="100000"/>
            </a:pPr>
            <a:endParaRPr lang="pt-BR" sz="1000" dirty="0">
              <a:solidFill>
                <a:srgbClr val="ED145B"/>
              </a:solidFill>
              <a:latin typeface="Gotham HTF Light" pitchFamily="50" charset="0"/>
            </a:endParaRPr>
          </a:p>
          <a:p>
            <a:pPr marL="393700" lvl="0" indent="-3429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Regra do produto: </a:t>
            </a:r>
            <a:r>
              <a:rPr lang="pt-BR" sz="1000" dirty="0">
                <a:solidFill>
                  <a:srgbClr val="ED145B"/>
                </a:solidFill>
                <a:latin typeface="Gotham HTF Light" pitchFamily="50" charset="0"/>
              </a:rPr>
              <a:t>https://www.khanacademy.org/math/ap-calculus-ab/ab-differentiation-1-new/ab-2-8/v/applying-the-product-rule-for-derivatives</a:t>
            </a:r>
          </a:p>
          <a:p>
            <a:pPr marL="50800" lvl="0">
              <a:lnSpc>
                <a:spcPct val="150000"/>
              </a:lnSpc>
              <a:buClr>
                <a:srgbClr val="ED145B"/>
              </a:buClr>
              <a:buSzPct val="100000"/>
            </a:pPr>
            <a:endParaRPr lang="pt-BR" sz="1000" dirty="0">
              <a:solidFill>
                <a:srgbClr val="ED145B"/>
              </a:solidFill>
              <a:latin typeface="Gotham HTF Light" pitchFamily="50" charset="0"/>
            </a:endParaRPr>
          </a:p>
          <a:p>
            <a:pPr marL="393700" lvl="0" indent="-3429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Regra do quociente: </a:t>
            </a:r>
            <a:r>
              <a:rPr lang="pt-BR" sz="1000" dirty="0">
                <a:solidFill>
                  <a:srgbClr val="ED145B"/>
                </a:solidFill>
                <a:latin typeface="Gotham HTF Light" pitchFamily="50" charset="0"/>
              </a:rPr>
              <a:t>https://www.khanacademy.org/math/ap-calculus-ab/ab-differentiation-1-new/ab-2-9/v/quotient-rule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04680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9">
            <a:extLst>
              <a:ext uri="{FF2B5EF4-FFF2-40B4-BE49-F238E27FC236}">
                <a16:creationId xmlns:a16="http://schemas.microsoft.com/office/drawing/2014/main" id="{B6A9C566-9A4B-4F81-BBBD-588C4B0E2753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ONDE ESTUDAR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MAIS!!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  <p:sp>
        <p:nvSpPr>
          <p:cNvPr id="4" name="Shape 413">
            <a:extLst>
              <a:ext uri="{FF2B5EF4-FFF2-40B4-BE49-F238E27FC236}">
                <a16:creationId xmlns:a16="http://schemas.microsoft.com/office/drawing/2014/main" id="{BF5BB000-C29F-4B75-9976-116DD944B956}"/>
              </a:ext>
            </a:extLst>
          </p:cNvPr>
          <p:cNvSpPr/>
          <p:nvPr/>
        </p:nvSpPr>
        <p:spPr>
          <a:xfrm>
            <a:off x="936052" y="1094832"/>
            <a:ext cx="7205867" cy="2876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lvl="0">
              <a:lnSpc>
                <a:spcPct val="150000"/>
              </a:lnSpc>
              <a:buClr>
                <a:srgbClr val="ED145B"/>
              </a:buClr>
              <a:buSzPct val="100000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Vídeos</a:t>
            </a:r>
          </a:p>
          <a:p>
            <a:pPr marL="393700" lvl="0" indent="-3429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Limites: </a:t>
            </a:r>
            <a:r>
              <a:rPr lang="pt-BR" sz="1000" dirty="0">
                <a:solidFill>
                  <a:srgbClr val="ED145B"/>
                </a:solidFill>
                <a:latin typeface="Gotham HTF Light" pitchFamily="50" charset="0"/>
              </a:rPr>
              <a:t>https://pt.khanacademy.org/math/ap-calculus-ab/ab-limits-new/ab-1-2/v/introduction-to-limits-hd</a:t>
            </a:r>
          </a:p>
          <a:p>
            <a:pPr marL="50800" lvl="0">
              <a:lnSpc>
                <a:spcPct val="150000"/>
              </a:lnSpc>
              <a:buClr>
                <a:srgbClr val="ED145B"/>
              </a:buClr>
              <a:buSzPct val="100000"/>
            </a:pPr>
            <a:endParaRPr lang="pt-BR" sz="1000" dirty="0">
              <a:solidFill>
                <a:schemeClr val="tx1">
                  <a:lumMod val="65000"/>
                  <a:lumOff val="35000"/>
                </a:schemeClr>
              </a:solidFill>
              <a:latin typeface="Gotham HTF Light" pitchFamily="50" charset="0"/>
            </a:endParaRPr>
          </a:p>
          <a:p>
            <a:pPr marL="393700" lvl="0" indent="-3429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Derivadas (somente ideia): </a:t>
            </a:r>
            <a:r>
              <a:rPr lang="pt-BR" sz="1000" dirty="0">
                <a:solidFill>
                  <a:srgbClr val="ED145B"/>
                </a:solidFill>
                <a:latin typeface="Gotham HTF Light" pitchFamily="50" charset="0"/>
              </a:rPr>
              <a:t>https://pt.khanacademy.org/math/differential-calculus/dc-diff-intro/dc-diff-calc-intro/v/newton-leibniz-and-usain-bolt</a:t>
            </a:r>
          </a:p>
          <a:p>
            <a:pPr marL="50800" lvl="0">
              <a:lnSpc>
                <a:spcPct val="150000"/>
              </a:lnSpc>
              <a:buClr>
                <a:srgbClr val="ED145B"/>
              </a:buClr>
              <a:buSzPct val="100000"/>
            </a:pPr>
            <a:endParaRPr lang="pt-BR" sz="1000" dirty="0">
              <a:solidFill>
                <a:schemeClr val="tx1">
                  <a:lumMod val="65000"/>
                  <a:lumOff val="35000"/>
                </a:schemeClr>
              </a:solidFill>
              <a:latin typeface="Gotham HTF Light" pitchFamily="50" charset="0"/>
            </a:endParaRPr>
          </a:p>
          <a:p>
            <a:pPr marL="393700" lvl="0" indent="-342900">
              <a:lnSpc>
                <a:spcPct val="150000"/>
              </a:lnSpc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Derivadas (definição formal): </a:t>
            </a:r>
            <a:r>
              <a:rPr lang="pt-BR" sz="1000" dirty="0">
                <a:solidFill>
                  <a:srgbClr val="ED145B"/>
                </a:solidFill>
                <a:latin typeface="Gotham HTF Light" pitchFamily="50" charset="0"/>
              </a:rPr>
              <a:t>https://pt.khanacademy.org/math/ap-calculus-ab/ab-differentiation-1-new/ab-2-2/v/calculus-derivatives-1-new-hd-version</a:t>
            </a: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29210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462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9">
            <a:extLst>
              <a:ext uri="{FF2B5EF4-FFF2-40B4-BE49-F238E27FC236}">
                <a16:creationId xmlns:a16="http://schemas.microsoft.com/office/drawing/2014/main" id="{B6A9C566-9A4B-4F81-BBBD-588C4B0E2753}"/>
              </a:ext>
            </a:extLst>
          </p:cNvPr>
          <p:cNvSpPr txBox="1"/>
          <p:nvPr/>
        </p:nvSpPr>
        <p:spPr>
          <a:xfrm>
            <a:off x="936052" y="555773"/>
            <a:ext cx="531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/>
                <a:cs typeface="Gotham HTF Light"/>
              </a:rPr>
              <a:t>ONDE ESTUDAR </a:t>
            </a:r>
            <a:r>
              <a:rPr lang="pt-BR" dirty="0">
                <a:solidFill>
                  <a:srgbClr val="ED145B"/>
                </a:solidFill>
                <a:latin typeface="Gotham HTF" pitchFamily="50" charset="0"/>
                <a:cs typeface="Gotham HTF Bold"/>
              </a:rPr>
              <a:t>MAIS!!</a:t>
            </a:r>
            <a:endParaRPr lang="pt-BR" dirty="0">
              <a:solidFill>
                <a:srgbClr val="ED145B"/>
              </a:solidFill>
              <a:latin typeface="Gotham HTF" pitchFamily="50" charset="0"/>
              <a:cs typeface="Gotham HTF Light"/>
            </a:endParaRPr>
          </a:p>
        </p:txBody>
      </p:sp>
      <p:sp>
        <p:nvSpPr>
          <p:cNvPr id="7" name="Shape 413">
            <a:extLst>
              <a:ext uri="{FF2B5EF4-FFF2-40B4-BE49-F238E27FC236}">
                <a16:creationId xmlns:a16="http://schemas.microsoft.com/office/drawing/2014/main" id="{34D7DBF3-D2B5-42F7-AEA3-1638FE941B9A}"/>
              </a:ext>
            </a:extLst>
          </p:cNvPr>
          <p:cNvSpPr/>
          <p:nvPr/>
        </p:nvSpPr>
        <p:spPr>
          <a:xfrm>
            <a:off x="936052" y="1077194"/>
            <a:ext cx="1558954" cy="43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937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D145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Leitura</a:t>
            </a: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0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dirty="0"/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endParaRPr lang="pt-BR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292100" algn="l" rtl="0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17A53B7-F11E-468F-9525-A151C293A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400" y="1541103"/>
            <a:ext cx="1643200" cy="206605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C084DB53-726C-48A6-BA45-700A57998B72}"/>
              </a:ext>
            </a:extLst>
          </p:cNvPr>
          <p:cNvSpPr txBox="1"/>
          <p:nvPr/>
        </p:nvSpPr>
        <p:spPr>
          <a:xfrm>
            <a:off x="2572143" y="3636136"/>
            <a:ext cx="3999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>
                <a:solidFill>
                  <a:srgbClr val="ED145B"/>
                </a:solidFill>
                <a:latin typeface="Gotham HTF Light" pitchFamily="50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https://archive.org/details/CalculusForDummies_201709</a:t>
            </a:r>
            <a:endParaRPr lang="pt-BR" sz="1000" dirty="0">
              <a:solidFill>
                <a:srgbClr val="ED145B"/>
              </a:solidFill>
              <a:latin typeface="Gotham HTF Ligh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45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018" y="3565559"/>
            <a:ext cx="815963" cy="219495"/>
          </a:xfrm>
          <a:prstGeom prst="rect">
            <a:avLst/>
          </a:prstGeom>
        </p:spPr>
      </p:pic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228646" y="3996024"/>
            <a:ext cx="4686710" cy="553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Copyright </a:t>
            </a:r>
            <a:r>
              <a:rPr lang="de-DE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© </a:t>
            </a: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2018 | Professor Alcides C. Araújo</a:t>
            </a:r>
          </a:p>
          <a:p>
            <a:pPr algn="ctr" eaLnBrk="1" hangingPunct="1">
              <a:lnSpc>
                <a:spcPct val="150000"/>
              </a:lnSpc>
            </a:pPr>
            <a:r>
              <a:rPr 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Todos</a:t>
            </a: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 </a:t>
            </a:r>
            <a:r>
              <a:rPr 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os</a:t>
            </a: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 </a:t>
            </a:r>
            <a:r>
              <a:rPr 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direitos</a:t>
            </a: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 </a:t>
            </a:r>
            <a:r>
              <a:rPr 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reservados</a:t>
            </a: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. </a:t>
            </a:r>
            <a:r>
              <a:rPr 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Reprodução</a:t>
            </a: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 </a:t>
            </a:r>
            <a:r>
              <a:rPr 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ou</a:t>
            </a: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 </a:t>
            </a:r>
            <a:r>
              <a:rPr 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divulgação</a:t>
            </a: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 total </a:t>
            </a:r>
            <a:r>
              <a:rPr 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ou</a:t>
            </a: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 </a:t>
            </a:r>
            <a:r>
              <a:rPr 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parcial</a:t>
            </a: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 </a:t>
            </a:r>
            <a:r>
              <a:rPr 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deste</a:t>
            </a: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 </a:t>
            </a:r>
            <a:r>
              <a:rPr 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documento</a:t>
            </a: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, </a:t>
            </a:r>
            <a:r>
              <a:rPr 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é</a:t>
            </a: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 </a:t>
            </a:r>
            <a:r>
              <a:rPr 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expressamente</a:t>
            </a: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 </a:t>
            </a:r>
            <a:r>
              <a:rPr 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proibido</a:t>
            </a: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 </a:t>
            </a:r>
            <a:r>
              <a:rPr 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sem</a:t>
            </a: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 </a:t>
            </a:r>
            <a:r>
              <a:rPr 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consentimento</a:t>
            </a: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 formal, </a:t>
            </a:r>
            <a:r>
              <a:rPr 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por</a:t>
            </a: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 </a:t>
            </a:r>
            <a:r>
              <a:rPr 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escrito</a:t>
            </a: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, do professor/</a:t>
            </a:r>
            <a:r>
              <a:rPr lang="en-US" sz="7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autor</a:t>
            </a:r>
            <a:r>
              <a:rPr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  <a:cs typeface="Roboto Light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61309" y="2258660"/>
            <a:ext cx="482138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rgbClr val="ED145B"/>
                </a:solidFill>
                <a:latin typeface="Gotham HTF Medium" pitchFamily="50" charset="0"/>
                <a:cs typeface="Gotham HTF Light"/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1688268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AC9727B6-CB6D-41D7-8309-AC12CCAEBB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943" y="211486"/>
            <a:ext cx="8732115" cy="4725291"/>
          </a:xfrm>
          <a:prstGeom prst="rect">
            <a:avLst/>
          </a:prstGeom>
        </p:spPr>
      </p:pic>
      <p:pic>
        <p:nvPicPr>
          <p:cNvPr id="16" name="Imagem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655" y="2215502"/>
            <a:ext cx="2648691" cy="71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4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1753</TotalTime>
  <Words>1534</Words>
  <Application>Microsoft Office PowerPoint</Application>
  <PresentationFormat>Custom</PresentationFormat>
  <Paragraphs>261</Paragraphs>
  <Slides>37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Gotham HTF Light</vt:lpstr>
      <vt:lpstr>Calibri Light</vt:lpstr>
      <vt:lpstr>Gotham HTF Light </vt:lpstr>
      <vt:lpstr>Cambria Math</vt:lpstr>
      <vt:lpstr>Gotham HTF</vt:lpstr>
      <vt:lpstr>Gotham HTF Medium</vt:lpstr>
      <vt:lpstr>Calibri</vt:lpstr>
      <vt:lpstr>Arial</vt:lpstr>
      <vt:lpstr>Office Theme</vt:lpstr>
      <vt:lpstr>Personalizar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Adriano</dc:creator>
  <cp:lastModifiedBy>Jones Egydio</cp:lastModifiedBy>
  <cp:revision>95</cp:revision>
  <dcterms:created xsi:type="dcterms:W3CDTF">2019-02-15T12:16:11Z</dcterms:created>
  <dcterms:modified xsi:type="dcterms:W3CDTF">2024-04-30T15:09:54Z</dcterms:modified>
</cp:coreProperties>
</file>