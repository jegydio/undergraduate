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19"/>
  </p:notesMasterIdLst>
  <p:sldIdLst>
    <p:sldId id="256" r:id="rId3"/>
    <p:sldId id="285" r:id="rId4"/>
    <p:sldId id="344" r:id="rId5"/>
    <p:sldId id="374" r:id="rId6"/>
    <p:sldId id="386" r:id="rId7"/>
    <p:sldId id="375" r:id="rId8"/>
    <p:sldId id="387" r:id="rId9"/>
    <p:sldId id="376" r:id="rId10"/>
    <p:sldId id="388" r:id="rId11"/>
    <p:sldId id="389" r:id="rId12"/>
    <p:sldId id="377" r:id="rId13"/>
    <p:sldId id="390" r:id="rId14"/>
    <p:sldId id="381" r:id="rId15"/>
    <p:sldId id="385" r:id="rId16"/>
    <p:sldId id="391" r:id="rId17"/>
    <p:sldId id="307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" panose="020B0604020202020204" charset="0"/>
      <p:regular r:id="rId24"/>
      <p:bold r:id="rId25"/>
      <p:italic r:id="rId26"/>
      <p:boldItalic r:id="rId27"/>
    </p:embeddedFont>
    <p:embeddedFont>
      <p:font typeface="Cambria Math" panose="02040503050406030204" pitchFamily="18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8E95B-7D3C-4000-9396-C2E5DE68CFB0}">
  <a:tblStyle styleId="{B388E95B-7D3C-4000-9396-C2E5DE68CF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2875" autoAdjust="0"/>
  </p:normalViewPr>
  <p:slideViewPr>
    <p:cSldViewPr snapToGrid="0">
      <p:cViewPr varScale="1">
        <p:scale>
          <a:sx n="68" d="100"/>
          <a:sy n="68" d="100"/>
        </p:scale>
        <p:origin x="1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545090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AutoNum type="alphaLcParenR"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608435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AutoNum type="alphaLcParenR"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557951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endParaRPr lang="pt-BR" sz="1100" b="1" dirty="0" smtClean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2717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AutoNum type="alphaLcParenR"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240302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930844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933076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57726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678364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910624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029785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51754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417647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Shape 4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s">
  <p:cSld name="Tela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ads Escuro MBA">
  <p:cSld name="Quads Escuro MBA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_D">
  <p:cSld name="Conteudo_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251521" y="908720"/>
            <a:ext cx="7632848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2"/>
          </p:nvPr>
        </p:nvSpPr>
        <p:spPr>
          <a:xfrm>
            <a:off x="251521" y="44626"/>
            <a:ext cx="7704534" cy="5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 descr="FIAP-NOVO-2014-MAGENT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125" y="2901164"/>
            <a:ext cx="3604019" cy="105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Shape 306"/>
          <p:cNvPicPr preferRelativeResize="0"/>
          <p:nvPr/>
        </p:nvPicPr>
        <p:blipFill rotWithShape="1">
          <a:blip r:embed="rId3">
            <a:alphaModFix/>
          </a:blip>
          <a:srcRect l="20898" r="22582"/>
          <a:stretch/>
        </p:blipFill>
        <p:spPr>
          <a:xfrm>
            <a:off x="0" y="3376031"/>
            <a:ext cx="9155651" cy="278985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Shape 307"/>
          <p:cNvSpPr txBox="1"/>
          <p:nvPr/>
        </p:nvSpPr>
        <p:spPr>
          <a:xfrm>
            <a:off x="578249" y="4047077"/>
            <a:ext cx="7999382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</a:rPr>
              <a:t>Enterprise Analytics e Data Warehousing</a:t>
            </a:r>
            <a:endParaRPr sz="22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578249" y="5061038"/>
            <a:ext cx="7084983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Alcides C. Araújo</a:t>
            </a:r>
            <a:endParaRPr sz="18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Shape 309"/>
          <p:cNvSpPr txBox="1"/>
          <p:nvPr/>
        </p:nvSpPr>
        <p:spPr>
          <a:xfrm>
            <a:off x="919775" y="1373555"/>
            <a:ext cx="7085100" cy="1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BR" sz="1800" dirty="0">
                <a:solidFill>
                  <a:srgbClr val="FFFF00"/>
                </a:solidFill>
              </a:rPr>
              <a:t>"Capacitar o aluno na construção de protótipos de Data </a:t>
            </a:r>
            <a:r>
              <a:rPr lang="pt-BR" sz="1800" dirty="0" err="1">
                <a:solidFill>
                  <a:srgbClr val="FFFF00"/>
                </a:solidFill>
              </a:rPr>
              <a:t>Marts</a:t>
            </a:r>
            <a:r>
              <a:rPr lang="pt-BR" sz="1800" dirty="0">
                <a:solidFill>
                  <a:srgbClr val="FFFF00"/>
                </a:solidFill>
              </a:rPr>
              <a:t> e Data </a:t>
            </a:r>
            <a:r>
              <a:rPr lang="pt-BR" sz="1800" dirty="0" err="1">
                <a:solidFill>
                  <a:srgbClr val="FFFF00"/>
                </a:solidFill>
              </a:rPr>
              <a:t>Warehouse</a:t>
            </a:r>
            <a:r>
              <a:rPr lang="pt-BR" sz="1800" dirty="0">
                <a:solidFill>
                  <a:srgbClr val="FFFF00"/>
                </a:solidFill>
              </a:rPr>
              <a:t>, utilizando ETL e a evolução para Data </a:t>
            </a:r>
            <a:r>
              <a:rPr lang="pt-BR" sz="1800" dirty="0" err="1">
                <a:solidFill>
                  <a:srgbClr val="FFFF00"/>
                </a:solidFill>
              </a:rPr>
              <a:t>Ingestion</a:t>
            </a:r>
            <a:r>
              <a:rPr lang="pt-BR" sz="1800" dirty="0">
                <a:solidFill>
                  <a:srgbClr val="FFFF00"/>
                </a:solidFill>
              </a:rPr>
              <a:t>."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FFFF00"/>
              </a:solidFill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</a:rPr>
              <a:t>"</a:t>
            </a:r>
            <a:r>
              <a:rPr lang="en-US" sz="1800" dirty="0" err="1">
                <a:solidFill>
                  <a:srgbClr val="FFFF00"/>
                </a:solidFill>
              </a:rPr>
              <a:t>Tornar</a:t>
            </a:r>
            <a:r>
              <a:rPr lang="en-US" sz="1800" dirty="0">
                <a:solidFill>
                  <a:srgbClr val="FFFF00"/>
                </a:solidFill>
              </a:rPr>
              <a:t> o </a:t>
            </a:r>
            <a:r>
              <a:rPr lang="en-US" sz="1800" dirty="0" err="1">
                <a:solidFill>
                  <a:srgbClr val="FFFF00"/>
                </a:solidFill>
              </a:rPr>
              <a:t>aluno</a:t>
            </a:r>
            <a:r>
              <a:rPr lang="en-US" sz="1800" dirty="0">
                <a:solidFill>
                  <a:srgbClr val="FFFF00"/>
                </a:solidFill>
              </a:rPr>
              <a:t> </a:t>
            </a:r>
            <a:r>
              <a:rPr lang="en-US" sz="1800" dirty="0" err="1">
                <a:solidFill>
                  <a:srgbClr val="FFFF00"/>
                </a:solidFill>
              </a:rPr>
              <a:t>capacitado</a:t>
            </a:r>
            <a:r>
              <a:rPr lang="en-US" sz="1800" dirty="0">
                <a:solidFill>
                  <a:srgbClr val="FFFF00"/>
                </a:solidFill>
              </a:rPr>
              <a:t> a </a:t>
            </a:r>
            <a:r>
              <a:rPr lang="en-US" sz="1800" dirty="0" err="1">
                <a:solidFill>
                  <a:srgbClr val="FFFF00"/>
                </a:solidFill>
              </a:rPr>
              <a:t>compreender</a:t>
            </a:r>
            <a:r>
              <a:rPr lang="en-US" sz="1800" dirty="0">
                <a:solidFill>
                  <a:srgbClr val="FFFF00"/>
                </a:solidFill>
              </a:rPr>
              <a:t> e </a:t>
            </a:r>
            <a:r>
              <a:rPr lang="en-US" sz="1800" dirty="0" err="1">
                <a:solidFill>
                  <a:srgbClr val="FFFF00"/>
                </a:solidFill>
              </a:rPr>
              <a:t>construir</a:t>
            </a:r>
            <a:r>
              <a:rPr lang="en-US" sz="1800" dirty="0">
                <a:solidFill>
                  <a:srgbClr val="FFFF00"/>
                </a:solidFill>
              </a:rPr>
              <a:t> </a:t>
            </a:r>
            <a:r>
              <a:rPr lang="en-US" sz="1800" dirty="0" err="1">
                <a:solidFill>
                  <a:srgbClr val="FFFF00"/>
                </a:solidFill>
              </a:rPr>
              <a:t>modelos</a:t>
            </a:r>
            <a:r>
              <a:rPr lang="en-US" sz="1800" dirty="0">
                <a:solidFill>
                  <a:srgbClr val="FFFF00"/>
                </a:solidFill>
              </a:rPr>
              <a:t> </a:t>
            </a:r>
            <a:r>
              <a:rPr lang="en-US" sz="1800" dirty="0" err="1">
                <a:solidFill>
                  <a:srgbClr val="FFFF00"/>
                </a:solidFill>
              </a:rPr>
              <a:t>estatísticos</a:t>
            </a:r>
            <a:r>
              <a:rPr lang="en-US" sz="1800" dirty="0">
                <a:solidFill>
                  <a:srgbClr val="FFFF00"/>
                </a:solidFill>
              </a:rPr>
              <a:t>/</a:t>
            </a:r>
            <a:r>
              <a:rPr lang="en-US" sz="1800" dirty="0" err="1">
                <a:solidFill>
                  <a:srgbClr val="FFFF00"/>
                </a:solidFill>
              </a:rPr>
              <a:t>analíticos</a:t>
            </a:r>
            <a:r>
              <a:rPr lang="en-US" sz="1800" dirty="0">
                <a:solidFill>
                  <a:srgbClr val="FFFF00"/>
                </a:solidFill>
              </a:rPr>
              <a:t> </a:t>
            </a:r>
            <a:r>
              <a:rPr lang="en-US" sz="1800" dirty="0" err="1">
                <a:solidFill>
                  <a:srgbClr val="FFFF00"/>
                </a:solidFill>
              </a:rPr>
              <a:t>básicos</a:t>
            </a:r>
            <a:r>
              <a:rPr lang="en-US" sz="1800" dirty="0">
                <a:solidFill>
                  <a:srgbClr val="FFFF00"/>
                </a:solidFill>
              </a:rPr>
              <a:t> de </a:t>
            </a:r>
            <a:r>
              <a:rPr lang="en-US" sz="1800" dirty="0" err="1">
                <a:solidFill>
                  <a:srgbClr val="FFFF00"/>
                </a:solidFill>
              </a:rPr>
              <a:t>classificação</a:t>
            </a:r>
            <a:r>
              <a:rPr lang="en-US" sz="1800" dirty="0">
                <a:solidFill>
                  <a:srgbClr val="FFFF00"/>
                </a:solidFill>
              </a:rPr>
              <a:t> e </a:t>
            </a:r>
            <a:r>
              <a:rPr lang="en-US" sz="1800" dirty="0" err="1">
                <a:solidFill>
                  <a:srgbClr val="FFFF00"/>
                </a:solidFill>
              </a:rPr>
              <a:t>preditivos</a:t>
            </a:r>
            <a:r>
              <a:rPr lang="en-US" sz="1800" dirty="0">
                <a:solidFill>
                  <a:srgbClr val="FFFF00"/>
                </a:solidFill>
              </a:rPr>
              <a:t> </a:t>
            </a:r>
            <a:r>
              <a:rPr lang="en-US" sz="1800" dirty="0" err="1">
                <a:solidFill>
                  <a:srgbClr val="FFFF00"/>
                </a:solidFill>
              </a:rPr>
              <a:t>utilizados</a:t>
            </a:r>
            <a:r>
              <a:rPr lang="en-US" sz="1800" dirty="0">
                <a:solidFill>
                  <a:srgbClr val="FFFF00"/>
                </a:solidFill>
              </a:rPr>
              <a:t> </a:t>
            </a:r>
            <a:r>
              <a:rPr lang="en-US" sz="1800" dirty="0" err="1">
                <a:solidFill>
                  <a:srgbClr val="FFFF00"/>
                </a:solidFill>
              </a:rPr>
              <a:t>em</a:t>
            </a:r>
            <a:r>
              <a:rPr lang="en-US" sz="1800" dirty="0">
                <a:solidFill>
                  <a:srgbClr val="FFFF00"/>
                </a:solidFill>
              </a:rPr>
              <a:t> Data Science/Machine Learning."</a:t>
            </a:r>
            <a:endParaRPr sz="1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Problema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Imagine este problema clássico de cobrança: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Qual a probabilidade de sucesso?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 smtClean="0">
                <a:latin typeface="Arial" panose="020B0604020202020204" pitchFamily="34" charset="0"/>
              </a:rPr>
              <a:t>Se eu tenho uma base de 5 pessoas para serem cobradas. Qual a chance de cobrar entre 2 a 4 pessoas com sucesso?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356" y="2096340"/>
            <a:ext cx="3851462" cy="243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1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Combinações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Baseado nas respostas anteriores, podemos construir o seguinte: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378254"/>
              </p:ext>
            </p:extLst>
          </p:nvPr>
        </p:nvGraphicFramePr>
        <p:xfrm>
          <a:off x="901373" y="2932112"/>
          <a:ext cx="4087906" cy="226123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1189738582"/>
                    </a:ext>
                  </a:extLst>
                </a:gridCol>
                <a:gridCol w="2157506">
                  <a:extLst>
                    <a:ext uri="{9D8B030D-6E8A-4147-A177-3AD203B41FA5}">
                      <a16:colId xmlns:a16="http://schemas.microsoft.com/office/drawing/2014/main" val="40896454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Número de sucessos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Combinações possíveis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3440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1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7323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1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5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23875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2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10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92239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10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02161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5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41840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1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954694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5495365" y="2932112"/>
                <a:ext cx="3191435" cy="2217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 smtClean="0"/>
                  <a:t>Combinação: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1600" dirty="0" smtClean="0"/>
              </a:p>
              <a:p>
                <a:endParaRPr lang="pt-BR" sz="1600" dirty="0"/>
              </a:p>
              <a:p>
                <a:r>
                  <a:rPr lang="pt-BR" sz="1600" dirty="0" smtClean="0"/>
                  <a:t>Para 0 sucessos: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a:rPr lang="pt-BR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1600" dirty="0" smtClean="0"/>
              </a:p>
              <a:p>
                <a:endParaRPr lang="pt-BR" sz="1600" dirty="0" smtClean="0"/>
              </a:p>
              <a:p>
                <a:r>
                  <a:rPr lang="pt-BR" sz="1600" dirty="0"/>
                  <a:t>Para </a:t>
                </a:r>
                <a:r>
                  <a:rPr lang="pt-BR" sz="1600" dirty="0" smtClean="0"/>
                  <a:t>1 sucesso: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a:rPr lang="pt-BR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d>
                          <m:d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1600" dirty="0" smtClean="0"/>
              </a:p>
              <a:p>
                <a:endParaRPr lang="pt-BR" sz="1600" dirty="0"/>
              </a:p>
              <a:p>
                <a:r>
                  <a:rPr lang="pt-BR" sz="1600" dirty="0" smtClean="0"/>
                  <a:t>E assim por diante...</a:t>
                </a:r>
                <a:endParaRPr lang="pt-BR" sz="16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365" y="2932112"/>
                <a:ext cx="3191435" cy="2217145"/>
              </a:xfrm>
              <a:prstGeom prst="rect">
                <a:avLst/>
              </a:prstGeom>
              <a:blipFill>
                <a:blip r:embed="rId3"/>
                <a:stretch>
                  <a:fillRect l="-954" b="-27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431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Combinações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No </a:t>
            </a:r>
            <a:r>
              <a:rPr lang="pt-BR" sz="2400" i="1" dirty="0" smtClean="0">
                <a:solidFill>
                  <a:schemeClr val="dk1"/>
                </a:solidFill>
              </a:rPr>
              <a:t>Python</a:t>
            </a:r>
            <a:r>
              <a:rPr lang="pt-BR" sz="2400" dirty="0" smtClean="0">
                <a:solidFill>
                  <a:schemeClr val="dk1"/>
                </a:solidFill>
              </a:rPr>
              <a:t> fazemos o seguinte: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cxnSp>
        <p:nvCxnSpPr>
          <p:cNvPr id="7" name="Conector de Seta Reta 6"/>
          <p:cNvCxnSpPr>
            <a:endCxn id="8" idx="3"/>
          </p:cNvCxnSpPr>
          <p:nvPr/>
        </p:nvCxnSpPr>
        <p:spPr>
          <a:xfrm flipH="1">
            <a:off x="4772025" y="4968865"/>
            <a:ext cx="1334062" cy="329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6093899" y="4707255"/>
            <a:ext cx="2043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Resultado igual a tabela do slide anterior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766" y="2041524"/>
            <a:ext cx="4572000" cy="117157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522" y="3474132"/>
            <a:ext cx="3543300" cy="96202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4182" y="4645852"/>
            <a:ext cx="507843" cy="130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0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Probabilidades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 smtClean="0">
                    <a:solidFill>
                      <a:schemeClr val="dk1"/>
                    </a:solidFill>
                  </a:rPr>
                  <a:t>Observando o passado, temos 80% de cobrar com sucesso uma pessoa, ou seja, P(1) = 0,8 e P(0) = 0,2.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 smtClean="0">
                    <a:solidFill>
                      <a:schemeClr val="dk1"/>
                    </a:solidFill>
                  </a:rPr>
                  <a:t>Como estes eventos são independentes podemos construir o seguinte exemplo: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 smtClean="0">
                    <a:solidFill>
                      <a:schemeClr val="dk1"/>
                    </a:solidFill>
                  </a:rPr>
                  <a:t>Linha 1: P(0 sucessos) = P(0) * </a:t>
                </a:r>
                <a:r>
                  <a:rPr lang="pt-BR" sz="1600" dirty="0">
                    <a:solidFill>
                      <a:schemeClr val="dk1"/>
                    </a:solidFill>
                  </a:rPr>
                  <a:t>P(0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) * </a:t>
                </a:r>
                <a:r>
                  <a:rPr lang="pt-BR" sz="1600" dirty="0">
                    <a:solidFill>
                      <a:schemeClr val="dk1"/>
                    </a:solidFill>
                  </a:rPr>
                  <a:t>P(0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) * </a:t>
                </a:r>
                <a:r>
                  <a:rPr lang="pt-BR" sz="1600" dirty="0">
                    <a:solidFill>
                      <a:schemeClr val="dk1"/>
                    </a:solidFill>
                  </a:rPr>
                  <a:t>P(0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) * </a:t>
                </a:r>
                <a:r>
                  <a:rPr lang="pt-BR" sz="1600" dirty="0">
                    <a:solidFill>
                      <a:schemeClr val="dk1"/>
                    </a:solidFill>
                  </a:rPr>
                  <a:t>P(0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pt-BR" sz="16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Linha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2: P(1 </a:t>
                </a:r>
                <a:r>
                  <a:rPr lang="pt-BR" sz="1600" dirty="0">
                    <a:solidFill>
                      <a:schemeClr val="dk1"/>
                    </a:solidFill>
                  </a:rPr>
                  <a:t>sucesso) =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P(0) * P(0) * P(0) * P(0)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pt-BR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pt-BR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pt-BR" sz="16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pt-BR" sz="16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Linha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3: P(2 sucessos) </a:t>
                </a:r>
                <a:r>
                  <a:rPr lang="pt-BR" sz="1600" dirty="0">
                    <a:solidFill>
                      <a:schemeClr val="dk1"/>
                    </a:solidFill>
                  </a:rPr>
                  <a:t>= P(1) 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P(0) * P(0) * P(0)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0,8</m:t>
                            </m:r>
                          </m:e>
                          <m:sup>
                            <m:r>
                              <a:rPr lang="pt-BR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pt-BR" sz="16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Linha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4: P(3 sucessos) </a:t>
                </a:r>
                <a:r>
                  <a:rPr lang="pt-BR" sz="1600" dirty="0">
                    <a:solidFill>
                      <a:schemeClr val="dk1"/>
                    </a:solidFill>
                  </a:rPr>
                  <a:t>= P(1) 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P(0) * P(0)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0,8</m:t>
                            </m:r>
                          </m:e>
                          <m:sup>
                            <m:r>
                              <a:rPr lang="pt-BR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16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Linha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5: P(4 sucessos) </a:t>
                </a:r>
                <a:r>
                  <a:rPr lang="pt-BR" sz="1600" dirty="0">
                    <a:solidFill>
                      <a:schemeClr val="dk1"/>
                    </a:solidFill>
                  </a:rPr>
                  <a:t>= P(1) 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P(0)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0,8</m:t>
                            </m:r>
                          </m:e>
                          <m:sup>
                            <m:r>
                              <a:rPr lang="pt-BR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pt-BR" sz="16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Linha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6: P(5 sucessos) </a:t>
                </a:r>
                <a:r>
                  <a:rPr lang="pt-BR" sz="1600" dirty="0">
                    <a:solidFill>
                      <a:schemeClr val="dk1"/>
                    </a:solidFill>
                  </a:rPr>
                  <a:t>= P(1) 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</a:t>
                </a:r>
                <a:r>
                  <a:rPr lang="pt-BR" sz="1600" dirty="0">
                    <a:solidFill>
                      <a:schemeClr val="dk1"/>
                    </a:solidFill>
                  </a:rPr>
                  <a:t>* </a:t>
                </a:r>
                <a:r>
                  <a:rPr lang="pt-BR" sz="1600" dirty="0" smtClean="0">
                    <a:solidFill>
                      <a:schemeClr val="dk1"/>
                    </a:solidFill>
                  </a:rPr>
                  <a:t>P(1)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0,8</m:t>
                        </m:r>
                      </m:e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pt-BR" sz="16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 smtClean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 smtClean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 smtClean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 b="-32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861448"/>
              </p:ext>
            </p:extLst>
          </p:nvPr>
        </p:nvGraphicFramePr>
        <p:xfrm>
          <a:off x="2105958" y="2627312"/>
          <a:ext cx="4808258" cy="144353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26674">
                  <a:extLst>
                    <a:ext uri="{9D8B030D-6E8A-4147-A177-3AD203B41FA5}">
                      <a16:colId xmlns:a16="http://schemas.microsoft.com/office/drawing/2014/main" val="3087484002"/>
                    </a:ext>
                  </a:extLst>
                </a:gridCol>
                <a:gridCol w="1035695">
                  <a:extLst>
                    <a:ext uri="{9D8B030D-6E8A-4147-A177-3AD203B41FA5}">
                      <a16:colId xmlns:a16="http://schemas.microsoft.com/office/drawing/2014/main" val="2246316806"/>
                    </a:ext>
                  </a:extLst>
                </a:gridCol>
                <a:gridCol w="963014">
                  <a:extLst>
                    <a:ext uri="{9D8B030D-6E8A-4147-A177-3AD203B41FA5}">
                      <a16:colId xmlns:a16="http://schemas.microsoft.com/office/drawing/2014/main" val="2579945866"/>
                    </a:ext>
                  </a:extLst>
                </a:gridCol>
                <a:gridCol w="919861">
                  <a:extLst>
                    <a:ext uri="{9D8B030D-6E8A-4147-A177-3AD203B41FA5}">
                      <a16:colId xmlns:a16="http://schemas.microsoft.com/office/drawing/2014/main" val="3965368805"/>
                    </a:ext>
                  </a:extLst>
                </a:gridCol>
                <a:gridCol w="963014">
                  <a:extLst>
                    <a:ext uri="{9D8B030D-6E8A-4147-A177-3AD203B41FA5}">
                      <a16:colId xmlns:a16="http://schemas.microsoft.com/office/drawing/2014/main" val="2243316054"/>
                    </a:ext>
                  </a:extLst>
                </a:gridCol>
              </a:tblGrid>
              <a:tr h="289101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Pessoa 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Pessoa B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Pessoa C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Pessoa D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Pessoa E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868633"/>
                  </a:ext>
                </a:extLst>
              </a:tr>
              <a:tr h="175717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6725601"/>
                  </a:ext>
                </a:extLst>
              </a:tr>
              <a:tr h="175717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14636613"/>
                  </a:ext>
                </a:extLst>
              </a:tr>
              <a:tr h="175717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 smtClean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0549454"/>
                  </a:ext>
                </a:extLst>
              </a:tr>
              <a:tr h="175717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 smtClean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7929127"/>
                  </a:ext>
                </a:extLst>
              </a:tr>
              <a:tr h="175717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 smtClean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0975928"/>
                  </a:ext>
                </a:extLst>
              </a:tr>
              <a:tr h="175717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882252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7499023" y="3486068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chemeClr val="dk1"/>
                </a:solidFill>
              </a:rPr>
              <a:t>a probabilidade de eventos independentes é o produto (multiplicação) de suas probabilidades.</a:t>
            </a:r>
            <a:endParaRPr lang="pt-BR" sz="800" dirty="0"/>
          </a:p>
        </p:txBody>
      </p:sp>
      <p:cxnSp>
        <p:nvCxnSpPr>
          <p:cNvPr id="7" name="Conector de Seta Reta 6"/>
          <p:cNvCxnSpPr>
            <a:endCxn id="5" idx="1"/>
          </p:cNvCxnSpPr>
          <p:nvPr/>
        </p:nvCxnSpPr>
        <p:spPr>
          <a:xfrm flipV="1">
            <a:off x="6777318" y="3778456"/>
            <a:ext cx="721705" cy="67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/>
              <p:cNvSpPr txBox="1"/>
              <p:nvPr/>
            </p:nvSpPr>
            <p:spPr>
              <a:xfrm>
                <a:off x="7210261" y="4383055"/>
                <a:ext cx="1981200" cy="1819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 smtClean="0">
                    <a:solidFill>
                      <a:schemeClr val="dk1"/>
                    </a:solidFill>
                  </a:rPr>
                  <a:t>Podemos generalizar para:</a:t>
                </a:r>
              </a:p>
              <a:p>
                <a:pPr algn="ctr"/>
                <a:endParaRPr lang="pt-BR" b="1" dirty="0">
                  <a:solidFill>
                    <a:schemeClr val="dk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pt-BR" dirty="0" smtClean="0"/>
              </a:p>
              <a:p>
                <a:pPr algn="ctr"/>
                <a:endParaRPr lang="pt-BR" dirty="0"/>
              </a:p>
              <a:p>
                <a:pPr algn="ctr"/>
                <a:r>
                  <a:rPr lang="pt-BR" dirty="0" smtClean="0"/>
                  <a:t>Chamamos de probabilidade de Bernoulli</a:t>
                </a:r>
                <a:endParaRPr lang="pt-BR" dirty="0"/>
              </a:p>
            </p:txBody>
          </p:sp>
        </mc:Choice>
        <mc:Fallback xmlns="">
          <p:sp>
            <p:nvSpPr>
              <p:cNvPr id="11" name="CaixaDe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261" y="4383055"/>
                <a:ext cx="1981200" cy="1819665"/>
              </a:xfrm>
              <a:prstGeom prst="rect">
                <a:avLst/>
              </a:prstGeom>
              <a:blipFill>
                <a:blip r:embed="rId4"/>
                <a:stretch>
                  <a:fillRect l="-615" t="-669" r="-3077" b="-2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de Seta Reta 11"/>
          <p:cNvCxnSpPr/>
          <p:nvPr/>
        </p:nvCxnSpPr>
        <p:spPr>
          <a:xfrm flipV="1">
            <a:off x="6544235" y="5423647"/>
            <a:ext cx="1066800" cy="376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19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Probabilidades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No </a:t>
            </a:r>
            <a:r>
              <a:rPr lang="pt-BR" sz="2400" i="1" dirty="0" smtClean="0">
                <a:solidFill>
                  <a:schemeClr val="dk1"/>
                </a:solidFill>
              </a:rPr>
              <a:t>Python</a:t>
            </a:r>
            <a:r>
              <a:rPr lang="pt-BR" sz="2400" dirty="0" smtClean="0">
                <a:solidFill>
                  <a:schemeClr val="dk1"/>
                </a:solidFill>
              </a:rPr>
              <a:t> fazemos o seguinte: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cxnSp>
        <p:nvCxnSpPr>
          <p:cNvPr id="7" name="Conector de Seta Reta 6"/>
          <p:cNvCxnSpPr>
            <a:endCxn id="6" idx="3"/>
          </p:cNvCxnSpPr>
          <p:nvPr/>
        </p:nvCxnSpPr>
        <p:spPr>
          <a:xfrm flipH="1" flipV="1">
            <a:off x="4881093" y="5375454"/>
            <a:ext cx="1576159" cy="144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6445064" y="5258519"/>
            <a:ext cx="2043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Resultado igual a tabela do slide anterior</a:t>
            </a:r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129" y="2118636"/>
            <a:ext cx="2945589" cy="101735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737" y="3352454"/>
            <a:ext cx="4399843" cy="122716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9143" y="4740495"/>
            <a:ext cx="761950" cy="126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6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Juntar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combinação</a:t>
            </a:r>
            <a:r>
              <a:rPr lang="en-US" sz="3000" b="1" dirty="0" smtClean="0">
                <a:solidFill>
                  <a:schemeClr val="lt1"/>
                </a:solidFill>
              </a:rPr>
              <a:t> e </a:t>
            </a:r>
            <a:r>
              <a:rPr lang="en-US" sz="3000" b="1" dirty="0" err="1" smtClean="0">
                <a:solidFill>
                  <a:schemeClr val="lt1"/>
                </a:solidFill>
              </a:rPr>
              <a:t>probabilidade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Agora vamos criar uma tabela para os dois exemplos anteriores.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9684800"/>
                  </p:ext>
                </p:extLst>
              </p:nvPr>
            </p:nvGraphicFramePr>
            <p:xfrm>
              <a:off x="579063" y="2456982"/>
              <a:ext cx="7862047" cy="1778255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1806144">
                      <a:extLst>
                        <a:ext uri="{9D8B030D-6E8A-4147-A177-3AD203B41FA5}">
                          <a16:colId xmlns:a16="http://schemas.microsoft.com/office/drawing/2014/main" val="1189738582"/>
                        </a:ext>
                      </a:extLst>
                    </a:gridCol>
                    <a:gridCol w="1786240">
                      <a:extLst>
                        <a:ext uri="{9D8B030D-6E8A-4147-A177-3AD203B41FA5}">
                          <a16:colId xmlns:a16="http://schemas.microsoft.com/office/drawing/2014/main" val="4089645491"/>
                        </a:ext>
                      </a:extLst>
                    </a:gridCol>
                    <a:gridCol w="1929876">
                      <a:extLst>
                        <a:ext uri="{9D8B030D-6E8A-4147-A177-3AD203B41FA5}">
                          <a16:colId xmlns:a16="http://schemas.microsoft.com/office/drawing/2014/main" val="3558780534"/>
                        </a:ext>
                      </a:extLst>
                    </a:gridCol>
                    <a:gridCol w="2339787">
                      <a:extLst>
                        <a:ext uri="{9D8B030D-6E8A-4147-A177-3AD203B41FA5}">
                          <a16:colId xmlns:a16="http://schemas.microsoft.com/office/drawing/2014/main" val="25614071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Número de sucessos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Combinações possíveis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de Bernoulli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Binomial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34407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=0,00032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=0,00032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65732384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=0,00128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=0,0064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1238754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2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=0,00512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pt-BR" sz="14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=0,0512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7922394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3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=0,02048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  <m:r>
                                          <a:rPr lang="pt-BR" sz="14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=0,2048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0021617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4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sz="140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pt-BR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0,8</m:t>
                                      </m:r>
                                    </m:e>
                                    <m:sup>
                                      <m:r>
                                        <a:rPr lang="pt-BR" sz="1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  <m:r>
                                    <a:rPr lang="pt-BR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pt-BR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</m:e>
                                <m:sup>
                                  <m:r>
                                    <a:rPr lang="pt-BR" sz="1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pt-BR" sz="1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oMath>
                          </a14:m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08192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pt-BR" sz="14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=0,4096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74184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5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0,8</m:t>
                                    </m:r>
                                  </m:e>
                                  <m: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=0,3277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0,8</m:t>
                                    </m:r>
                                  </m:e>
                                  <m: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=0,3277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9546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9684800"/>
                  </p:ext>
                </p:extLst>
              </p:nvPr>
            </p:nvGraphicFramePr>
            <p:xfrm>
              <a:off x="579063" y="2456982"/>
              <a:ext cx="7862047" cy="1778255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1806144">
                      <a:extLst>
                        <a:ext uri="{9D8B030D-6E8A-4147-A177-3AD203B41FA5}">
                          <a16:colId xmlns:a16="http://schemas.microsoft.com/office/drawing/2014/main" val="1189738582"/>
                        </a:ext>
                      </a:extLst>
                    </a:gridCol>
                    <a:gridCol w="1786240">
                      <a:extLst>
                        <a:ext uri="{9D8B030D-6E8A-4147-A177-3AD203B41FA5}">
                          <a16:colId xmlns:a16="http://schemas.microsoft.com/office/drawing/2014/main" val="4089645491"/>
                        </a:ext>
                      </a:extLst>
                    </a:gridCol>
                    <a:gridCol w="1929876">
                      <a:extLst>
                        <a:ext uri="{9D8B030D-6E8A-4147-A177-3AD203B41FA5}">
                          <a16:colId xmlns:a16="http://schemas.microsoft.com/office/drawing/2014/main" val="3558780534"/>
                        </a:ext>
                      </a:extLst>
                    </a:gridCol>
                    <a:gridCol w="2339787">
                      <a:extLst>
                        <a:ext uri="{9D8B030D-6E8A-4147-A177-3AD203B41FA5}">
                          <a16:colId xmlns:a16="http://schemas.microsoft.com/office/drawing/2014/main" val="25614071"/>
                        </a:ext>
                      </a:extLst>
                    </a:gridCol>
                  </a:tblGrid>
                  <a:tr h="4362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Número de sucessos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Combinações possíveis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de Bernoulli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Binomial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344071"/>
                      </a:ext>
                    </a:extLst>
                  </a:tr>
                  <a:tr h="22523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216216" r="-121767" b="-540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216216" r="-521" b="-540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2384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325000" r="-121767" b="-4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325000" r="-521" b="-45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8754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2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413514" r="-121767" b="-343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413514" r="-521" b="-3432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92239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3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527778" r="-121767" b="-25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527778" r="-521" b="-25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021617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4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610811" r="-121767" b="-1459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610811" r="-521" b="-145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4184056"/>
                      </a:ext>
                    </a:extLst>
                  </a:tr>
                  <a:tr h="22523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5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710811" r="-121767" b="-459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710811" r="-521" b="-45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95469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aixaDeTexto 2"/>
          <p:cNvSpPr txBox="1"/>
          <p:nvPr/>
        </p:nvSpPr>
        <p:spPr>
          <a:xfrm>
            <a:off x="5109882" y="4625417"/>
            <a:ext cx="259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 probabilidade binomial é o resultado de uma sequencia de eventos em que somente 2 resultados podem ocorrer. Neste exemplo, sucesso ou fracasso.</a:t>
            </a:r>
            <a:endParaRPr lang="pt-BR" dirty="0"/>
          </a:p>
        </p:txBody>
      </p:sp>
      <p:cxnSp>
        <p:nvCxnSpPr>
          <p:cNvPr id="6" name="Conector de Seta Reta 5"/>
          <p:cNvCxnSpPr>
            <a:endCxn id="3" idx="0"/>
          </p:cNvCxnSpPr>
          <p:nvPr/>
        </p:nvCxnSpPr>
        <p:spPr>
          <a:xfrm flipH="1">
            <a:off x="6405282" y="4235237"/>
            <a:ext cx="560294" cy="390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1147481" y="4625417"/>
            <a:ext cx="29126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Nesta tabela temos um conjunto de resultados de eventos associados as suas respectivas probabilidades. Ou seja, denominamos isto de </a:t>
            </a:r>
            <a:r>
              <a:rPr lang="pt-BR" b="1" dirty="0" smtClean="0"/>
              <a:t>Distribuição de Probabilidades</a:t>
            </a:r>
            <a:r>
              <a:rPr lang="pt-BR" dirty="0" smtClean="0"/>
              <a:t>.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2442882" y="4235237"/>
            <a:ext cx="560294" cy="390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07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Juntar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combinação</a:t>
            </a:r>
            <a:r>
              <a:rPr lang="en-US" sz="3000" b="1" dirty="0" smtClean="0">
                <a:solidFill>
                  <a:schemeClr val="lt1"/>
                </a:solidFill>
              </a:rPr>
              <a:t> e </a:t>
            </a:r>
            <a:r>
              <a:rPr lang="en-US" sz="3000" b="1" dirty="0" err="1" smtClean="0">
                <a:solidFill>
                  <a:schemeClr val="lt1"/>
                </a:solidFill>
              </a:rPr>
              <a:t>probabilidade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No Python podemos fazer o seguinte: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Podemos usar a função “</a:t>
            </a:r>
            <a:r>
              <a:rPr lang="pt-BR" sz="2400" dirty="0" err="1" smtClean="0">
                <a:solidFill>
                  <a:schemeClr val="dk1"/>
                </a:solidFill>
              </a:rPr>
              <a:t>binom</a:t>
            </a:r>
            <a:r>
              <a:rPr lang="pt-BR" sz="2400" dirty="0" smtClean="0">
                <a:solidFill>
                  <a:schemeClr val="dk1"/>
                </a:solidFill>
              </a:rPr>
              <a:t>” do pacote </a:t>
            </a:r>
            <a:r>
              <a:rPr lang="pt-BR" sz="2400" dirty="0" err="1" smtClean="0">
                <a:solidFill>
                  <a:schemeClr val="dk1"/>
                </a:solidFill>
              </a:rPr>
              <a:t>scipy</a:t>
            </a:r>
            <a:r>
              <a:rPr lang="pt-BR" sz="2400" dirty="0" smtClean="0">
                <a:solidFill>
                  <a:schemeClr val="dk1"/>
                </a:solidFill>
              </a:rPr>
              <a:t>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cxnSp>
        <p:nvCxnSpPr>
          <p:cNvPr id="7" name="Conector de Seta Reta 6"/>
          <p:cNvCxnSpPr>
            <a:stCxn id="16" idx="0"/>
          </p:cNvCxnSpPr>
          <p:nvPr/>
        </p:nvCxnSpPr>
        <p:spPr>
          <a:xfrm flipV="1">
            <a:off x="3842636" y="3134494"/>
            <a:ext cx="272657" cy="76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1977135" y="3838233"/>
            <a:ext cx="1223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Número de sucessos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3255867" y="3897171"/>
            <a:ext cx="1173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Número de elementos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4399706" y="3838233"/>
            <a:ext cx="1741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Chance de sucesso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127388" y="5933790"/>
            <a:ext cx="7169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Referência: https</a:t>
            </a:r>
            <a:r>
              <a:rPr lang="pt-BR" sz="1200" dirty="0"/>
              <a:t>://docs.scipy.org/doc/scipy/reference/generated/scipy.stats.binom.html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438" y="2784694"/>
            <a:ext cx="2235678" cy="349800"/>
          </a:xfrm>
          <a:prstGeom prst="rect">
            <a:avLst/>
          </a:prstGeom>
        </p:spPr>
      </p:pic>
      <p:cxnSp>
        <p:nvCxnSpPr>
          <p:cNvPr id="14" name="Conector de Seta Reta 13"/>
          <p:cNvCxnSpPr>
            <a:stCxn id="18" idx="0"/>
          </p:cNvCxnSpPr>
          <p:nvPr/>
        </p:nvCxnSpPr>
        <p:spPr>
          <a:xfrm flipH="1" flipV="1">
            <a:off x="4510087" y="3078753"/>
            <a:ext cx="760597" cy="759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flipV="1">
            <a:off x="2572871" y="3066174"/>
            <a:ext cx="1125283" cy="788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64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Juntar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combinação</a:t>
            </a:r>
            <a:r>
              <a:rPr lang="en-US" sz="3000" b="1" dirty="0" smtClean="0">
                <a:solidFill>
                  <a:schemeClr val="lt1"/>
                </a:solidFill>
              </a:rPr>
              <a:t> e </a:t>
            </a:r>
            <a:r>
              <a:rPr lang="en-US" sz="3000" b="1" dirty="0" err="1" smtClean="0">
                <a:solidFill>
                  <a:schemeClr val="lt1"/>
                </a:solidFill>
              </a:rPr>
              <a:t>probabilidade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No </a:t>
            </a:r>
            <a:r>
              <a:rPr lang="pt-BR" sz="2400" dirty="0" err="1" smtClean="0">
                <a:solidFill>
                  <a:schemeClr val="dk1"/>
                </a:solidFill>
              </a:rPr>
              <a:t>python</a:t>
            </a:r>
            <a:r>
              <a:rPr lang="pt-BR" sz="2400" dirty="0" smtClean="0">
                <a:solidFill>
                  <a:schemeClr val="dk1"/>
                </a:solidFill>
              </a:rPr>
              <a:t> podemos fazer o seguinte: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cxnSp>
        <p:nvCxnSpPr>
          <p:cNvPr id="15" name="Conector de Seta Reta 14"/>
          <p:cNvCxnSpPr>
            <a:endCxn id="5" idx="3"/>
          </p:cNvCxnSpPr>
          <p:nvPr/>
        </p:nvCxnSpPr>
        <p:spPr>
          <a:xfrm flipH="1" flipV="1">
            <a:off x="4905934" y="4773450"/>
            <a:ext cx="1395975" cy="80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6289721" y="4592545"/>
            <a:ext cx="2043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Resultado igual a tabela do slide anterior</a:t>
            </a:r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21" y="2361036"/>
            <a:ext cx="5614664" cy="117545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373" y="3812855"/>
            <a:ext cx="1211561" cy="192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3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Juntar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combinação</a:t>
            </a:r>
            <a:r>
              <a:rPr lang="en-US" sz="3000" b="1" dirty="0" smtClean="0">
                <a:solidFill>
                  <a:schemeClr val="lt1"/>
                </a:solidFill>
              </a:rPr>
              <a:t> e </a:t>
            </a:r>
            <a:r>
              <a:rPr lang="en-US" sz="3000" b="1" dirty="0" err="1" smtClean="0">
                <a:solidFill>
                  <a:schemeClr val="lt1"/>
                </a:solidFill>
              </a:rPr>
              <a:t>probabilidade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Podemos fazer um gráfico: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28" y="2527200"/>
            <a:ext cx="5109883" cy="2834769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347851" y="2853003"/>
            <a:ext cx="22770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Gráficos deste tipo possuem um nome específico denominados de </a:t>
            </a:r>
            <a:r>
              <a:rPr lang="pt-BR" b="1" dirty="0" smtClean="0"/>
              <a:t>Histogramas de frequência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 smtClean="0"/>
              <a:t>Histogramas</a:t>
            </a:r>
            <a:r>
              <a:rPr lang="pt-BR" dirty="0" smtClean="0"/>
              <a:t> são gráficos de distribuições de probabilidades.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187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Juntar</a:t>
            </a:r>
            <a:r>
              <a:rPr lang="en-US" sz="3000" b="1" dirty="0" smtClean="0">
                <a:solidFill>
                  <a:schemeClr val="lt1"/>
                </a:solidFill>
              </a:rPr>
              <a:t> </a:t>
            </a:r>
            <a:r>
              <a:rPr lang="en-US" sz="3000" b="1" dirty="0" err="1" smtClean="0">
                <a:solidFill>
                  <a:schemeClr val="lt1"/>
                </a:solidFill>
              </a:rPr>
              <a:t>combinação</a:t>
            </a:r>
            <a:r>
              <a:rPr lang="en-US" sz="3000" b="1" dirty="0" smtClean="0">
                <a:solidFill>
                  <a:schemeClr val="lt1"/>
                </a:solidFill>
              </a:rPr>
              <a:t> e </a:t>
            </a:r>
            <a:r>
              <a:rPr lang="en-US" sz="3000" b="1" dirty="0" err="1" smtClean="0">
                <a:solidFill>
                  <a:schemeClr val="lt1"/>
                </a:solidFill>
              </a:rPr>
              <a:t>probabilidade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 smtClean="0">
                <a:solidFill>
                  <a:schemeClr val="dk1"/>
                </a:solidFill>
              </a:rPr>
              <a:t>Gráfico no Python: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 smtClean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33374" y="5388263"/>
            <a:ext cx="13267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Função para gerar gráfico de barras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677" y="3747362"/>
            <a:ext cx="3562350" cy="244792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16" y="2014201"/>
            <a:ext cx="5926470" cy="1630774"/>
          </a:xfrm>
          <a:prstGeom prst="rect">
            <a:avLst/>
          </a:prstGeom>
        </p:spPr>
      </p:pic>
      <p:cxnSp>
        <p:nvCxnSpPr>
          <p:cNvPr id="10" name="Conector de Seta Reta 9"/>
          <p:cNvCxnSpPr/>
          <p:nvPr/>
        </p:nvCxnSpPr>
        <p:spPr>
          <a:xfrm flipH="1">
            <a:off x="6087503" y="2422276"/>
            <a:ext cx="888713" cy="200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110686" y="2153335"/>
            <a:ext cx="138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Geramos os dados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117" y="4290149"/>
            <a:ext cx="2171700" cy="781050"/>
          </a:xfrm>
          <a:prstGeom prst="rect">
            <a:avLst/>
          </a:prstGeom>
        </p:spPr>
      </p:pic>
      <p:cxnSp>
        <p:nvCxnSpPr>
          <p:cNvPr id="5" name="Conector de Seta Reta 4"/>
          <p:cNvCxnSpPr>
            <a:endCxn id="9" idx="2"/>
          </p:cNvCxnSpPr>
          <p:nvPr/>
        </p:nvCxnSpPr>
        <p:spPr>
          <a:xfrm flipV="1">
            <a:off x="781071" y="5071199"/>
            <a:ext cx="1489896" cy="31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18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Resolução</a:t>
            </a:r>
            <a:r>
              <a:rPr lang="en-US" sz="3000" b="1" dirty="0" smtClean="0">
                <a:solidFill>
                  <a:schemeClr val="lt1"/>
                </a:solidFill>
              </a:rPr>
              <a:t> 2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Se eu tenho uma base de 5 pessoas para serem cobradas. Qual a chance de cobrar </a:t>
            </a:r>
            <a:r>
              <a:rPr lang="pt-BR" altLang="pt-BR" sz="2800" dirty="0" smtClean="0">
                <a:latin typeface="Arial" panose="020B0604020202020204" pitchFamily="34" charset="0"/>
              </a:rPr>
              <a:t>entre 2 a 4 pessoas </a:t>
            </a:r>
            <a:r>
              <a:rPr lang="pt-BR" altLang="pt-BR" sz="2800" dirty="0">
                <a:latin typeface="Arial" panose="020B0604020202020204" pitchFamily="34" charset="0"/>
              </a:rPr>
              <a:t>com </a:t>
            </a:r>
            <a:r>
              <a:rPr lang="pt-BR" altLang="pt-BR" sz="2800" dirty="0" smtClean="0">
                <a:latin typeface="Arial" panose="020B0604020202020204" pitchFamily="34" charset="0"/>
              </a:rPr>
              <a:t>sucesso?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08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Resolução</a:t>
            </a:r>
            <a:r>
              <a:rPr lang="en-US" sz="3000" b="1" dirty="0" smtClean="0">
                <a:solidFill>
                  <a:schemeClr val="lt1"/>
                </a:solidFill>
              </a:rPr>
              <a:t> 2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 smtClean="0">
                <a:latin typeface="Arial" panose="020B0604020202020204" pitchFamily="34" charset="0"/>
              </a:rPr>
              <a:t>Olhando a tabela vemos o seguinte:</a:t>
            </a: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/>
              <p:cNvGraphicFramePr>
                <a:graphicFrameLocks noGrp="1"/>
              </p:cNvGraphicFramePr>
              <p:nvPr/>
            </p:nvGraphicFramePr>
            <p:xfrm>
              <a:off x="579063" y="2456982"/>
              <a:ext cx="5932171" cy="1778255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1806144">
                      <a:extLst>
                        <a:ext uri="{9D8B030D-6E8A-4147-A177-3AD203B41FA5}">
                          <a16:colId xmlns:a16="http://schemas.microsoft.com/office/drawing/2014/main" val="1189738582"/>
                        </a:ext>
                      </a:extLst>
                    </a:gridCol>
                    <a:gridCol w="1786240">
                      <a:extLst>
                        <a:ext uri="{9D8B030D-6E8A-4147-A177-3AD203B41FA5}">
                          <a16:colId xmlns:a16="http://schemas.microsoft.com/office/drawing/2014/main" val="4089645491"/>
                        </a:ext>
                      </a:extLst>
                    </a:gridCol>
                    <a:gridCol w="2339787">
                      <a:extLst>
                        <a:ext uri="{9D8B030D-6E8A-4147-A177-3AD203B41FA5}">
                          <a16:colId xmlns:a16="http://schemas.microsoft.com/office/drawing/2014/main" val="25614071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Número de sucessos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Combinações possíveis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Binomial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34407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=0,00032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65732384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sSup>
                                      <m:sSupPr>
                                        <m:ctrlPr>
                                          <a:rPr lang="pt-BR" sz="14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=0,0064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1238754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2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pt-BR" sz="14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=0,0512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7922394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3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  <m:r>
                                          <a:rPr lang="pt-BR" sz="14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=0,2048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0021617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4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pt-BR" sz="14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=0,4096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74184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5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0,8</m:t>
                                    </m:r>
                                  </m:e>
                                  <m: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=0,3277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9546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/>
              <p:cNvGraphicFramePr>
                <a:graphicFrameLocks noGrp="1"/>
              </p:cNvGraphicFramePr>
              <p:nvPr/>
            </p:nvGraphicFramePr>
            <p:xfrm>
              <a:off x="579063" y="2456982"/>
              <a:ext cx="5932171" cy="1778255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1806144">
                      <a:extLst>
                        <a:ext uri="{9D8B030D-6E8A-4147-A177-3AD203B41FA5}">
                          <a16:colId xmlns:a16="http://schemas.microsoft.com/office/drawing/2014/main" val="1189738582"/>
                        </a:ext>
                      </a:extLst>
                    </a:gridCol>
                    <a:gridCol w="1786240">
                      <a:extLst>
                        <a:ext uri="{9D8B030D-6E8A-4147-A177-3AD203B41FA5}">
                          <a16:colId xmlns:a16="http://schemas.microsoft.com/office/drawing/2014/main" val="4089645491"/>
                        </a:ext>
                      </a:extLst>
                    </a:gridCol>
                    <a:gridCol w="2339787">
                      <a:extLst>
                        <a:ext uri="{9D8B030D-6E8A-4147-A177-3AD203B41FA5}">
                          <a16:colId xmlns:a16="http://schemas.microsoft.com/office/drawing/2014/main" val="25614071"/>
                        </a:ext>
                      </a:extLst>
                    </a:gridCol>
                  </a:tblGrid>
                  <a:tr h="4362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Número de sucessos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Combinações possíveis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Binomial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344071"/>
                      </a:ext>
                    </a:extLst>
                  </a:tr>
                  <a:tr h="22523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53506" t="-216216" r="-519" b="-540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2384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53506" t="-325000" r="-519" b="-45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8754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2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53506" t="-413514" r="-519" b="-3432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92239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3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53506" t="-527778" r="-519" b="-25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021617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4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53506" t="-610811" r="-519" b="-145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4184056"/>
                      </a:ext>
                    </a:extLst>
                  </a:tr>
                  <a:tr h="22523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5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53506" t="-710811" r="-519" b="-45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95469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have Direita 2"/>
          <p:cNvSpPr/>
          <p:nvPr/>
        </p:nvSpPr>
        <p:spPr>
          <a:xfrm>
            <a:off x="6451531" y="3316941"/>
            <a:ext cx="385482" cy="7351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837013" y="3528827"/>
            <a:ext cx="209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Esta área será 0,6656</a:t>
            </a:r>
          </a:p>
          <a:p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3035977" y="4538049"/>
            <a:ext cx="2091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Deste modo, a chance de obter sucesso entre 2 a 4 cobranças é de 66,56%.</a:t>
            </a:r>
          </a:p>
        </p:txBody>
      </p:sp>
    </p:spTree>
    <p:extLst>
      <p:ext uri="{BB962C8B-B14F-4D97-AF65-F5344CB8AC3E}">
        <p14:creationId xmlns:p14="http://schemas.microsoft.com/office/powerpoint/2010/main" val="196883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 smtClean="0">
                <a:solidFill>
                  <a:schemeClr val="lt1"/>
                </a:solidFill>
              </a:rPr>
              <a:t>Resolução</a:t>
            </a:r>
            <a:r>
              <a:rPr lang="en-US" sz="3000" b="1" dirty="0" smtClean="0">
                <a:solidFill>
                  <a:schemeClr val="lt1"/>
                </a:solidFill>
              </a:rPr>
              <a:t> 2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smtClean="0">
                <a:latin typeface="Arial" panose="020B0604020202020204" pitchFamily="34" charset="0"/>
              </a:rPr>
              <a:t>No Python:</a:t>
            </a: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 smtClean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 smtClean="0">
              <a:latin typeface="Arial" panose="020B0604020202020204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035977" y="4538049"/>
            <a:ext cx="2091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Deste modo, a chance de obter sucesso entre 2 a 4 cobranças é de 66,56%.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459" y="4019793"/>
            <a:ext cx="714375" cy="228600"/>
          </a:xfrm>
          <a:prstGeom prst="rect">
            <a:avLst/>
          </a:prstGeom>
        </p:spPr>
      </p:pic>
      <p:cxnSp>
        <p:nvCxnSpPr>
          <p:cNvPr id="9" name="Conector de Seta Reta 8"/>
          <p:cNvCxnSpPr>
            <a:endCxn id="4" idx="0"/>
          </p:cNvCxnSpPr>
          <p:nvPr/>
        </p:nvCxnSpPr>
        <p:spPr>
          <a:xfrm>
            <a:off x="3227294" y="3518647"/>
            <a:ext cx="672353" cy="501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6769713" y="4410764"/>
            <a:ext cx="24025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Desafio 1: como </a:t>
            </a:r>
            <a:r>
              <a:rPr lang="pt-BR" dirty="0" err="1" smtClean="0"/>
              <a:t>vc</a:t>
            </a:r>
            <a:r>
              <a:rPr lang="pt-BR" dirty="0" smtClean="0"/>
              <a:t> faria para obter o mesmo resultado usando um loop</a:t>
            </a:r>
            <a:r>
              <a:rPr lang="pt-BR" dirty="0" smtClean="0"/>
              <a:t>?</a:t>
            </a:r>
            <a:endParaRPr lang="pt-BR" dirty="0" smtClean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762" y="2379115"/>
            <a:ext cx="3979449" cy="105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5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Shape 4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Shape 455"/>
          <p:cNvPicPr preferRelativeResize="0"/>
          <p:nvPr/>
        </p:nvPicPr>
        <p:blipFill rotWithShape="1">
          <a:blip r:embed="rId4">
            <a:alphaModFix/>
          </a:blip>
          <a:srcRect l="14" r="14"/>
          <a:stretch/>
        </p:blipFill>
        <p:spPr>
          <a:xfrm>
            <a:off x="215412" y="642938"/>
            <a:ext cx="8440615" cy="5716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1958</TotalTime>
  <Words>586</Words>
  <Application>Microsoft Office PowerPoint</Application>
  <PresentationFormat>Apresentação na tela (4:3)</PresentationFormat>
  <Paragraphs>249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Montserrat</vt:lpstr>
      <vt:lpstr>Cambria Math</vt:lpstr>
      <vt:lpstr>Office Theme</vt:lpstr>
      <vt:lpstr>5_Personalizar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Neto Alcides</cp:lastModifiedBy>
  <cp:revision>250</cp:revision>
  <dcterms:modified xsi:type="dcterms:W3CDTF">2021-04-11T00:24:47Z</dcterms:modified>
</cp:coreProperties>
</file>