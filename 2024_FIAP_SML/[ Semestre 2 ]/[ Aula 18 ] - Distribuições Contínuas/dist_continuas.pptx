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3" r:id="rId1"/>
    <p:sldMasterId id="2147483664" r:id="rId2"/>
  </p:sldMasterIdLst>
  <p:notesMasterIdLst>
    <p:notesMasterId r:id="rId34"/>
  </p:notesMasterIdLst>
  <p:sldIdLst>
    <p:sldId id="256" r:id="rId3"/>
    <p:sldId id="257" r:id="rId4"/>
    <p:sldId id="285" r:id="rId5"/>
    <p:sldId id="414" r:id="rId6"/>
    <p:sldId id="300" r:id="rId7"/>
    <p:sldId id="348" r:id="rId8"/>
    <p:sldId id="415" r:id="rId9"/>
    <p:sldId id="416" r:id="rId10"/>
    <p:sldId id="379" r:id="rId11"/>
    <p:sldId id="388" r:id="rId12"/>
    <p:sldId id="417" r:id="rId13"/>
    <p:sldId id="418" r:id="rId14"/>
    <p:sldId id="389" r:id="rId15"/>
    <p:sldId id="419" r:id="rId16"/>
    <p:sldId id="421" r:id="rId17"/>
    <p:sldId id="420" r:id="rId18"/>
    <p:sldId id="422" r:id="rId19"/>
    <p:sldId id="423" r:id="rId20"/>
    <p:sldId id="424" r:id="rId21"/>
    <p:sldId id="425" r:id="rId22"/>
    <p:sldId id="426" r:id="rId23"/>
    <p:sldId id="427" r:id="rId24"/>
    <p:sldId id="428" r:id="rId25"/>
    <p:sldId id="429" r:id="rId26"/>
    <p:sldId id="430" r:id="rId27"/>
    <p:sldId id="431" r:id="rId28"/>
    <p:sldId id="432" r:id="rId29"/>
    <p:sldId id="380" r:id="rId30"/>
    <p:sldId id="433" r:id="rId31"/>
    <p:sldId id="343" r:id="rId32"/>
    <p:sldId id="307" r:id="rId33"/>
  </p:sldIdLst>
  <p:sldSz cx="9144000" cy="6858000" type="screen4x3"/>
  <p:notesSz cx="6858000" cy="9144000"/>
  <p:embeddedFontLst>
    <p:embeddedFont>
      <p:font typeface="Calibri" panose="020F0502020204030204" pitchFamily="34" charset="0"/>
      <p:regular r:id="rId35"/>
      <p:bold r:id="rId36"/>
      <p:italic r:id="rId37"/>
      <p:boldItalic r:id="rId38"/>
    </p:embeddedFont>
    <p:embeddedFont>
      <p:font typeface="Cambria Math" panose="02040503050406030204" pitchFamily="18" charset="0"/>
      <p:regular r:id="rId39"/>
    </p:embeddedFont>
    <p:embeddedFont>
      <p:font typeface="Montserrat" panose="00000500000000000000" pitchFamily="2" charset="0"/>
      <p:regular r:id="rId40"/>
      <p:bold r:id="rId41"/>
      <p:italic r:id="rId42"/>
      <p:boldItalic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388E95B-7D3C-4000-9396-C2E5DE68CFB0}">
  <a:tblStyle styleId="{B388E95B-7D3C-4000-9396-C2E5DE68CFB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63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63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63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63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bottom>
          <a:insideH>
            <a:ln w="63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insideH>
          <a:insideV>
            <a:ln w="63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C89EF96-8CEA-46FF-86C4-4CE0E7609802}" styleName="Estilo Claro 3 - Ênfase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92" autoAdjust="0"/>
    <p:restoredTop sz="92875" autoAdjust="0"/>
  </p:normalViewPr>
  <p:slideViewPr>
    <p:cSldViewPr snapToGrid="0">
      <p:cViewPr varScale="1">
        <p:scale>
          <a:sx n="64" d="100"/>
          <a:sy n="64" d="100"/>
        </p:scale>
        <p:origin x="154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5.fntdata"/><Relationship Id="rId21" Type="http://schemas.openxmlformats.org/officeDocument/2006/relationships/slide" Target="slides/slide19.xml"/><Relationship Id="rId34" Type="http://schemas.openxmlformats.org/officeDocument/2006/relationships/notesMaster" Target="notesMasters/notesMaster1.xml"/><Relationship Id="rId42" Type="http://schemas.openxmlformats.org/officeDocument/2006/relationships/font" Target="fonts/font8.fntdata"/><Relationship Id="rId47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45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font" Target="fonts/font2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font" Target="fonts/font1.fntdata"/><Relationship Id="rId43" Type="http://schemas.openxmlformats.org/officeDocument/2006/relationships/font" Target="fonts/font9.fntdata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font" Target="fonts/font4.fntdata"/><Relationship Id="rId46" Type="http://schemas.openxmlformats.org/officeDocument/2006/relationships/theme" Target="theme/theme1.xml"/><Relationship Id="rId20" Type="http://schemas.openxmlformats.org/officeDocument/2006/relationships/slide" Target="slides/slide18.xml"/><Relationship Id="rId41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Shape 4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Shape 5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hape 10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4" name="Shape 10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 10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9" name="Shape 109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Shape 30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Shape 30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Shape 41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28859667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tabLst/>
              <a:defRPr/>
            </a:pPr>
            <a:endParaRPr lang="pt-BR" sz="11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Shape 41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Shape 41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40202984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Shape 41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17098664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tabLst/>
              <a:defRPr/>
            </a:pPr>
            <a:endParaRPr lang="pt-BR" sz="11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Shape 41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39264916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lang="pt-BR" sz="1100" b="0" i="0" u="none" strike="noStrike" cap="none" baseline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Shape 41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22905753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lang="pt-BR" sz="1100" b="0" i="0" u="none" strike="noStrike" cap="none" baseline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Shape 41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25493095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lang="pt-BR" sz="1100" b="0" i="0" u="none" strike="noStrike" cap="none" baseline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Shape 41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20050777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lang="pt-BR" sz="1100" b="0" i="0" u="none" strike="noStrike" cap="none" baseline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Shape 41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37044266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lang="pt-BR" sz="1100" b="0" i="0" u="none" strike="noStrike" cap="none" baseline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Shape 41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40922185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lang="pt-BR" sz="1100" b="0" i="0" u="none" strike="noStrike" cap="none" baseline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Shape 41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260761400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lang="pt-BR" sz="1100" b="0" i="0" u="none" strike="noStrike" cap="none" baseline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Shape 41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7429788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lang="pt-BR" sz="1100" b="0" i="0" u="none" strike="noStrike" cap="none" baseline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Shape 41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233273202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lang="pt-BR" sz="1100" b="0" i="0" u="none" strike="noStrike" cap="none" baseline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Shape 41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55842329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lang="pt-BR" sz="1100" b="0" i="0" u="none" strike="noStrike" cap="none" baseline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Shape 41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357494256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lang="pt-BR" sz="1100" b="0" i="0" u="none" strike="noStrike" cap="none" baseline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Shape 41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389390815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lang="pt-BR" sz="1100" b="0" i="0" u="none" strike="noStrike" cap="none" baseline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Shape 41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106654197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lang="pt-BR" sz="1100" b="0" i="0" u="none" strike="noStrike" cap="none" baseline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Shape 41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391301711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lang="pt-BR" sz="1100" b="0" i="0" u="none" strike="noStrike" cap="none" baseline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Shape 41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138166444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lang="pt-BR" sz="1100" b="0" i="0" u="none" strike="noStrike" cap="none" baseline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Shape 41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128733712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lang="pt-BR" sz="1100" b="0" i="0" u="none" strike="noStrike" cap="none" baseline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Shape 41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371482407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lang="pt-BR" sz="1100" b="0" i="0" u="none" strike="noStrike" cap="none" baseline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Shape 41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179185840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Shape 41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219233173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Shape 41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204793434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Shape 41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306623097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Shape 41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290534875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Shape 41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10080782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Shape 45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2" name="Shape 452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las">
  <p:cSld name="Telas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6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transition spd="med">
    <p:fade thruBlk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Quads Escuro MBA">
  <p:cSld name="Quads Escuro MBA">
    <p:bg>
      <p:bgPr>
        <a:blipFill rotWithShape="1"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19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" name="Shape 20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" name="Shape 21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 txBox="1"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0" name="Shape 30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ctr" rtl="0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1" name="Shape 31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35"/>
          <p:cNvSpPr txBox="1"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6" name="Shape 36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L="457200" marR="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Shape 37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4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2" name="Shape 42"/>
          <p:cNvSpPr txBox="1">
            <a:spLocks noGrp="1"/>
          </p:cNvSpPr>
          <p:nvPr>
            <p:ph type="body" idx="1"/>
          </p:nvPr>
        </p:nvSpPr>
        <p:spPr>
          <a:xfrm>
            <a:off x="457200" y="1600202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Shape 43"/>
          <p:cNvSpPr txBox="1">
            <a:spLocks noGrp="1"/>
          </p:cNvSpPr>
          <p:nvPr>
            <p:ph type="body" idx="2"/>
          </p:nvPr>
        </p:nvSpPr>
        <p:spPr>
          <a:xfrm>
            <a:off x="4648200" y="1600202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Shape 44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Shape 45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6" name="Shape 46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4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9" name="Shape 49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0" name="Shape 50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" name="Shape 51"/>
          <p:cNvSpPr txBox="1">
            <a:spLocks noGrp="1"/>
          </p:cNvSpPr>
          <p:nvPr>
            <p:ph type="body" idx="3"/>
          </p:nvPr>
        </p:nvSpPr>
        <p:spPr>
          <a:xfrm>
            <a:off x="4645026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Shape 52"/>
          <p:cNvSpPr txBox="1">
            <a:spLocks noGrp="1"/>
          </p:cNvSpPr>
          <p:nvPr>
            <p:ph type="body" idx="4"/>
          </p:nvPr>
        </p:nvSpPr>
        <p:spPr>
          <a:xfrm>
            <a:off x="4645026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Shape 53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Shape 54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Shape 55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8" name="Shape 58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9" name="Shape 59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0" name="Shape 60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62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3" name="Shape 63"/>
          <p:cNvSpPr txBox="1">
            <a:spLocks noGrp="1"/>
          </p:cNvSpPr>
          <p:nvPr>
            <p:ph type="body" idx="1"/>
          </p:nvPr>
        </p:nvSpPr>
        <p:spPr>
          <a:xfrm>
            <a:off x="3575051" y="273052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Shape 64"/>
          <p:cNvSpPr txBox="1">
            <a:spLocks noGrp="1"/>
          </p:cNvSpPr>
          <p:nvPr>
            <p:ph type="body" idx="2"/>
          </p:nvPr>
        </p:nvSpPr>
        <p:spPr>
          <a:xfrm>
            <a:off x="457200" y="1435102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5" name="Shape 65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6" name="Shape 66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7" name="Shape 67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0" name="Shape 7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Shape 71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2" name="Shape 72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3" name="Shape 73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4" name="Shape 74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Shape 7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7" name="Shape 77"/>
          <p:cNvSpPr txBox="1">
            <a:spLocks noGrp="1"/>
          </p:cNvSpPr>
          <p:nvPr>
            <p:ph type="body" idx="1"/>
          </p:nvPr>
        </p:nvSpPr>
        <p:spPr>
          <a:xfrm rot="5400000">
            <a:off x="2309018" y="-251617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8" name="Shape 78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9" name="Shape 79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0" name="Shape 80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hape 82"/>
          <p:cNvSpPr txBox="1">
            <a:spLocks noGrp="1"/>
          </p:cNvSpPr>
          <p:nvPr>
            <p:ph type="title"/>
          </p:nvPr>
        </p:nvSpPr>
        <p:spPr>
          <a:xfrm rot="5400000">
            <a:off x="4732337" y="2171703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3" name="Shape 83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3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4" name="Shape 84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5" name="Shape 85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6" name="Shape 86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udo_D">
  <p:cSld name="Conteudo_D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Shape 8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Shape 89"/>
          <p:cNvSpPr txBox="1">
            <a:spLocks noGrp="1"/>
          </p:cNvSpPr>
          <p:nvPr>
            <p:ph type="body" idx="1"/>
          </p:nvPr>
        </p:nvSpPr>
        <p:spPr>
          <a:xfrm>
            <a:off x="251521" y="908720"/>
            <a:ext cx="7632848" cy="5328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0" name="Shape 90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sp>
        <p:nvSpPr>
          <p:cNvPr id="91" name="Shape 91"/>
          <p:cNvSpPr txBox="1">
            <a:spLocks noGrp="1"/>
          </p:cNvSpPr>
          <p:nvPr>
            <p:ph type="body" idx="2"/>
          </p:nvPr>
        </p:nvSpPr>
        <p:spPr>
          <a:xfrm>
            <a:off x="251521" y="44626"/>
            <a:ext cx="7704534" cy="575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>
  <p:cSld name="Slide de título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/>
          <p:nvPr/>
        </p:nvSpPr>
        <p:spPr>
          <a:xfrm>
            <a:off x="0" y="4904650"/>
            <a:ext cx="9144300" cy="141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Shape 11"/>
          <p:cNvSpPr txBox="1"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Shape 12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Shape 13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Shape 14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Shape 93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/>
            </a:lvl2pPr>
            <a:lvl3pPr marL="0" marR="0" lvl="2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/>
            </a:lvl3pPr>
            <a:lvl4pPr marL="0" marR="0" lvl="3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/>
            </a:lvl4pPr>
            <a:lvl5pPr marL="0" marR="0" lvl="4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/>
            </a:lvl5pPr>
            <a:lvl6pPr marL="0" marR="0" lvl="5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/>
            </a:lvl6pPr>
            <a:lvl7pPr marL="0" marR="0" lvl="6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/>
            </a:lvl7pPr>
            <a:lvl8pPr marL="0" marR="0" lvl="7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/>
            </a:lvl8pPr>
            <a:lvl9pPr marL="0" marR="0" lvl="8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94" name="Shape 9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3175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5" name="Shape 9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6" name="Shape 9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7" name="Shape 9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pic>
        <p:nvPicPr>
          <p:cNvPr id="98" name="Shape 9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Shape 99"/>
          <p:cNvSpPr/>
          <p:nvPr/>
        </p:nvSpPr>
        <p:spPr>
          <a:xfrm>
            <a:off x="0" y="4904650"/>
            <a:ext cx="9144300" cy="141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gif"/><Relationship Id="rId3" Type="http://schemas.openxmlformats.org/officeDocument/2006/relationships/image" Target="../media/image13.gif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gi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pt.khanacademy.org/math/ap-statistics/random-variables-ap/continuous-random-variables/v/probabilities-from-density-curves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27.png"/><Relationship Id="rId4" Type="http://schemas.openxmlformats.org/officeDocument/2006/relationships/hyperlink" Target="https://pt.khanacademy.org/math/statistics-probability/modeling-distributions-of-data/more-on-normal-distributions/v/introduction-to-the-normal-distribution" TargetMode="Externa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Shape 106" descr="FIAP-NOVO-2014-MAGENT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83125" y="2901164"/>
            <a:ext cx="3604019" cy="1051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54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Shape 111" descr="03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2120" y="972084"/>
            <a:ext cx="8391764" cy="475598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Shape 112"/>
          <p:cNvSpPr txBox="1"/>
          <p:nvPr/>
        </p:nvSpPr>
        <p:spPr>
          <a:xfrm>
            <a:off x="2095881" y="2636889"/>
            <a:ext cx="4724242" cy="1217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AULA 7</a:t>
            </a:r>
            <a:endParaRPr dirty="0"/>
          </a:p>
        </p:txBody>
      </p:sp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Shape 306"/>
          <p:cNvPicPr preferRelativeResize="0"/>
          <p:nvPr/>
        </p:nvPicPr>
        <p:blipFill rotWithShape="1">
          <a:blip r:embed="rId3">
            <a:alphaModFix/>
          </a:blip>
          <a:srcRect l="20898" r="22582"/>
          <a:stretch/>
        </p:blipFill>
        <p:spPr>
          <a:xfrm>
            <a:off x="0" y="3376031"/>
            <a:ext cx="9155651" cy="2789855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Shape 307"/>
          <p:cNvSpPr txBox="1"/>
          <p:nvPr/>
        </p:nvSpPr>
        <p:spPr>
          <a:xfrm>
            <a:off x="578249" y="4047077"/>
            <a:ext cx="7999382" cy="397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sz="2200" dirty="0">
                <a:solidFill>
                  <a:srgbClr val="FFFFFF"/>
                </a:solidFill>
              </a:rPr>
              <a:t>Data Analysis Fundamentals</a:t>
            </a:r>
          </a:p>
        </p:txBody>
      </p:sp>
      <p:sp>
        <p:nvSpPr>
          <p:cNvPr id="308" name="Shape 308"/>
          <p:cNvSpPr txBox="1"/>
          <p:nvPr/>
        </p:nvSpPr>
        <p:spPr>
          <a:xfrm>
            <a:off x="578249" y="5061038"/>
            <a:ext cx="7084983" cy="341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Alcides C. Araújo</a:t>
            </a:r>
            <a:endParaRPr sz="1800" b="1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9" name="Shape 309"/>
          <p:cNvSpPr txBox="1"/>
          <p:nvPr/>
        </p:nvSpPr>
        <p:spPr>
          <a:xfrm>
            <a:off x="919775" y="1373555"/>
            <a:ext cx="7085100" cy="12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pt-BR" sz="1800" dirty="0">
                <a:solidFill>
                  <a:srgbClr val="FFFF00"/>
                </a:solidFill>
              </a:rPr>
              <a:t>"Capacitar o aluno no entendimento de conceitos básicos de estatística e análise de dados.“</a:t>
            </a:r>
          </a:p>
          <a:p>
            <a:endParaRPr lang="pt-BR" sz="1800" dirty="0">
              <a:solidFill>
                <a:srgbClr val="FFFF00"/>
              </a:solidFill>
            </a:endParaRPr>
          </a:p>
          <a:p>
            <a:r>
              <a:rPr lang="pt-BR" sz="1800" dirty="0">
                <a:solidFill>
                  <a:srgbClr val="FFFF00"/>
                </a:solidFill>
              </a:rPr>
              <a:t>"Preparar os alunos para entender e desempenhar conceitos futuros relacionados a Análise Exploratória de Dados e </a:t>
            </a:r>
            <a:r>
              <a:rPr lang="pt-BR" sz="1800" dirty="0" err="1">
                <a:solidFill>
                  <a:srgbClr val="FFFF00"/>
                </a:solidFill>
              </a:rPr>
              <a:t>Machine</a:t>
            </a:r>
            <a:r>
              <a:rPr lang="pt-BR" sz="1800" dirty="0">
                <a:solidFill>
                  <a:srgbClr val="FFFF00"/>
                </a:solidFill>
              </a:rPr>
              <a:t> Learning"</a:t>
            </a:r>
            <a:endParaRPr sz="18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/>
          <p:nvPr/>
        </p:nvSpPr>
        <p:spPr>
          <a:xfrm>
            <a:off x="457200" y="350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Tx/>
              <a:buFont typeface="Arial"/>
              <a:buNone/>
              <a:tabLst/>
              <a:defRPr/>
            </a:pPr>
            <a:r>
              <a:rPr kumimoji="0" lang="en-US" sz="3000" b="1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Problema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13" name="Shape 413"/>
          <p:cNvSpPr/>
          <p:nvPr/>
        </p:nvSpPr>
        <p:spPr>
          <a:xfrm>
            <a:off x="395287" y="1484312"/>
            <a:ext cx="4553231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064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  <a:tabLst/>
              <a:defRPr/>
            </a:pPr>
            <a:endParaRPr lang="pt-BR" altLang="pt-BR" sz="1600" dirty="0">
              <a:latin typeface="Arial" panose="020B0604020202020204" pitchFamily="34" charset="0"/>
            </a:endParaRPr>
          </a:p>
          <a:p>
            <a:pPr marL="457200" marR="0" lvl="0" indent="-4064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  <a:tabLst/>
              <a:defRPr/>
            </a:pPr>
            <a:endParaRPr lang="pt-BR" altLang="pt-BR" sz="1600" dirty="0">
              <a:latin typeface="Arial" panose="020B0604020202020204" pitchFamily="34" charset="0"/>
            </a:endParaRPr>
          </a:p>
          <a:p>
            <a:pPr marL="457200" marR="0" lvl="0" indent="-4064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  <a:tabLst/>
              <a:defRPr/>
            </a:pPr>
            <a:r>
              <a:rPr lang="pt-BR" altLang="pt-BR" sz="1600" dirty="0">
                <a:latin typeface="Arial" panose="020B0604020202020204" pitchFamily="34" charset="0"/>
              </a:rPr>
              <a:t>Projeção de vendas é uma das atividades cruciais no mundo dos negócios</a:t>
            </a:r>
            <a:r>
              <a:rPr kumimoji="0" lang="pt-BR" altLang="pt-B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/>
                <a:sym typeface="Arial"/>
              </a:rPr>
              <a:t>.</a:t>
            </a:r>
          </a:p>
          <a:p>
            <a:pPr marL="457200" marR="0" lvl="0" indent="-4064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  <a:tabLst/>
              <a:defRPr/>
            </a:pPr>
            <a:r>
              <a:rPr kumimoji="0" lang="pt-BR" altLang="pt-B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/>
                <a:sym typeface="Arial"/>
              </a:rPr>
              <a:t>Por meio das projeções,</a:t>
            </a:r>
            <a:r>
              <a:rPr kumimoji="0" lang="pt-BR" altLang="pt-BR" sz="1600" b="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/>
                <a:sym typeface="Arial"/>
              </a:rPr>
              <a:t> indústria e varejistas podem definir ofertas, promoções e definição de preços</a:t>
            </a:r>
            <a:r>
              <a:rPr kumimoji="0" lang="pt-BR" altLang="pt-B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/>
                <a:sym typeface="Arial"/>
              </a:rPr>
              <a:t>.</a:t>
            </a:r>
          </a:p>
          <a:p>
            <a:pPr marL="457200" marR="0" lvl="0" indent="-4064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  <a:tabLst/>
              <a:defRPr/>
            </a:pPr>
            <a:r>
              <a:rPr kumimoji="0" lang="pt-BR" altLang="pt-B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/>
                <a:sym typeface="Arial"/>
              </a:rPr>
              <a:t>Como as distribuições</a:t>
            </a:r>
            <a:r>
              <a:rPr kumimoji="0" lang="pt-BR" altLang="pt-BR" sz="1600" b="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/>
                <a:sym typeface="Arial"/>
              </a:rPr>
              <a:t> de probabilidade podem auxiliar nesta atividade?</a:t>
            </a:r>
            <a:endParaRPr kumimoji="0" lang="pt-BR" altLang="pt-BR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/>
              <a:sym typeface="Arial"/>
            </a:endParaRPr>
          </a:p>
          <a:p>
            <a:pPr marL="457200" marR="0" lvl="0" indent="-4064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  <a:tabLst/>
              <a:defRPr/>
            </a:pPr>
            <a:endParaRPr kumimoji="0" lang="pt-BR" altLang="pt-BR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/>
              <a:sym typeface="Arial"/>
            </a:endParaRPr>
          </a:p>
          <a:p>
            <a:pPr marL="457200" marR="0" lvl="0" indent="-4064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  <a:tabLst/>
              <a:defRPr/>
            </a:pPr>
            <a:endParaRPr kumimoji="0" lang="pt-BR" altLang="pt-BR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/>
              <a:sym typeface="Arial"/>
            </a:endParaRPr>
          </a:p>
          <a:p>
            <a:pPr marL="457200" marR="0" lvl="0" indent="-4064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  <a:tabLst/>
              <a:defRPr/>
            </a:pPr>
            <a:endParaRPr kumimoji="0" lang="pt-BR" altLang="pt-BR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/>
              <a:sym typeface="Arial"/>
            </a:endParaRPr>
          </a:p>
          <a:p>
            <a:pPr marL="457200" marR="0" lvl="0" indent="-4064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  <a:tabLst/>
              <a:defRPr/>
            </a:pPr>
            <a:endParaRPr kumimoji="0" lang="pt-BR" altLang="pt-BR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/>
              <a:sym typeface="Arial"/>
            </a:endParaRPr>
          </a:p>
          <a:p>
            <a:pPr marL="457200" marR="0" lvl="0" indent="-4064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  <a:tabLst/>
              <a:defRPr/>
            </a:pPr>
            <a:endParaRPr kumimoji="0" lang="pt-BR" altLang="pt-BR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/>
              <a:sym typeface="Arial"/>
            </a:endParaRPr>
          </a:p>
          <a:p>
            <a:pPr marL="457200" marR="0" lvl="0" indent="-4064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  <a:tabLst/>
              <a:defRPr/>
            </a:pPr>
            <a:endParaRPr kumimoji="0" lang="pt-BR" altLang="pt-BR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/>
              <a:sym typeface="Arial"/>
            </a:endParaRPr>
          </a:p>
          <a:p>
            <a:pPr marL="457200" marR="0" lvl="0" indent="-4064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  <a:tabLst/>
              <a:defRPr/>
            </a:pPr>
            <a:endParaRPr kumimoji="0" lang="pt-BR" altLang="pt-BR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/>
              <a:sym typeface="Arial"/>
            </a:endParaRPr>
          </a:p>
          <a:p>
            <a:pPr marL="457200" marR="0" lvl="0" indent="-4064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  <a:tabLst/>
              <a:defRPr/>
            </a:pPr>
            <a:endParaRPr kumimoji="0" lang="pt-BR" altLang="pt-BR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/>
              <a:sym typeface="Arial"/>
            </a:endParaRPr>
          </a:p>
          <a:p>
            <a:pPr marL="508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tabLst/>
              <a:defRPr/>
            </a:pPr>
            <a:endParaRPr kumimoji="0" lang="pt-BR" altLang="pt-B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/>
              <a:sym typeface="Arial"/>
            </a:endParaRPr>
          </a:p>
          <a:p>
            <a:pPr marL="457200" marR="0" lvl="0" indent="-4064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  <a:tabLst/>
              <a:defRPr/>
            </a:pPr>
            <a:endParaRPr kumimoji="0" lang="pt-BR" altLang="pt-BR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/>
              <a:sym typeface="Arial"/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1129553" y="4732994"/>
            <a:ext cx="7467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Qual a </a:t>
            </a:r>
            <a:r>
              <a:rPr lang="pt-BR" sz="2800" b="1" dirty="0"/>
              <a:t>probabilidade das vendas ocorrerem acima da meta</a:t>
            </a:r>
            <a:r>
              <a:rPr kumimoji="0" lang="pt-BR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?</a:t>
            </a:r>
          </a:p>
        </p:txBody>
      </p:sp>
      <p:pic>
        <p:nvPicPr>
          <p:cNvPr id="10242" name="Picture 2" descr="Resultado de imagem para sales forecas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8518" y="2093586"/>
            <a:ext cx="3921444" cy="2236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72342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/>
          <p:nvPr/>
        </p:nvSpPr>
        <p:spPr>
          <a:xfrm>
            <a:off x="457200" y="350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 err="1">
                <a:solidFill>
                  <a:schemeClr val="lt1"/>
                </a:solidFill>
              </a:rPr>
              <a:t>Conceitos</a:t>
            </a:r>
            <a:r>
              <a:rPr lang="en-US" sz="3000" b="1" dirty="0">
                <a:solidFill>
                  <a:schemeClr val="lt1"/>
                </a:solidFill>
              </a:rPr>
              <a:t> </a:t>
            </a:r>
            <a:r>
              <a:rPr lang="en-US" sz="3000" b="1" dirty="0" err="1">
                <a:solidFill>
                  <a:schemeClr val="lt1"/>
                </a:solidFill>
              </a:rPr>
              <a:t>iniciais</a:t>
            </a:r>
            <a:endParaRPr dirty="0"/>
          </a:p>
        </p:txBody>
      </p:sp>
      <p:sp>
        <p:nvSpPr>
          <p:cNvPr id="413" name="Shape 413"/>
          <p:cNvSpPr/>
          <p:nvPr/>
        </p:nvSpPr>
        <p:spPr>
          <a:xfrm>
            <a:off x="395287" y="1484312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indent="-406400" algn="ctr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altLang="pt-BR" sz="2800" dirty="0">
                <a:latin typeface="Arial" panose="020B0604020202020204" pitchFamily="34" charset="0"/>
              </a:rPr>
              <a:t>Distribuições de Probabilidade Contínuas</a:t>
            </a: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800" dirty="0">
              <a:latin typeface="Arial" panose="020B0604020202020204" pitchFamily="34" charset="0"/>
            </a:endParaRPr>
          </a:p>
        </p:txBody>
      </p:sp>
      <p:pic>
        <p:nvPicPr>
          <p:cNvPr id="1028" name="Picture 4" descr="Resultado de imagem para continuous distributio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7398" y="2311384"/>
            <a:ext cx="5365377" cy="3583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/>
          <p:nvPr/>
        </p:nvSpPr>
        <p:spPr>
          <a:xfrm>
            <a:off x="457200" y="350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 err="1">
                <a:solidFill>
                  <a:schemeClr val="lt1"/>
                </a:solidFill>
              </a:rPr>
              <a:t>Conceitos</a:t>
            </a:r>
            <a:endParaRPr dirty="0"/>
          </a:p>
        </p:txBody>
      </p:sp>
      <p:sp>
        <p:nvSpPr>
          <p:cNvPr id="413" name="Shape 413"/>
          <p:cNvSpPr/>
          <p:nvPr/>
        </p:nvSpPr>
        <p:spPr>
          <a:xfrm>
            <a:off x="395287" y="1484312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400" dirty="0">
                <a:solidFill>
                  <a:schemeClr val="dk1"/>
                </a:solidFill>
              </a:rPr>
              <a:t>Distribuições de probabilidade contínuas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400" dirty="0">
                <a:solidFill>
                  <a:schemeClr val="dk1"/>
                </a:solidFill>
              </a:rPr>
              <a:t>Distribuição exponencial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400" dirty="0">
                <a:solidFill>
                  <a:schemeClr val="dk1"/>
                </a:solidFill>
              </a:rPr>
              <a:t>Distribuição normal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400" dirty="0">
                <a:solidFill>
                  <a:schemeClr val="dk1"/>
                </a:solidFill>
              </a:rPr>
              <a:t>Distribuição t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400" dirty="0">
                <a:solidFill>
                  <a:schemeClr val="dk1"/>
                </a:solidFill>
              </a:rPr>
              <a:t>Distribuição </a:t>
            </a:r>
            <a:r>
              <a:rPr lang="pt-BR" sz="2400" dirty="0" err="1">
                <a:solidFill>
                  <a:schemeClr val="dk1"/>
                </a:solidFill>
              </a:rPr>
              <a:t>Qui</a:t>
            </a:r>
            <a:r>
              <a:rPr lang="pt-BR" sz="2400" dirty="0">
                <a:solidFill>
                  <a:schemeClr val="dk1"/>
                </a:solidFill>
              </a:rPr>
              <a:t>-Quadrado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400" dirty="0">
                <a:solidFill>
                  <a:schemeClr val="dk1"/>
                </a:solidFill>
              </a:rPr>
              <a:t>Distribuição F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8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61946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/>
          <p:nvPr/>
        </p:nvSpPr>
        <p:spPr>
          <a:xfrm>
            <a:off x="457200" y="350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Tx/>
              <a:buFont typeface="Arial"/>
              <a:buNone/>
              <a:tabLst/>
              <a:defRPr/>
            </a:pPr>
            <a:r>
              <a:rPr kumimoji="0" lang="en-US" sz="3000" b="1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Tipos</a:t>
            </a: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de </a:t>
            </a:r>
            <a:r>
              <a:rPr kumimoji="0" lang="en-US" sz="3000" b="1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variáveis</a:t>
            </a: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</a:t>
            </a:r>
            <a:r>
              <a:rPr kumimoji="0" lang="en-US" sz="3000" b="1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aleatórias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13" name="Shape 413"/>
          <p:cNvSpPr/>
          <p:nvPr/>
        </p:nvSpPr>
        <p:spPr>
          <a:xfrm>
            <a:off x="395287" y="1484312"/>
            <a:ext cx="4194642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064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  <a:tabLst/>
              <a:defRPr/>
            </a:pPr>
            <a:r>
              <a:rPr kumimoji="0" lang="pt-B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Discretas:</a:t>
            </a:r>
          </a:p>
          <a:p>
            <a:pPr marL="457200" marR="0" lvl="0" indent="-4064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  <a:tabLst/>
              <a:defRPr/>
            </a:pPr>
            <a:r>
              <a: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Possui um número finito de resultados.</a:t>
            </a:r>
          </a:p>
          <a:p>
            <a:pPr marL="457200" marR="0" lvl="0" indent="-4064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  <a:tabLst/>
              <a:defRPr/>
            </a:pPr>
            <a:r>
              <a: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Exemplo: Vivo/morto, grávida/não grávida, sucesso/fracasso, vitória/derrota/empate.</a:t>
            </a:r>
          </a:p>
          <a:p>
            <a:pPr marL="457200" marR="0" lvl="0" indent="-4064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  <a:tabLst/>
              <a:defRPr/>
            </a:pPr>
            <a:endParaRPr kumimoji="0" lang="pt-B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0" lvl="0" indent="-4064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  <a:tabLst/>
              <a:defRPr/>
            </a:pPr>
            <a:endParaRPr kumimoji="0" lang="pt-B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0" lvl="0" indent="-4064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  <a:tabLst/>
              <a:defRPr/>
            </a:pPr>
            <a:endParaRPr kumimoji="0" lang="pt-BR" altLang="pt-B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/>
              <a:sym typeface="Arial"/>
            </a:endParaRPr>
          </a:p>
          <a:p>
            <a:pPr marL="457200" marR="0" lvl="0" indent="-4064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  <a:tabLst/>
              <a:defRPr/>
            </a:pPr>
            <a:endParaRPr kumimoji="0" lang="pt-BR" altLang="pt-B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/>
              <a:sym typeface="Arial"/>
            </a:endParaRPr>
          </a:p>
          <a:p>
            <a:pPr marL="457200" marR="0" lvl="0" indent="-4064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  <a:tabLst/>
              <a:defRPr/>
            </a:pPr>
            <a:endParaRPr kumimoji="0" lang="pt-BR" altLang="pt-B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/>
              <a:sym typeface="Arial"/>
            </a:endParaRPr>
          </a:p>
          <a:p>
            <a:pPr marL="457200" marR="0" lvl="0" indent="-4064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  <a:tabLst/>
              <a:defRPr/>
            </a:pPr>
            <a:endParaRPr kumimoji="0" lang="pt-BR" altLang="pt-BR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/>
              <a:sym typeface="Arial"/>
            </a:endParaRPr>
          </a:p>
        </p:txBody>
      </p:sp>
      <p:sp>
        <p:nvSpPr>
          <p:cNvPr id="8" name="Shape 413"/>
          <p:cNvSpPr/>
          <p:nvPr/>
        </p:nvSpPr>
        <p:spPr>
          <a:xfrm>
            <a:off x="4651842" y="1484312"/>
            <a:ext cx="4194642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064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  <a:tabLst/>
              <a:defRPr/>
            </a:pPr>
            <a:r>
              <a:rPr kumimoji="0" lang="pt-B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Contínuas:</a:t>
            </a:r>
          </a:p>
          <a:p>
            <a:pPr marL="457200" marR="0" lvl="0" indent="-4064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  <a:tabLst/>
              <a:defRPr/>
            </a:pPr>
            <a:r>
              <a: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Possui uma grande amplitude de resultados, em que se torna praticamente impossível contar o número de resultados possíveis.</a:t>
            </a:r>
          </a:p>
          <a:p>
            <a:pPr marL="457200" marR="0" lvl="0" indent="-4064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  <a:tabLst/>
              <a:defRPr/>
            </a:pPr>
            <a:r>
              <a: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Exemplo: Peso, altura, renda, velocidade de um carro</a:t>
            </a:r>
          </a:p>
          <a:p>
            <a:pPr marL="457200" marR="0" lvl="0" indent="-4064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  <a:tabLst/>
              <a:defRPr/>
            </a:pPr>
            <a:endParaRPr kumimoji="0" lang="pt-B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0" lvl="0" indent="-4064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  <a:tabLst/>
              <a:defRPr/>
            </a:pPr>
            <a:endParaRPr kumimoji="0" lang="pt-B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0" lvl="0" indent="-4064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  <a:tabLst/>
              <a:defRPr/>
            </a:pPr>
            <a:endParaRPr kumimoji="0" lang="pt-BR" altLang="pt-B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/>
              <a:sym typeface="Arial"/>
            </a:endParaRPr>
          </a:p>
          <a:p>
            <a:pPr marL="457200" marR="0" lvl="0" indent="-4064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  <a:tabLst/>
              <a:defRPr/>
            </a:pPr>
            <a:endParaRPr kumimoji="0" lang="pt-BR" altLang="pt-B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/>
              <a:sym typeface="Arial"/>
            </a:endParaRPr>
          </a:p>
          <a:p>
            <a:pPr marL="457200" marR="0" lvl="0" indent="-4064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  <a:tabLst/>
              <a:defRPr/>
            </a:pPr>
            <a:endParaRPr kumimoji="0" lang="pt-BR" altLang="pt-B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/>
              <a:sym typeface="Arial"/>
            </a:endParaRPr>
          </a:p>
          <a:p>
            <a:pPr marL="457200" marR="0" lvl="0" indent="-4064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  <a:tabLst/>
              <a:defRPr/>
            </a:pPr>
            <a:endParaRPr kumimoji="0" lang="pt-BR" altLang="pt-BR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/>
              <a:sym typeface="Arial"/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5899" y="3801151"/>
            <a:ext cx="977012" cy="1839828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0452" y="4011452"/>
            <a:ext cx="1381125" cy="1419225"/>
          </a:xfrm>
          <a:prstGeom prst="rect">
            <a:avLst/>
          </a:prstGeom>
        </p:spPr>
      </p:pic>
      <p:pic>
        <p:nvPicPr>
          <p:cNvPr id="10" name="Imagem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09946" y="4025153"/>
            <a:ext cx="2735915" cy="1918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1285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/>
          <p:nvPr/>
        </p:nvSpPr>
        <p:spPr>
          <a:xfrm>
            <a:off x="457200" y="350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 err="1">
                <a:solidFill>
                  <a:schemeClr val="lt1"/>
                </a:solidFill>
              </a:rPr>
              <a:t>Distribuições</a:t>
            </a:r>
            <a:r>
              <a:rPr lang="en-US" sz="3000" b="1" dirty="0">
                <a:solidFill>
                  <a:schemeClr val="lt1"/>
                </a:solidFill>
              </a:rPr>
              <a:t> de </a:t>
            </a:r>
            <a:r>
              <a:rPr lang="en-US" sz="3000" b="1" dirty="0" err="1">
                <a:solidFill>
                  <a:schemeClr val="lt1"/>
                </a:solidFill>
              </a:rPr>
              <a:t>probabilidade</a:t>
            </a:r>
            <a:endParaRPr dirty="0"/>
          </a:p>
        </p:txBody>
      </p:sp>
      <p:sp>
        <p:nvSpPr>
          <p:cNvPr id="413" name="Shape 413"/>
          <p:cNvSpPr/>
          <p:nvPr/>
        </p:nvSpPr>
        <p:spPr>
          <a:xfrm>
            <a:off x="395287" y="1484312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altLang="pt-BR" sz="2800" dirty="0">
                <a:latin typeface="Arial" panose="020B0604020202020204" pitchFamily="34" charset="0"/>
              </a:rPr>
              <a:t>Diferença entre distribuições de probabilidade discretas e contínuas.</a:t>
            </a:r>
          </a:p>
        </p:txBody>
      </p:sp>
      <p:pic>
        <p:nvPicPr>
          <p:cNvPr id="1026" name="Picture 2" descr="Resultado de imagem para continuous distributio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8140" y="2880937"/>
            <a:ext cx="6490727" cy="29645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392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/>
          <p:nvPr/>
        </p:nvSpPr>
        <p:spPr>
          <a:xfrm>
            <a:off x="457200" y="350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 err="1">
                <a:solidFill>
                  <a:schemeClr val="lt1"/>
                </a:solidFill>
              </a:rPr>
              <a:t>Distribuições</a:t>
            </a:r>
            <a:r>
              <a:rPr lang="en-US" sz="3000" b="1" dirty="0">
                <a:solidFill>
                  <a:schemeClr val="lt1"/>
                </a:solidFill>
              </a:rPr>
              <a:t> de </a:t>
            </a:r>
            <a:r>
              <a:rPr lang="en-US" sz="3000" b="1" dirty="0" err="1">
                <a:solidFill>
                  <a:schemeClr val="lt1"/>
                </a:solidFill>
              </a:rPr>
              <a:t>probabilidades</a:t>
            </a:r>
            <a:r>
              <a:rPr lang="en-US" sz="3000" b="1" dirty="0">
                <a:solidFill>
                  <a:schemeClr val="lt1"/>
                </a:solidFill>
              </a:rPr>
              <a:t> </a:t>
            </a:r>
            <a:r>
              <a:rPr lang="en-US" sz="3000" b="1" dirty="0" err="1">
                <a:solidFill>
                  <a:schemeClr val="lt1"/>
                </a:solidFill>
              </a:rPr>
              <a:t>contínuas</a:t>
            </a:r>
            <a:endParaRPr dirty="0"/>
          </a:p>
        </p:txBody>
      </p:sp>
      <p:sp>
        <p:nvSpPr>
          <p:cNvPr id="413" name="Shape 413"/>
          <p:cNvSpPr/>
          <p:nvPr/>
        </p:nvSpPr>
        <p:spPr>
          <a:xfrm>
            <a:off x="395287" y="1484312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400" dirty="0">
                <a:solidFill>
                  <a:schemeClr val="dk1"/>
                </a:solidFill>
              </a:rPr>
              <a:t>Distribuições que serão apresentadas: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800" dirty="0">
              <a:latin typeface="Arial" panose="020B0604020202020204" pitchFamily="34" charset="0"/>
            </a:endParaRPr>
          </a:p>
        </p:txBody>
      </p:sp>
      <p:sp>
        <p:nvSpPr>
          <p:cNvPr id="6" name="CaixaDeTexto 5"/>
          <p:cNvSpPr txBox="1"/>
          <p:nvPr/>
        </p:nvSpPr>
        <p:spPr>
          <a:xfrm>
            <a:off x="739909" y="5868199"/>
            <a:ext cx="19624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Distribuição t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6593039" y="5801007"/>
            <a:ext cx="21021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Distribuição de F</a:t>
            </a:r>
          </a:p>
        </p:txBody>
      </p:sp>
      <p:sp>
        <p:nvSpPr>
          <p:cNvPr id="14" name="CaixaDeTexto 13"/>
          <p:cNvSpPr txBox="1"/>
          <p:nvPr/>
        </p:nvSpPr>
        <p:spPr>
          <a:xfrm>
            <a:off x="1326688" y="3593473"/>
            <a:ext cx="21067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Distribuição exponencial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4895099" y="3603550"/>
            <a:ext cx="19624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Distribuição normal</a:t>
            </a:r>
          </a:p>
        </p:txBody>
      </p:sp>
      <p:pic>
        <p:nvPicPr>
          <p:cNvPr id="2050" name="Picture 2" descr="Resultado de imagem para exponential distributio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6688" y="2020658"/>
            <a:ext cx="2134534" cy="1572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Resultado de imagem para gaussian distribution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10" t="7726" r="7278" b="4353"/>
          <a:stretch/>
        </p:blipFill>
        <p:spPr bwMode="auto">
          <a:xfrm>
            <a:off x="4572000" y="1929512"/>
            <a:ext cx="2254628" cy="1674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agem 8"/>
          <p:cNvPicPr>
            <a:picLocks noChangeAspect="1"/>
          </p:cNvPicPr>
          <p:nvPr/>
        </p:nvPicPr>
        <p:blipFill rotWithShape="1">
          <a:blip r:embed="rId5"/>
          <a:srcRect l="6069" t="27083" r="7475" b="11688"/>
          <a:stretch/>
        </p:blipFill>
        <p:spPr>
          <a:xfrm>
            <a:off x="6826628" y="2475299"/>
            <a:ext cx="1734303" cy="548830"/>
          </a:xfrm>
          <a:prstGeom prst="rect">
            <a:avLst/>
          </a:prstGeom>
        </p:spPr>
      </p:pic>
      <p:pic>
        <p:nvPicPr>
          <p:cNvPr id="2056" name="Picture 8" descr="Imagem relacionada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4133178"/>
            <a:ext cx="1823247" cy="1823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Resultado de imagem para f distribution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1" t="14675" r="2941" b="8120"/>
          <a:stretch/>
        </p:blipFill>
        <p:spPr bwMode="auto">
          <a:xfrm>
            <a:off x="5840853" y="4268351"/>
            <a:ext cx="2854381" cy="1552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CaixaDeTexto 19"/>
          <p:cNvSpPr txBox="1"/>
          <p:nvPr/>
        </p:nvSpPr>
        <p:spPr>
          <a:xfrm>
            <a:off x="3355734" y="5748802"/>
            <a:ext cx="15233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Distribuição de </a:t>
            </a:r>
            <a:r>
              <a:rPr lang="pt-BR" dirty="0" err="1"/>
              <a:t>Qui</a:t>
            </a:r>
            <a:r>
              <a:rPr lang="pt-BR" dirty="0"/>
              <a:t>-Quadrado</a:t>
            </a:r>
          </a:p>
        </p:txBody>
      </p:sp>
      <p:pic>
        <p:nvPicPr>
          <p:cNvPr id="2060" name="Picture 12" descr="Resultado de imagem para chi square distribution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8853" y="4392480"/>
            <a:ext cx="2757099" cy="1369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3828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/>
          <p:nvPr/>
        </p:nvSpPr>
        <p:spPr>
          <a:xfrm>
            <a:off x="457200" y="350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 err="1">
                <a:solidFill>
                  <a:schemeClr val="lt1"/>
                </a:solidFill>
              </a:rPr>
              <a:t>Distribuição</a:t>
            </a:r>
            <a:r>
              <a:rPr lang="en-US" sz="3000" b="1" dirty="0">
                <a:solidFill>
                  <a:schemeClr val="lt1"/>
                </a:solidFill>
              </a:rPr>
              <a:t> </a:t>
            </a:r>
            <a:r>
              <a:rPr lang="en-US" sz="3000" b="1" dirty="0" err="1">
                <a:solidFill>
                  <a:schemeClr val="lt1"/>
                </a:solidFill>
              </a:rPr>
              <a:t>Exponencial</a:t>
            </a:r>
            <a:endParaRPr dirty="0"/>
          </a:p>
        </p:txBody>
      </p:sp>
      <p:sp>
        <p:nvSpPr>
          <p:cNvPr id="413" name="Shape 413"/>
          <p:cNvSpPr/>
          <p:nvPr/>
        </p:nvSpPr>
        <p:spPr>
          <a:xfrm>
            <a:off x="395287" y="1484312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400" dirty="0">
                <a:solidFill>
                  <a:schemeClr val="dk1"/>
                </a:solidFill>
              </a:rPr>
              <a:t>Quando temos um problema de determinar a probabilidade de um evento ocorrer até um determinado momento (data, hora), temos uma </a:t>
            </a:r>
            <a:r>
              <a:rPr lang="pt-BR" sz="2400" b="1" dirty="0">
                <a:solidFill>
                  <a:schemeClr val="dk1"/>
                </a:solidFill>
              </a:rPr>
              <a:t>Distribuição Exponencial</a:t>
            </a:r>
            <a:r>
              <a:rPr lang="pt-BR" sz="2400" dirty="0">
                <a:solidFill>
                  <a:schemeClr val="dk1"/>
                </a:solidFill>
              </a:rPr>
              <a:t>.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800" dirty="0">
              <a:latin typeface="Arial" panose="020B0604020202020204" pitchFamily="34" charset="0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7079" y="3469655"/>
            <a:ext cx="5191405" cy="2670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4760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/>
          <p:nvPr/>
        </p:nvSpPr>
        <p:spPr>
          <a:xfrm>
            <a:off x="457200" y="350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 err="1">
                <a:solidFill>
                  <a:schemeClr val="lt1"/>
                </a:solidFill>
              </a:rPr>
              <a:t>Distribuição</a:t>
            </a:r>
            <a:r>
              <a:rPr lang="en-US" sz="3000" b="1" dirty="0">
                <a:solidFill>
                  <a:schemeClr val="lt1"/>
                </a:solidFill>
              </a:rPr>
              <a:t> </a:t>
            </a:r>
            <a:r>
              <a:rPr lang="en-US" sz="3000" b="1" dirty="0" err="1">
                <a:solidFill>
                  <a:schemeClr val="lt1"/>
                </a:solidFill>
              </a:rPr>
              <a:t>Exponencial</a:t>
            </a:r>
            <a:endParaRPr dirty="0"/>
          </a:p>
        </p:txBody>
      </p:sp>
      <p:sp>
        <p:nvSpPr>
          <p:cNvPr id="413" name="Shape 413"/>
          <p:cNvSpPr/>
          <p:nvPr/>
        </p:nvSpPr>
        <p:spPr>
          <a:xfrm>
            <a:off x="395287" y="1484312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400" dirty="0">
                <a:solidFill>
                  <a:schemeClr val="dk1"/>
                </a:solidFill>
              </a:rPr>
              <a:t>Exemplos: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400" dirty="0">
                <a:solidFill>
                  <a:schemeClr val="dk1"/>
                </a:solidFill>
              </a:rPr>
              <a:t>Probabilidade de tempo de atendimento na fila do banco ser inferior a 10 minutos.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400" dirty="0">
                <a:solidFill>
                  <a:schemeClr val="dk1"/>
                </a:solidFill>
              </a:rPr>
              <a:t>Probabilidade de uma máquina apresentar defeito em 5 anos, sabendo que o tempo médio de vida é 15 anos.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8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08321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/>
          <p:nvPr/>
        </p:nvSpPr>
        <p:spPr>
          <a:xfrm>
            <a:off x="457200" y="350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 err="1">
                <a:solidFill>
                  <a:schemeClr val="lt1"/>
                </a:solidFill>
              </a:rPr>
              <a:t>Distribuição</a:t>
            </a:r>
            <a:r>
              <a:rPr lang="en-US" sz="3000" b="1" dirty="0">
                <a:solidFill>
                  <a:schemeClr val="lt1"/>
                </a:solidFill>
              </a:rPr>
              <a:t> </a:t>
            </a:r>
            <a:r>
              <a:rPr lang="en-US" sz="3000" b="1" dirty="0" err="1">
                <a:solidFill>
                  <a:schemeClr val="lt1"/>
                </a:solidFill>
              </a:rPr>
              <a:t>Exponencial</a:t>
            </a:r>
            <a:r>
              <a:rPr lang="en-US" sz="3000" b="1" dirty="0">
                <a:solidFill>
                  <a:schemeClr val="lt1"/>
                </a:solidFill>
              </a:rPr>
              <a:t>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>
                <a:solidFill>
                  <a:schemeClr val="lt1"/>
                </a:solidFill>
              </a:rPr>
              <a:t>(</a:t>
            </a:r>
            <a:r>
              <a:rPr lang="en-US" sz="3000" b="1" dirty="0" err="1">
                <a:solidFill>
                  <a:schemeClr val="lt1"/>
                </a:solidFill>
              </a:rPr>
              <a:t>resumo</a:t>
            </a:r>
            <a:r>
              <a:rPr lang="en-US" sz="3000" b="1" dirty="0">
                <a:solidFill>
                  <a:schemeClr val="lt1"/>
                </a:solidFill>
              </a:rPr>
              <a:t>)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3" name="Shape 413"/>
              <p:cNvSpPr/>
              <p:nvPr/>
            </p:nvSpPr>
            <p:spPr>
              <a:xfrm>
                <a:off x="395287" y="1484312"/>
                <a:ext cx="8229600" cy="4526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r>
                  <a:rPr lang="pt-BR" sz="2000" dirty="0">
                    <a:solidFill>
                      <a:schemeClr val="dk1"/>
                    </a:solidFill>
                  </a:rPr>
                  <a:t>Em resumo, uma distribuição exponencial possui 3 características e a seguinte fórmula:</a:t>
                </a: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2000" dirty="0">
                  <a:solidFill>
                    <a:schemeClr val="dk1"/>
                  </a:solidFill>
                </a:endParaRP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r>
                  <a:rPr lang="pt-BR" sz="2000" dirty="0">
                    <a:solidFill>
                      <a:schemeClr val="dk1"/>
                    </a:solidFill>
                  </a:rPr>
                  <a:t>a) consiste de 1 evento ocorrer até o fim do processo observado</a:t>
                </a: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r>
                  <a:rPr lang="pt-BR" sz="2000" dirty="0">
                    <a:solidFill>
                      <a:schemeClr val="dk1"/>
                    </a:solidFill>
                  </a:rPr>
                  <a:t>b) cada evento é independente</a:t>
                </a: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r>
                  <a:rPr lang="pt-BR" sz="2000" dirty="0">
                    <a:solidFill>
                      <a:schemeClr val="dk1"/>
                    </a:solidFill>
                  </a:rPr>
                  <a:t>c) a probabilidade de cada evento ocorrer está entre 0 e 1</a:t>
                </a: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2000" dirty="0">
                  <a:solidFill>
                    <a:schemeClr val="dk1"/>
                  </a:solidFill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14:m>
                  <m:oMath xmlns:m="http://schemas.openxmlformats.org/officeDocument/2006/math">
                    <m:r>
                      <a:rPr lang="pt-BR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pt-BR" sz="2000" b="0" i="1" smtClean="0">
                        <a:latin typeface="Cambria Math" panose="02040503050406030204" pitchFamily="18" charset="0"/>
                      </a:rPr>
                      <m:t>=1−</m:t>
                    </m:r>
                    <m:sSup>
                      <m:sSupPr>
                        <m:ctrlPr>
                          <a:rPr lang="pt-BR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0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pt-BR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pt-BR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pt-B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den>
                        </m:f>
                      </m:sup>
                    </m:sSup>
                  </m:oMath>
                </a14:m>
                <a:r>
                  <a:rPr lang="pt-BR" sz="2000" dirty="0"/>
                  <a:t>, </a:t>
                </a:r>
                <a14:m>
                  <m:oMath xmlns:m="http://schemas.openxmlformats.org/officeDocument/2006/math">
                    <m:r>
                      <a:rPr lang="pt-B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pt-BR" sz="2000" dirty="0"/>
                  <a:t> é a média.</a:t>
                </a: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2000" dirty="0">
                  <a:solidFill>
                    <a:schemeClr val="dk1"/>
                  </a:solidFill>
                </a:endParaRP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1800" dirty="0">
                  <a:solidFill>
                    <a:schemeClr val="dk1"/>
                  </a:solidFill>
                </a:endParaRP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2400" dirty="0">
                  <a:solidFill>
                    <a:schemeClr val="dk1"/>
                  </a:solidFill>
                </a:endParaRP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2400" dirty="0">
                  <a:solidFill>
                    <a:schemeClr val="dk1"/>
                  </a:solidFill>
                </a:endParaRP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2400" dirty="0">
                  <a:solidFill>
                    <a:schemeClr val="dk1"/>
                  </a:solidFill>
                </a:endParaRP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2400" dirty="0">
                  <a:solidFill>
                    <a:schemeClr val="dk1"/>
                  </a:solidFill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400" dirty="0">
                  <a:latin typeface="Arial" panose="020B0604020202020204" pitchFamily="34" charset="0"/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400" dirty="0">
                  <a:latin typeface="Arial" panose="020B0604020202020204" pitchFamily="34" charset="0"/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400" dirty="0">
                  <a:latin typeface="Arial" panose="020B0604020202020204" pitchFamily="34" charset="0"/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800" dirty="0"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13" name="Shape 4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287" y="1484312"/>
                <a:ext cx="8229600" cy="4526100"/>
              </a:xfrm>
              <a:prstGeom prst="rect">
                <a:avLst/>
              </a:prstGeom>
              <a:blipFill>
                <a:blip r:embed="rId3"/>
                <a:stretch>
                  <a:fillRect l="-741" t="-255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aixaDeTexto 3"/>
          <p:cNvSpPr txBox="1"/>
          <p:nvPr/>
        </p:nvSpPr>
        <p:spPr>
          <a:xfrm>
            <a:off x="-71717" y="6014471"/>
            <a:ext cx="69745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*Exemplo com números ver </a:t>
            </a:r>
            <a:r>
              <a:rPr lang="pt-BR" dirty="0" err="1"/>
              <a:t>excel</a:t>
            </a:r>
            <a:r>
              <a:rPr lang="pt-BR" dirty="0"/>
              <a:t>: distrib_prob_contínuas.xlsx, aba </a:t>
            </a:r>
            <a:r>
              <a:rPr lang="pt-BR" dirty="0" err="1"/>
              <a:t>dist_exponencial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230407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/>
          <p:nvPr/>
        </p:nvSpPr>
        <p:spPr>
          <a:xfrm>
            <a:off x="457200" y="350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 err="1">
                <a:solidFill>
                  <a:schemeClr val="lt1"/>
                </a:solidFill>
              </a:rPr>
              <a:t>Distribuição</a:t>
            </a:r>
            <a:r>
              <a:rPr lang="en-US" sz="3000" b="1" dirty="0">
                <a:solidFill>
                  <a:schemeClr val="lt1"/>
                </a:solidFill>
              </a:rPr>
              <a:t> Normal</a:t>
            </a:r>
            <a:endParaRPr dirty="0"/>
          </a:p>
        </p:txBody>
      </p:sp>
      <p:sp>
        <p:nvSpPr>
          <p:cNvPr id="413" name="Shape 413"/>
          <p:cNvSpPr/>
          <p:nvPr/>
        </p:nvSpPr>
        <p:spPr>
          <a:xfrm>
            <a:off x="395287" y="1484312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400" dirty="0">
                <a:solidFill>
                  <a:schemeClr val="dk1"/>
                </a:solidFill>
              </a:rPr>
              <a:t>A distribuição normal (gaussiana) é uma das distribuições mais importantes da área de análise de dados.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400" dirty="0">
                <a:solidFill>
                  <a:schemeClr val="dk1"/>
                </a:solidFill>
              </a:rPr>
              <a:t>É uma distribuição simétrica e tem formato de sino. Isso ocorre porque a maioria dos resultados se concentram em torno da média.</a:t>
            </a:r>
          </a:p>
          <a:p>
            <a:pPr marL="50800" lvl="0">
              <a:lnSpc>
                <a:spcPct val="115000"/>
              </a:lnSpc>
              <a:buSzPts val="2800"/>
            </a:pPr>
            <a:r>
              <a:rPr lang="pt-BR" sz="2400" dirty="0">
                <a:solidFill>
                  <a:schemeClr val="dk1"/>
                </a:solidFill>
              </a:rPr>
              <a:t> 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800" dirty="0">
              <a:latin typeface="Arial" panose="020B0604020202020204" pitchFamily="34" charset="0"/>
            </a:endParaRPr>
          </a:p>
        </p:txBody>
      </p:sp>
      <p:sp>
        <p:nvSpPr>
          <p:cNvPr id="3" name="CaixaDeTexto 2"/>
          <p:cNvSpPr txBox="1"/>
          <p:nvPr/>
        </p:nvSpPr>
        <p:spPr>
          <a:xfrm>
            <a:off x="-71717" y="6014471"/>
            <a:ext cx="68311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*Exemplo com números ver </a:t>
            </a:r>
            <a:r>
              <a:rPr lang="pt-BR" dirty="0" err="1"/>
              <a:t>excel</a:t>
            </a:r>
            <a:r>
              <a:rPr lang="pt-BR" dirty="0"/>
              <a:t>: distrib_prob_continuas.xlsx, aba </a:t>
            </a:r>
            <a:r>
              <a:rPr lang="pt-BR" dirty="0" err="1"/>
              <a:t>dist_normal</a:t>
            </a:r>
            <a:endParaRPr lang="pt-BR" dirty="0"/>
          </a:p>
          <a:p>
            <a:endParaRPr lang="pt-BR" dirty="0"/>
          </a:p>
        </p:txBody>
      </p:sp>
      <p:pic>
        <p:nvPicPr>
          <p:cNvPr id="1026" name="Picture 2" descr="Resultado de imagem para distribuicao normal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6446" y="4039626"/>
            <a:ext cx="4648200" cy="1771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3249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/>
          <p:nvPr/>
        </p:nvSpPr>
        <p:spPr>
          <a:xfrm>
            <a:off x="457200" y="350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 err="1">
                <a:solidFill>
                  <a:schemeClr val="lt1"/>
                </a:solidFill>
              </a:rPr>
              <a:t>Distribuição</a:t>
            </a:r>
            <a:r>
              <a:rPr lang="en-US" sz="3000" b="1" dirty="0">
                <a:solidFill>
                  <a:schemeClr val="lt1"/>
                </a:solidFill>
              </a:rPr>
              <a:t> Normal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>
                <a:solidFill>
                  <a:schemeClr val="lt1"/>
                </a:solidFill>
              </a:rPr>
              <a:t>(</a:t>
            </a:r>
            <a:r>
              <a:rPr lang="en-US" sz="3000" b="1" dirty="0" err="1">
                <a:solidFill>
                  <a:schemeClr val="lt1"/>
                </a:solidFill>
              </a:rPr>
              <a:t>Características</a:t>
            </a:r>
            <a:r>
              <a:rPr lang="en-US" sz="3000" b="1" dirty="0">
                <a:solidFill>
                  <a:schemeClr val="lt1"/>
                </a:solidFill>
              </a:rPr>
              <a:t>)</a:t>
            </a:r>
          </a:p>
        </p:txBody>
      </p:sp>
      <p:sp>
        <p:nvSpPr>
          <p:cNvPr id="413" name="Shape 413"/>
          <p:cNvSpPr/>
          <p:nvPr/>
        </p:nvSpPr>
        <p:spPr>
          <a:xfrm>
            <a:off x="395287" y="1484312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dirty="0">
                <a:solidFill>
                  <a:schemeClr val="dk1"/>
                </a:solidFill>
              </a:rPr>
              <a:t>Possui a média no centro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dirty="0">
                <a:solidFill>
                  <a:schemeClr val="dk1"/>
                </a:solidFill>
              </a:rPr>
              <a:t>O tamanho do desvio padrão define as probabilidades.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dirty="0">
                <a:solidFill>
                  <a:schemeClr val="dk1"/>
                </a:solidFill>
              </a:rPr>
              <a:t>A probabilidade de um evento ocorrer dentro do primeiro desvio padrão é 68,26%.</a:t>
            </a: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dirty="0">
                <a:solidFill>
                  <a:schemeClr val="dk1"/>
                </a:solidFill>
              </a:rPr>
              <a:t>A probabilidade de um evento ocorrer dentro do segundo desvio padrão é 95,44%.</a:t>
            </a: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dirty="0">
                <a:solidFill>
                  <a:schemeClr val="dk1"/>
                </a:solidFill>
              </a:rPr>
              <a:t>A probabilidade de um evento ocorrer dentro do terceiro desvio padrão é 99,74%.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800" dirty="0">
              <a:latin typeface="Arial" panose="020B0604020202020204" pitchFamily="34" charset="0"/>
            </a:endParaRPr>
          </a:p>
        </p:txBody>
      </p:sp>
      <p:pic>
        <p:nvPicPr>
          <p:cNvPr id="2050" name="Picture 2" descr="Resultado de imagem para distribuicao normal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5414" y="2981462"/>
            <a:ext cx="4733925" cy="3028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51827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/>
          <p:nvPr/>
        </p:nvSpPr>
        <p:spPr>
          <a:xfrm>
            <a:off x="457200" y="350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 err="1">
                <a:solidFill>
                  <a:schemeClr val="lt1"/>
                </a:solidFill>
              </a:rPr>
              <a:t>Distribuição</a:t>
            </a:r>
            <a:r>
              <a:rPr lang="en-US" sz="3000" b="1" dirty="0">
                <a:solidFill>
                  <a:schemeClr val="lt1"/>
                </a:solidFill>
              </a:rPr>
              <a:t> Normal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>
                <a:solidFill>
                  <a:schemeClr val="lt1"/>
                </a:solidFill>
              </a:rPr>
              <a:t>(</a:t>
            </a:r>
            <a:r>
              <a:rPr lang="en-US" sz="3000" b="1" dirty="0" err="1">
                <a:solidFill>
                  <a:schemeClr val="lt1"/>
                </a:solidFill>
              </a:rPr>
              <a:t>Exemplos</a:t>
            </a:r>
            <a:r>
              <a:rPr lang="en-US" sz="3000" b="1" dirty="0">
                <a:solidFill>
                  <a:schemeClr val="lt1"/>
                </a:solidFill>
              </a:rPr>
              <a:t>)</a:t>
            </a:r>
            <a:endParaRPr dirty="0"/>
          </a:p>
        </p:txBody>
      </p:sp>
      <p:sp>
        <p:nvSpPr>
          <p:cNvPr id="413" name="Shape 413"/>
          <p:cNvSpPr/>
          <p:nvPr/>
        </p:nvSpPr>
        <p:spPr>
          <a:xfrm>
            <a:off x="395287" y="1484312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1600" dirty="0">
                <a:solidFill>
                  <a:schemeClr val="dk1"/>
                </a:solidFill>
              </a:rPr>
              <a:t>Exemplos: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16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1600" dirty="0">
                <a:solidFill>
                  <a:schemeClr val="dk1"/>
                </a:solidFill>
              </a:rPr>
              <a:t>O comportamento de uma ação de um mercado financeiro pode ser definido como os retornos sendo a média e o risco sendo o desvio padrão. Por meio destes parâmetros podemos presumir probabilidades próximas a distribuição normal.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16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1600" dirty="0">
                <a:solidFill>
                  <a:schemeClr val="dk1"/>
                </a:solidFill>
              </a:rPr>
              <a:t>Quando estudamos as rendas das pessoas de uma cidade podemos encontrar uma renda média e verificar o quanto as rendas podem variar de um pessoa para outra.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1600" dirty="0">
                <a:solidFill>
                  <a:schemeClr val="dk1"/>
                </a:solidFill>
              </a:rPr>
              <a:t>Quando estudamos as alturas das pessoas podemos encontrar uma altura média e verificar o quanto as alturas podem variar de um pessoa para outra.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8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66276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/>
          <p:nvPr/>
        </p:nvSpPr>
        <p:spPr>
          <a:xfrm>
            <a:off x="457200" y="350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 err="1">
                <a:solidFill>
                  <a:schemeClr val="lt1"/>
                </a:solidFill>
              </a:rPr>
              <a:t>Distribuição</a:t>
            </a:r>
            <a:r>
              <a:rPr lang="en-US" sz="3000" b="1" dirty="0">
                <a:solidFill>
                  <a:schemeClr val="lt1"/>
                </a:solidFill>
              </a:rPr>
              <a:t> Normal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>
                <a:solidFill>
                  <a:schemeClr val="lt1"/>
                </a:solidFill>
              </a:rPr>
              <a:t>(</a:t>
            </a:r>
            <a:r>
              <a:rPr lang="en-US" sz="3000" b="1" dirty="0" err="1">
                <a:solidFill>
                  <a:schemeClr val="lt1"/>
                </a:solidFill>
              </a:rPr>
              <a:t>resumo</a:t>
            </a:r>
            <a:r>
              <a:rPr lang="en-US" sz="3000" b="1" dirty="0">
                <a:solidFill>
                  <a:schemeClr val="lt1"/>
                </a:solidFill>
              </a:rPr>
              <a:t>)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3" name="Shape 413"/>
              <p:cNvSpPr/>
              <p:nvPr/>
            </p:nvSpPr>
            <p:spPr>
              <a:xfrm>
                <a:off x="395287" y="1484312"/>
                <a:ext cx="8229600" cy="4526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r>
                  <a:rPr lang="pt-BR" sz="2000" dirty="0">
                    <a:solidFill>
                      <a:schemeClr val="dk1"/>
                    </a:solidFill>
                  </a:rPr>
                  <a:t>Em resumo, uma distribuição exponencial possui 3 características e a seguinte fórmula:</a:t>
                </a: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2000" dirty="0">
                  <a:solidFill>
                    <a:schemeClr val="dk1"/>
                  </a:solidFill>
                </a:endParaRP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r>
                  <a:rPr lang="pt-BR" sz="2000" dirty="0">
                    <a:solidFill>
                      <a:schemeClr val="dk1"/>
                    </a:solidFill>
                  </a:rPr>
                  <a:t>a) </a:t>
                </a:r>
                <a:r>
                  <a:rPr lang="pt-BR" sz="1800" dirty="0">
                    <a:solidFill>
                      <a:schemeClr val="dk1"/>
                    </a:solidFill>
                  </a:rPr>
                  <a:t>distribuição construída por meio da média e desvio-padrão dos eventos</a:t>
                </a: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r>
                  <a:rPr lang="pt-BR" sz="1800" dirty="0">
                    <a:solidFill>
                      <a:schemeClr val="dk1"/>
                    </a:solidFill>
                  </a:rPr>
                  <a:t>b) cada evento é independente</a:t>
                </a: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r>
                  <a:rPr lang="pt-BR" sz="1800" dirty="0">
                    <a:solidFill>
                      <a:schemeClr val="dk1"/>
                    </a:solidFill>
                  </a:rPr>
                  <a:t>c) A distribuição é simétrica, sendo que os valores se concentram perto da média.</a:t>
                </a: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2000" dirty="0">
                  <a:solidFill>
                    <a:schemeClr val="dk1"/>
                  </a:solidFill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14:m>
                  <m:oMath xmlns:m="http://schemas.openxmlformats.org/officeDocument/2006/math">
                    <m:r>
                      <a:rPr lang="pt-BR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pt-BR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pt-BR" sz="20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pt-BR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pt-B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  <m:sSup>
                              <m:sSupPr>
                                <m:ctrlPr>
                                  <a:rPr lang="pt-B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pt-B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sSup>
                      <m:sSupPr>
                        <m:ctrlPr>
                          <a:rPr lang="pt-BR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0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d>
                          <m:dPr>
                            <m:ctrlPr>
                              <a:rPr lang="pt-BR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2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pt-BR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pt-BR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pt-BR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sSup>
                              <m:sSupPr>
                                <m:ctrlPr>
                                  <a:rPr lang="pt-BR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pt-BR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pt-BR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pt-BR" sz="20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pt-BR" sz="2000" b="0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pt-BR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num>
                                      <m:den>
                                        <m:r>
                                          <a:rPr lang="pt-BR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 lang="pt-BR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sup>
                    </m:sSup>
                  </m:oMath>
                </a14:m>
                <a:r>
                  <a:rPr lang="pt-BR" sz="2000" dirty="0"/>
                  <a:t>.</a:t>
                </a: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2000" dirty="0">
                  <a:solidFill>
                    <a:schemeClr val="dk1"/>
                  </a:solidFill>
                </a:endParaRP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1800" dirty="0">
                  <a:solidFill>
                    <a:schemeClr val="dk1"/>
                  </a:solidFill>
                </a:endParaRP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2400" dirty="0">
                  <a:solidFill>
                    <a:schemeClr val="dk1"/>
                  </a:solidFill>
                </a:endParaRP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2400" dirty="0">
                  <a:solidFill>
                    <a:schemeClr val="dk1"/>
                  </a:solidFill>
                </a:endParaRP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2400" dirty="0">
                  <a:solidFill>
                    <a:schemeClr val="dk1"/>
                  </a:solidFill>
                </a:endParaRP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2400" dirty="0">
                  <a:solidFill>
                    <a:schemeClr val="dk1"/>
                  </a:solidFill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400" dirty="0">
                  <a:latin typeface="Arial" panose="020B0604020202020204" pitchFamily="34" charset="0"/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400" dirty="0">
                  <a:latin typeface="Arial" panose="020B0604020202020204" pitchFamily="34" charset="0"/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400" dirty="0">
                  <a:latin typeface="Arial" panose="020B0604020202020204" pitchFamily="34" charset="0"/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800" dirty="0"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13" name="Shape 4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287" y="1484312"/>
                <a:ext cx="8229600" cy="4526100"/>
              </a:xfrm>
              <a:prstGeom prst="rect">
                <a:avLst/>
              </a:prstGeom>
              <a:blipFill>
                <a:blip r:embed="rId3"/>
                <a:stretch>
                  <a:fillRect l="-741" t="-2557" r="-96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936520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/>
          <p:nvPr/>
        </p:nvSpPr>
        <p:spPr>
          <a:xfrm>
            <a:off x="457200" y="350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 err="1">
                <a:solidFill>
                  <a:schemeClr val="lt1"/>
                </a:solidFill>
              </a:rPr>
              <a:t>Distribuição</a:t>
            </a:r>
            <a:r>
              <a:rPr lang="en-US" sz="3000" b="1" dirty="0">
                <a:solidFill>
                  <a:schemeClr val="lt1"/>
                </a:solidFill>
              </a:rPr>
              <a:t> t</a:t>
            </a:r>
            <a:endParaRPr dirty="0"/>
          </a:p>
        </p:txBody>
      </p:sp>
      <p:sp>
        <p:nvSpPr>
          <p:cNvPr id="413" name="Shape 413"/>
          <p:cNvSpPr/>
          <p:nvPr/>
        </p:nvSpPr>
        <p:spPr>
          <a:xfrm>
            <a:off x="395287" y="1484312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400" dirty="0">
                <a:solidFill>
                  <a:schemeClr val="dk1"/>
                </a:solidFill>
              </a:rPr>
              <a:t>A distribuição t de </a:t>
            </a:r>
            <a:r>
              <a:rPr lang="pt-BR" sz="2400" dirty="0" err="1">
                <a:solidFill>
                  <a:schemeClr val="dk1"/>
                </a:solidFill>
              </a:rPr>
              <a:t>Student</a:t>
            </a:r>
            <a:r>
              <a:rPr lang="pt-BR" sz="2400" dirty="0">
                <a:solidFill>
                  <a:schemeClr val="dk1"/>
                </a:solidFill>
              </a:rPr>
              <a:t> possui importância na realização de testes de hipóteses.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400" dirty="0">
                <a:solidFill>
                  <a:schemeClr val="dk1"/>
                </a:solidFill>
              </a:rPr>
              <a:t>A principal utilização seria na comparação de médias de 2 populações.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400" dirty="0">
                <a:solidFill>
                  <a:schemeClr val="dk1"/>
                </a:solidFill>
              </a:rPr>
              <a:t>Por exemplo, qual cidade possui renda maior, cidade A ou cidade B?</a:t>
            </a:r>
          </a:p>
          <a:p>
            <a:pPr marL="50800" lvl="0">
              <a:lnSpc>
                <a:spcPct val="115000"/>
              </a:lnSpc>
              <a:buSzPts val="2800"/>
            </a:pPr>
            <a:r>
              <a:rPr lang="pt-BR" sz="2400" dirty="0">
                <a:solidFill>
                  <a:schemeClr val="dk1"/>
                </a:solidFill>
              </a:rPr>
              <a:t> 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8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45152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/>
          <p:nvPr/>
        </p:nvSpPr>
        <p:spPr>
          <a:xfrm>
            <a:off x="457200" y="350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 err="1">
                <a:solidFill>
                  <a:schemeClr val="lt1"/>
                </a:solidFill>
              </a:rPr>
              <a:t>Distribuição</a:t>
            </a:r>
            <a:r>
              <a:rPr lang="en-US" sz="3000" b="1" dirty="0">
                <a:solidFill>
                  <a:schemeClr val="lt1"/>
                </a:solidFill>
              </a:rPr>
              <a:t> t</a:t>
            </a:r>
            <a:endParaRPr dirty="0"/>
          </a:p>
        </p:txBody>
      </p:sp>
      <p:sp>
        <p:nvSpPr>
          <p:cNvPr id="413" name="Shape 413"/>
          <p:cNvSpPr/>
          <p:nvPr/>
        </p:nvSpPr>
        <p:spPr>
          <a:xfrm>
            <a:off x="395287" y="1484312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000" dirty="0">
                <a:solidFill>
                  <a:schemeClr val="dk1"/>
                </a:solidFill>
              </a:rPr>
              <a:t>A distribuição t é simétrica e possui forma bastante similar com a distribuição normal. 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000" dirty="0">
                <a:solidFill>
                  <a:schemeClr val="dk1"/>
                </a:solidFill>
              </a:rPr>
              <a:t>Porém, esta distribuição possui caudas e altura maior que a distribuição normal quando a amostra é pequena.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800" dirty="0">
              <a:latin typeface="Arial" panose="020B0604020202020204" pitchFamily="34" charset="0"/>
            </a:endParaRPr>
          </a:p>
        </p:txBody>
      </p:sp>
      <p:pic>
        <p:nvPicPr>
          <p:cNvPr id="3074" name="Picture 2" descr="Imagem relacionad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7365" y="3080773"/>
            <a:ext cx="3845532" cy="3201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25265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/>
          <p:nvPr/>
        </p:nvSpPr>
        <p:spPr>
          <a:xfrm>
            <a:off x="457200" y="350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 err="1">
                <a:solidFill>
                  <a:schemeClr val="lt1"/>
                </a:solidFill>
              </a:rPr>
              <a:t>Distribuição</a:t>
            </a:r>
            <a:r>
              <a:rPr lang="en-US" sz="3000" b="1" dirty="0">
                <a:solidFill>
                  <a:schemeClr val="lt1"/>
                </a:solidFill>
              </a:rPr>
              <a:t> t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>
                <a:solidFill>
                  <a:schemeClr val="lt1"/>
                </a:solidFill>
              </a:rPr>
              <a:t>(</a:t>
            </a:r>
            <a:r>
              <a:rPr lang="en-US" sz="3000" b="1" dirty="0" err="1">
                <a:solidFill>
                  <a:schemeClr val="lt1"/>
                </a:solidFill>
              </a:rPr>
              <a:t>resumo</a:t>
            </a:r>
            <a:r>
              <a:rPr lang="en-US" sz="3000" b="1" dirty="0">
                <a:solidFill>
                  <a:schemeClr val="lt1"/>
                </a:solidFill>
              </a:rPr>
              <a:t>)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3" name="Shape 413"/>
              <p:cNvSpPr/>
              <p:nvPr/>
            </p:nvSpPr>
            <p:spPr>
              <a:xfrm>
                <a:off x="395287" y="1484312"/>
                <a:ext cx="8229600" cy="4526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r>
                  <a:rPr lang="pt-BR" sz="2000" dirty="0">
                    <a:solidFill>
                      <a:schemeClr val="dk1"/>
                    </a:solidFill>
                  </a:rPr>
                  <a:t>Em resumo, uma distribuição t possui 3 características e a seguinte fórmula:</a:t>
                </a: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2000" dirty="0">
                  <a:solidFill>
                    <a:schemeClr val="dk1"/>
                  </a:solidFill>
                </a:endParaRP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r>
                  <a:rPr lang="pt-BR" sz="2000" dirty="0">
                    <a:solidFill>
                      <a:schemeClr val="dk1"/>
                    </a:solidFill>
                  </a:rPr>
                  <a:t>a) possui caudas e altura maiores que a </a:t>
                </a:r>
                <a:r>
                  <a:rPr lang="pt-BR" sz="2000" dirty="0" err="1">
                    <a:solidFill>
                      <a:schemeClr val="dk1"/>
                    </a:solidFill>
                  </a:rPr>
                  <a:t>dist</a:t>
                </a:r>
                <a:r>
                  <a:rPr lang="pt-BR" sz="2000" dirty="0">
                    <a:solidFill>
                      <a:schemeClr val="dk1"/>
                    </a:solidFill>
                  </a:rPr>
                  <a:t>. normal</a:t>
                </a: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r>
                  <a:rPr lang="pt-BR" sz="2000" dirty="0">
                    <a:solidFill>
                      <a:schemeClr val="dk1"/>
                    </a:solidFill>
                  </a:rPr>
                  <a:t>b) cada evento é independente</a:t>
                </a: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r>
                  <a:rPr lang="pt-BR" sz="2000" dirty="0">
                    <a:solidFill>
                      <a:schemeClr val="dk1"/>
                    </a:solidFill>
                  </a:rPr>
                  <a:t>c) principal uso em testes de hipóteses</a:t>
                </a: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2000" dirty="0">
                  <a:solidFill>
                    <a:schemeClr val="dk1"/>
                  </a:solidFill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14:m>
                  <m:oMath xmlns:m="http://schemas.openxmlformats.org/officeDocument/2006/math">
                    <m:r>
                      <a:rPr lang="pt-BR" sz="20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pt-BR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pt-BR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̅"/>
                            <m:ctrlPr>
                              <a:rPr lang="pt-BR" sz="20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num>
                      <m:den>
                        <m:f>
                          <m:fPr>
                            <m:type m:val="skw"/>
                            <m:ctrlPr>
                              <a:rPr lang="pt-BR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 sz="20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pt-BR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pt-BR" sz="20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rad>
                          </m:den>
                        </m:f>
                      </m:den>
                    </m:f>
                  </m:oMath>
                </a14:m>
                <a:endParaRPr lang="pt-BR" sz="2000" dirty="0"/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2000" dirty="0">
                  <a:solidFill>
                    <a:schemeClr val="dk1"/>
                  </a:solidFill>
                </a:endParaRP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1800" dirty="0">
                  <a:solidFill>
                    <a:schemeClr val="dk1"/>
                  </a:solidFill>
                </a:endParaRP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2400" dirty="0">
                  <a:solidFill>
                    <a:schemeClr val="dk1"/>
                  </a:solidFill>
                </a:endParaRP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2400" dirty="0">
                  <a:solidFill>
                    <a:schemeClr val="dk1"/>
                  </a:solidFill>
                </a:endParaRP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2400" dirty="0">
                  <a:solidFill>
                    <a:schemeClr val="dk1"/>
                  </a:solidFill>
                </a:endParaRP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2400" dirty="0">
                  <a:solidFill>
                    <a:schemeClr val="dk1"/>
                  </a:solidFill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400" dirty="0">
                  <a:latin typeface="Arial" panose="020B0604020202020204" pitchFamily="34" charset="0"/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400" dirty="0">
                  <a:latin typeface="Arial" panose="020B0604020202020204" pitchFamily="34" charset="0"/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400" dirty="0">
                  <a:latin typeface="Arial" panose="020B0604020202020204" pitchFamily="34" charset="0"/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800" dirty="0"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13" name="Shape 4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287" y="1484312"/>
                <a:ext cx="8229600" cy="4526100"/>
              </a:xfrm>
              <a:prstGeom prst="rect">
                <a:avLst/>
              </a:prstGeom>
              <a:blipFill>
                <a:blip r:embed="rId3"/>
                <a:stretch>
                  <a:fillRect l="-741" t="-255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aixaDeTexto 3"/>
          <p:cNvSpPr txBox="1"/>
          <p:nvPr/>
        </p:nvSpPr>
        <p:spPr>
          <a:xfrm>
            <a:off x="-71717" y="6014471"/>
            <a:ext cx="69745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*Exemplo com números ver </a:t>
            </a:r>
            <a:r>
              <a:rPr lang="pt-BR" dirty="0" err="1"/>
              <a:t>excel</a:t>
            </a:r>
            <a:r>
              <a:rPr lang="pt-BR" dirty="0"/>
              <a:t>: distrib_prob_contínuas.xlsx, aba </a:t>
            </a:r>
            <a:r>
              <a:rPr lang="pt-BR" dirty="0" err="1"/>
              <a:t>dist_t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29660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/>
          <p:nvPr/>
        </p:nvSpPr>
        <p:spPr>
          <a:xfrm>
            <a:off x="457200" y="350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 err="1">
                <a:solidFill>
                  <a:schemeClr val="lt1"/>
                </a:solidFill>
              </a:rPr>
              <a:t>Distribuição</a:t>
            </a:r>
            <a:r>
              <a:rPr lang="en-US" sz="3000" b="1" dirty="0">
                <a:solidFill>
                  <a:schemeClr val="lt1"/>
                </a:solidFill>
              </a:rPr>
              <a:t> Qui-</a:t>
            </a:r>
            <a:r>
              <a:rPr lang="en-US" sz="3000" b="1" dirty="0" err="1">
                <a:solidFill>
                  <a:schemeClr val="lt1"/>
                </a:solidFill>
              </a:rPr>
              <a:t>Quadrado</a:t>
            </a:r>
            <a:endParaRPr dirty="0"/>
          </a:p>
        </p:txBody>
      </p:sp>
      <p:sp>
        <p:nvSpPr>
          <p:cNvPr id="413" name="Shape 413"/>
          <p:cNvSpPr/>
          <p:nvPr/>
        </p:nvSpPr>
        <p:spPr>
          <a:xfrm>
            <a:off x="395287" y="1484312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400" dirty="0">
                <a:solidFill>
                  <a:schemeClr val="dk1"/>
                </a:solidFill>
              </a:rPr>
              <a:t>A distribuição </a:t>
            </a:r>
            <a:r>
              <a:rPr lang="pt-BR" sz="2400" dirty="0" err="1">
                <a:solidFill>
                  <a:schemeClr val="dk1"/>
                </a:solidFill>
              </a:rPr>
              <a:t>Qui</a:t>
            </a:r>
            <a:r>
              <a:rPr lang="pt-BR" sz="2400" dirty="0">
                <a:solidFill>
                  <a:schemeClr val="dk1"/>
                </a:solidFill>
              </a:rPr>
              <a:t>-Quadrado possui importância na realização de testes de hipóteses.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400" dirty="0">
                <a:solidFill>
                  <a:schemeClr val="dk1"/>
                </a:solidFill>
              </a:rPr>
              <a:t>Possui diversas aplicações como testar se uma população A possui distribuição de renda similar a alguma distribuição esperada.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400" dirty="0">
                <a:solidFill>
                  <a:schemeClr val="dk1"/>
                </a:solidFill>
              </a:rPr>
              <a:t>Outro exemplo de uso seria verificar a associação entre dois grupos. Por exemplo, pode-se testar a aderência de homens e mulheres a cursos de tecnologia.</a:t>
            </a:r>
          </a:p>
          <a:p>
            <a:pPr marL="50800" lvl="0">
              <a:lnSpc>
                <a:spcPct val="115000"/>
              </a:lnSpc>
              <a:buSzPts val="2800"/>
            </a:pPr>
            <a:r>
              <a:rPr lang="pt-BR" sz="2400" dirty="0">
                <a:solidFill>
                  <a:schemeClr val="dk1"/>
                </a:solidFill>
              </a:rPr>
              <a:t> 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8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44393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/>
          <p:nvPr/>
        </p:nvSpPr>
        <p:spPr>
          <a:xfrm>
            <a:off x="457200" y="350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 err="1">
                <a:solidFill>
                  <a:schemeClr val="lt1"/>
                </a:solidFill>
              </a:rPr>
              <a:t>Distribuição</a:t>
            </a:r>
            <a:r>
              <a:rPr lang="en-US" sz="3000" b="1" dirty="0">
                <a:solidFill>
                  <a:schemeClr val="lt1"/>
                </a:solidFill>
              </a:rPr>
              <a:t> Qui-</a:t>
            </a:r>
            <a:r>
              <a:rPr lang="en-US" sz="3000" b="1" dirty="0" err="1">
                <a:solidFill>
                  <a:schemeClr val="lt1"/>
                </a:solidFill>
              </a:rPr>
              <a:t>Quadrado</a:t>
            </a:r>
            <a:endParaRPr dirty="0"/>
          </a:p>
        </p:txBody>
      </p:sp>
      <p:sp>
        <p:nvSpPr>
          <p:cNvPr id="413" name="Shape 413"/>
          <p:cNvSpPr/>
          <p:nvPr/>
        </p:nvSpPr>
        <p:spPr>
          <a:xfrm>
            <a:off x="395287" y="1484312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000" dirty="0">
                <a:solidFill>
                  <a:schemeClr val="dk1"/>
                </a:solidFill>
              </a:rPr>
              <a:t>A distribuição </a:t>
            </a:r>
            <a:r>
              <a:rPr lang="pt-BR" sz="2000" dirty="0" err="1">
                <a:solidFill>
                  <a:schemeClr val="dk1"/>
                </a:solidFill>
              </a:rPr>
              <a:t>Qui</a:t>
            </a:r>
            <a:r>
              <a:rPr lang="pt-BR" sz="2000" dirty="0">
                <a:solidFill>
                  <a:schemeClr val="dk1"/>
                </a:solidFill>
              </a:rPr>
              <a:t>-Quadrado é assimétrica. 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000" dirty="0">
                <a:solidFill>
                  <a:schemeClr val="dk1"/>
                </a:solidFill>
              </a:rPr>
              <a:t>Somente assume valores positivos.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800" dirty="0">
              <a:latin typeface="Arial" panose="020B0604020202020204" pitchFamily="34" charset="0"/>
            </a:endParaRPr>
          </a:p>
        </p:txBody>
      </p:sp>
      <p:pic>
        <p:nvPicPr>
          <p:cNvPr id="5122" name="Picture 2" descr="Imagem relacionad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8776" y="2496518"/>
            <a:ext cx="4437529" cy="3335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40123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/>
          <p:nvPr/>
        </p:nvSpPr>
        <p:spPr>
          <a:xfrm>
            <a:off x="457200" y="350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 err="1">
                <a:solidFill>
                  <a:schemeClr val="lt1"/>
                </a:solidFill>
              </a:rPr>
              <a:t>Distribuição</a:t>
            </a:r>
            <a:r>
              <a:rPr lang="en-US" sz="3000" b="1" dirty="0">
                <a:solidFill>
                  <a:schemeClr val="lt1"/>
                </a:solidFill>
              </a:rPr>
              <a:t> Qui-</a:t>
            </a:r>
            <a:r>
              <a:rPr lang="en-US" sz="3000" b="1" dirty="0" err="1">
                <a:solidFill>
                  <a:schemeClr val="lt1"/>
                </a:solidFill>
              </a:rPr>
              <a:t>Quadrado</a:t>
            </a:r>
            <a:r>
              <a:rPr lang="en-US" sz="3000" b="1" dirty="0">
                <a:solidFill>
                  <a:schemeClr val="lt1"/>
                </a:solidFill>
              </a:rPr>
              <a:t>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>
                <a:solidFill>
                  <a:schemeClr val="lt1"/>
                </a:solidFill>
              </a:rPr>
              <a:t>(</a:t>
            </a:r>
            <a:r>
              <a:rPr lang="en-US" sz="3000" b="1" dirty="0" err="1">
                <a:solidFill>
                  <a:schemeClr val="lt1"/>
                </a:solidFill>
              </a:rPr>
              <a:t>resumo</a:t>
            </a:r>
            <a:r>
              <a:rPr lang="en-US" sz="3000" b="1" dirty="0">
                <a:solidFill>
                  <a:schemeClr val="lt1"/>
                </a:solidFill>
              </a:rPr>
              <a:t>)</a:t>
            </a:r>
            <a:endParaRPr dirty="0"/>
          </a:p>
        </p:txBody>
      </p:sp>
      <p:sp>
        <p:nvSpPr>
          <p:cNvPr id="413" name="Shape 413"/>
          <p:cNvSpPr/>
          <p:nvPr/>
        </p:nvSpPr>
        <p:spPr>
          <a:xfrm>
            <a:off x="395287" y="1484312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000" dirty="0">
                <a:solidFill>
                  <a:schemeClr val="dk1"/>
                </a:solidFill>
              </a:rPr>
              <a:t>Em resumo, uma distribuição </a:t>
            </a:r>
            <a:r>
              <a:rPr lang="pt-BR" sz="2000" dirty="0" err="1">
                <a:solidFill>
                  <a:schemeClr val="dk1"/>
                </a:solidFill>
              </a:rPr>
              <a:t>Qui</a:t>
            </a:r>
            <a:r>
              <a:rPr lang="pt-BR" sz="2000" dirty="0">
                <a:solidFill>
                  <a:schemeClr val="dk1"/>
                </a:solidFill>
              </a:rPr>
              <a:t>-Quadrado possui 3 características e a seguinte fórmula: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0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000" dirty="0">
                <a:solidFill>
                  <a:schemeClr val="dk1"/>
                </a:solidFill>
              </a:rPr>
              <a:t>a) assume somente valores positivos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000" dirty="0">
                <a:solidFill>
                  <a:schemeClr val="dk1"/>
                </a:solidFill>
              </a:rPr>
              <a:t>b) Tende a ser assimétrica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000" dirty="0">
                <a:solidFill>
                  <a:schemeClr val="dk1"/>
                </a:solidFill>
              </a:rPr>
              <a:t>c) principal uso em testes de hipóteses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000" dirty="0">
              <a:solidFill>
                <a:schemeClr val="dk1"/>
              </a:solidFill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000" dirty="0"/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0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18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800" dirty="0">
              <a:latin typeface="Arial" panose="020B0604020202020204" pitchFamily="34" charset="0"/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-71717" y="6014471"/>
            <a:ext cx="69745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*Exemplo com números ver </a:t>
            </a:r>
            <a:r>
              <a:rPr lang="pt-BR" dirty="0" err="1"/>
              <a:t>excel</a:t>
            </a:r>
            <a:r>
              <a:rPr lang="pt-BR" dirty="0"/>
              <a:t>: distrib_prob_contínuas.xlsx, aba </a:t>
            </a:r>
            <a:r>
              <a:rPr lang="pt-BR" dirty="0" err="1"/>
              <a:t>dist_quiquadrado</a:t>
            </a:r>
            <a:endParaRPr lang="pt-BR" dirty="0"/>
          </a:p>
          <a:p>
            <a:endParaRPr lang="pt-BR" dirty="0"/>
          </a:p>
        </p:txBody>
      </p:sp>
      <p:pic>
        <p:nvPicPr>
          <p:cNvPr id="7170" name="Picture 2" descr="Resultado de imagem para distribuiÃ§Ã£o Qui quadrado formul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5152" y="4188759"/>
            <a:ext cx="2004919" cy="1355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23578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/>
          <p:nvPr/>
        </p:nvSpPr>
        <p:spPr>
          <a:xfrm>
            <a:off x="457200" y="350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 err="1">
                <a:solidFill>
                  <a:schemeClr val="lt1"/>
                </a:solidFill>
              </a:rPr>
              <a:t>Distribuição</a:t>
            </a:r>
            <a:r>
              <a:rPr lang="en-US" sz="3000" b="1" dirty="0">
                <a:solidFill>
                  <a:schemeClr val="lt1"/>
                </a:solidFill>
              </a:rPr>
              <a:t> F</a:t>
            </a:r>
            <a:endParaRPr dirty="0"/>
          </a:p>
        </p:txBody>
      </p:sp>
      <p:sp>
        <p:nvSpPr>
          <p:cNvPr id="413" name="Shape 413"/>
          <p:cNvSpPr/>
          <p:nvPr/>
        </p:nvSpPr>
        <p:spPr>
          <a:xfrm>
            <a:off x="395287" y="1484312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400" dirty="0">
                <a:solidFill>
                  <a:schemeClr val="dk1"/>
                </a:solidFill>
              </a:rPr>
              <a:t>A distribuição F possui importância na realização de testes de hipóteses.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400" dirty="0">
                <a:solidFill>
                  <a:schemeClr val="dk1"/>
                </a:solidFill>
              </a:rPr>
              <a:t>Ela é gerada pelo quociente entre duas variáveis.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400" dirty="0">
                <a:solidFill>
                  <a:schemeClr val="dk1"/>
                </a:solidFill>
              </a:rPr>
              <a:t>Possui aplicações em diversos modelos estatísticos como regressão linear e ANOVA (</a:t>
            </a:r>
            <a:r>
              <a:rPr lang="pt-BR" sz="2400" i="1" dirty="0" err="1">
                <a:solidFill>
                  <a:schemeClr val="dk1"/>
                </a:solidFill>
              </a:rPr>
              <a:t>Analysis</a:t>
            </a:r>
            <a:r>
              <a:rPr lang="pt-BR" sz="2400" i="1" dirty="0">
                <a:solidFill>
                  <a:schemeClr val="dk1"/>
                </a:solidFill>
              </a:rPr>
              <a:t> </a:t>
            </a:r>
            <a:r>
              <a:rPr lang="pt-BR" sz="2400" i="1" dirty="0" err="1">
                <a:solidFill>
                  <a:schemeClr val="dk1"/>
                </a:solidFill>
              </a:rPr>
              <a:t>of</a:t>
            </a:r>
            <a:r>
              <a:rPr lang="pt-BR" sz="2400" i="1" dirty="0">
                <a:solidFill>
                  <a:schemeClr val="dk1"/>
                </a:solidFill>
              </a:rPr>
              <a:t> </a:t>
            </a:r>
            <a:r>
              <a:rPr lang="pt-BR" sz="2400" i="1" dirty="0" err="1">
                <a:solidFill>
                  <a:schemeClr val="dk1"/>
                </a:solidFill>
              </a:rPr>
              <a:t>Variance</a:t>
            </a:r>
            <a:r>
              <a:rPr lang="pt-BR" sz="2400" dirty="0">
                <a:solidFill>
                  <a:schemeClr val="dk1"/>
                </a:solidFill>
              </a:rPr>
              <a:t>).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8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34330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/>
          <p:nvPr/>
        </p:nvSpPr>
        <p:spPr>
          <a:xfrm>
            <a:off x="457200" y="350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 err="1">
                <a:solidFill>
                  <a:schemeClr val="lt1"/>
                </a:solidFill>
              </a:rPr>
              <a:t>Distribuição</a:t>
            </a:r>
            <a:r>
              <a:rPr lang="en-US" sz="3000" b="1" dirty="0">
                <a:solidFill>
                  <a:schemeClr val="lt1"/>
                </a:solidFill>
              </a:rPr>
              <a:t> F</a:t>
            </a:r>
            <a:endParaRPr dirty="0"/>
          </a:p>
        </p:txBody>
      </p:sp>
      <p:sp>
        <p:nvSpPr>
          <p:cNvPr id="413" name="Shape 413"/>
          <p:cNvSpPr/>
          <p:nvPr/>
        </p:nvSpPr>
        <p:spPr>
          <a:xfrm>
            <a:off x="395287" y="1484312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000" dirty="0">
                <a:solidFill>
                  <a:schemeClr val="dk1"/>
                </a:solidFill>
              </a:rPr>
              <a:t>A distribuição F é assimétrica. 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000" dirty="0">
                <a:solidFill>
                  <a:schemeClr val="dk1"/>
                </a:solidFill>
              </a:rPr>
              <a:t>Somente assume valores positivos.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800" dirty="0">
              <a:latin typeface="Arial" panose="020B0604020202020204" pitchFamily="34" charset="0"/>
            </a:endParaRPr>
          </a:p>
        </p:txBody>
      </p:sp>
      <p:pic>
        <p:nvPicPr>
          <p:cNvPr id="8194" name="Picture 2" descr="Resultado de imagem para distribuiÃ§Ã£o F formul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2518" y="2383582"/>
            <a:ext cx="3949326" cy="3752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36727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/>
          <p:nvPr/>
        </p:nvSpPr>
        <p:spPr>
          <a:xfrm>
            <a:off x="457200" y="350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 err="1">
                <a:solidFill>
                  <a:schemeClr val="lt1"/>
                </a:solidFill>
              </a:rPr>
              <a:t>Distribuição</a:t>
            </a:r>
            <a:r>
              <a:rPr lang="en-US" sz="3000" b="1" dirty="0">
                <a:solidFill>
                  <a:schemeClr val="lt1"/>
                </a:solidFill>
              </a:rPr>
              <a:t> Qui-</a:t>
            </a:r>
            <a:r>
              <a:rPr lang="en-US" sz="3000" b="1" dirty="0" err="1">
                <a:solidFill>
                  <a:schemeClr val="lt1"/>
                </a:solidFill>
              </a:rPr>
              <a:t>Quadrado</a:t>
            </a:r>
            <a:r>
              <a:rPr lang="en-US" sz="3000" b="1" dirty="0">
                <a:solidFill>
                  <a:schemeClr val="lt1"/>
                </a:solidFill>
              </a:rPr>
              <a:t>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>
                <a:solidFill>
                  <a:schemeClr val="lt1"/>
                </a:solidFill>
              </a:rPr>
              <a:t>(</a:t>
            </a:r>
            <a:r>
              <a:rPr lang="en-US" sz="3000" b="1" dirty="0" err="1">
                <a:solidFill>
                  <a:schemeClr val="lt1"/>
                </a:solidFill>
              </a:rPr>
              <a:t>resumo</a:t>
            </a:r>
            <a:r>
              <a:rPr lang="en-US" sz="3000" b="1" dirty="0">
                <a:solidFill>
                  <a:schemeClr val="lt1"/>
                </a:solidFill>
              </a:rPr>
              <a:t>)</a:t>
            </a:r>
            <a:endParaRPr dirty="0"/>
          </a:p>
        </p:txBody>
      </p:sp>
      <p:sp>
        <p:nvSpPr>
          <p:cNvPr id="413" name="Shape 413"/>
          <p:cNvSpPr/>
          <p:nvPr/>
        </p:nvSpPr>
        <p:spPr>
          <a:xfrm>
            <a:off x="395287" y="1484312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000" dirty="0">
                <a:solidFill>
                  <a:schemeClr val="dk1"/>
                </a:solidFill>
              </a:rPr>
              <a:t>Em resumo, uma distribuição F possui 3 características e a seguinte fórmula: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0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000" dirty="0">
                <a:solidFill>
                  <a:schemeClr val="dk1"/>
                </a:solidFill>
              </a:rPr>
              <a:t>a) assume somente valores positivos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000" dirty="0">
                <a:solidFill>
                  <a:schemeClr val="dk1"/>
                </a:solidFill>
              </a:rPr>
              <a:t>b) Tende a ser assimétrica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000" dirty="0">
                <a:solidFill>
                  <a:schemeClr val="dk1"/>
                </a:solidFill>
              </a:rPr>
              <a:t>c) principal uso em testes de hipóteses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000" dirty="0">
              <a:solidFill>
                <a:schemeClr val="dk1"/>
              </a:solidFill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000" dirty="0"/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0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18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800" dirty="0">
              <a:latin typeface="Arial" panose="020B0604020202020204" pitchFamily="34" charset="0"/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-71717" y="6014471"/>
            <a:ext cx="69745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*Exemplo com números ver </a:t>
            </a:r>
            <a:r>
              <a:rPr lang="pt-BR" dirty="0" err="1"/>
              <a:t>excel</a:t>
            </a:r>
            <a:r>
              <a:rPr lang="pt-BR" dirty="0"/>
              <a:t>: distrib_prob_contínuas.xlsx, aba </a:t>
            </a:r>
            <a:r>
              <a:rPr lang="pt-BR" dirty="0" err="1"/>
              <a:t>dist_f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594208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/>
          <p:nvPr/>
        </p:nvSpPr>
        <p:spPr>
          <a:xfrm>
            <a:off x="457200" y="350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Tx/>
              <a:buFont typeface="Arial"/>
              <a:buNone/>
              <a:tabLst/>
              <a:defRPr/>
            </a:pPr>
            <a:r>
              <a:rPr kumimoji="0" lang="en-US" sz="3000" b="1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Problema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13" name="Shape 413"/>
          <p:cNvSpPr/>
          <p:nvPr/>
        </p:nvSpPr>
        <p:spPr>
          <a:xfrm>
            <a:off x="395287" y="1484312"/>
            <a:ext cx="4553231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064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  <a:tabLst/>
              <a:defRPr/>
            </a:pPr>
            <a:endParaRPr lang="pt-BR" altLang="pt-BR" sz="1600" dirty="0">
              <a:latin typeface="Arial" panose="020B0604020202020204" pitchFamily="34" charset="0"/>
            </a:endParaRPr>
          </a:p>
          <a:p>
            <a:pPr marL="457200" marR="0" lvl="0" indent="-4064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  <a:tabLst/>
              <a:defRPr/>
            </a:pPr>
            <a:endParaRPr lang="pt-BR" altLang="pt-BR" sz="1600" dirty="0">
              <a:latin typeface="Arial" panose="020B0604020202020204" pitchFamily="34" charset="0"/>
            </a:endParaRPr>
          </a:p>
          <a:p>
            <a:pPr marL="457200" marR="0" lvl="0" indent="-4064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  <a:tabLst/>
              <a:defRPr/>
            </a:pPr>
            <a:r>
              <a:rPr lang="pt-BR" altLang="pt-BR" sz="1600" dirty="0">
                <a:latin typeface="Arial" panose="020B0604020202020204" pitchFamily="34" charset="0"/>
              </a:rPr>
              <a:t>Projeção de vendas é uma das atividades cruciais no mundo dos negócios</a:t>
            </a:r>
            <a:r>
              <a:rPr kumimoji="0" lang="pt-BR" altLang="pt-B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/>
                <a:sym typeface="Arial"/>
              </a:rPr>
              <a:t>.</a:t>
            </a:r>
          </a:p>
          <a:p>
            <a:pPr marL="457200" marR="0" lvl="0" indent="-4064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  <a:tabLst/>
              <a:defRPr/>
            </a:pPr>
            <a:r>
              <a:rPr kumimoji="0" lang="pt-BR" altLang="pt-B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/>
                <a:sym typeface="Arial"/>
              </a:rPr>
              <a:t>Por meio das projeções,</a:t>
            </a:r>
            <a:r>
              <a:rPr kumimoji="0" lang="pt-BR" altLang="pt-BR" sz="1600" b="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/>
                <a:sym typeface="Arial"/>
              </a:rPr>
              <a:t> indústria e varejistas podem definir ofertas, promoções e definição de preços</a:t>
            </a:r>
            <a:r>
              <a:rPr kumimoji="0" lang="pt-BR" altLang="pt-B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/>
                <a:sym typeface="Arial"/>
              </a:rPr>
              <a:t>.</a:t>
            </a:r>
          </a:p>
          <a:p>
            <a:pPr marL="457200" marR="0" lvl="0" indent="-4064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  <a:tabLst/>
              <a:defRPr/>
            </a:pPr>
            <a:r>
              <a:rPr kumimoji="0" lang="pt-BR" altLang="pt-B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/>
                <a:sym typeface="Arial"/>
              </a:rPr>
              <a:t>Como as distribuições</a:t>
            </a:r>
            <a:r>
              <a:rPr kumimoji="0" lang="pt-BR" altLang="pt-BR" sz="1600" b="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/>
                <a:sym typeface="Arial"/>
              </a:rPr>
              <a:t> de probabilidade podem auxiliar nesta atividade?</a:t>
            </a:r>
            <a:endParaRPr kumimoji="0" lang="pt-BR" altLang="pt-BR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/>
              <a:sym typeface="Arial"/>
            </a:endParaRPr>
          </a:p>
          <a:p>
            <a:pPr marL="457200" marR="0" lvl="0" indent="-4064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  <a:tabLst/>
              <a:defRPr/>
            </a:pPr>
            <a:endParaRPr kumimoji="0" lang="pt-BR" altLang="pt-BR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/>
              <a:sym typeface="Arial"/>
            </a:endParaRPr>
          </a:p>
          <a:p>
            <a:pPr marL="457200" marR="0" lvl="0" indent="-4064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  <a:tabLst/>
              <a:defRPr/>
            </a:pPr>
            <a:endParaRPr kumimoji="0" lang="pt-BR" altLang="pt-BR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/>
              <a:sym typeface="Arial"/>
            </a:endParaRPr>
          </a:p>
          <a:p>
            <a:pPr marL="457200" marR="0" lvl="0" indent="-4064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  <a:tabLst/>
              <a:defRPr/>
            </a:pPr>
            <a:endParaRPr kumimoji="0" lang="pt-BR" altLang="pt-BR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/>
              <a:sym typeface="Arial"/>
            </a:endParaRPr>
          </a:p>
          <a:p>
            <a:pPr marL="457200" marR="0" lvl="0" indent="-4064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  <a:tabLst/>
              <a:defRPr/>
            </a:pPr>
            <a:endParaRPr kumimoji="0" lang="pt-BR" altLang="pt-BR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/>
              <a:sym typeface="Arial"/>
            </a:endParaRPr>
          </a:p>
          <a:p>
            <a:pPr marL="457200" marR="0" lvl="0" indent="-4064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  <a:tabLst/>
              <a:defRPr/>
            </a:pPr>
            <a:endParaRPr kumimoji="0" lang="pt-BR" altLang="pt-BR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/>
              <a:sym typeface="Arial"/>
            </a:endParaRPr>
          </a:p>
          <a:p>
            <a:pPr marL="457200" marR="0" lvl="0" indent="-4064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  <a:tabLst/>
              <a:defRPr/>
            </a:pPr>
            <a:endParaRPr kumimoji="0" lang="pt-BR" altLang="pt-BR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/>
              <a:sym typeface="Arial"/>
            </a:endParaRPr>
          </a:p>
          <a:p>
            <a:pPr marL="457200" marR="0" lvl="0" indent="-4064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  <a:tabLst/>
              <a:defRPr/>
            </a:pPr>
            <a:endParaRPr kumimoji="0" lang="pt-BR" altLang="pt-BR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/>
              <a:sym typeface="Arial"/>
            </a:endParaRPr>
          </a:p>
          <a:p>
            <a:pPr marL="457200" marR="0" lvl="0" indent="-4064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  <a:tabLst/>
              <a:defRPr/>
            </a:pPr>
            <a:endParaRPr kumimoji="0" lang="pt-BR" altLang="pt-BR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/>
              <a:sym typeface="Arial"/>
            </a:endParaRPr>
          </a:p>
          <a:p>
            <a:pPr marL="508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tabLst/>
              <a:defRPr/>
            </a:pPr>
            <a:endParaRPr kumimoji="0" lang="pt-BR" altLang="pt-B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/>
              <a:sym typeface="Arial"/>
            </a:endParaRPr>
          </a:p>
          <a:p>
            <a:pPr marL="457200" marR="0" lvl="0" indent="-4064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  <a:tabLst/>
              <a:defRPr/>
            </a:pPr>
            <a:endParaRPr kumimoji="0" lang="pt-BR" altLang="pt-BR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/>
              <a:sym typeface="Arial"/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1129553" y="4732994"/>
            <a:ext cx="7467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Qual a </a:t>
            </a:r>
            <a:r>
              <a:rPr lang="pt-BR" sz="2800" b="1" dirty="0"/>
              <a:t>probabilidade das vendas ocorrerem acima da meta</a:t>
            </a:r>
            <a:r>
              <a:rPr kumimoji="0" lang="pt-BR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?</a:t>
            </a:r>
          </a:p>
        </p:txBody>
      </p:sp>
      <p:pic>
        <p:nvPicPr>
          <p:cNvPr id="10242" name="Picture 2" descr="Resultado de imagem para sales forecas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8518" y="2093586"/>
            <a:ext cx="3921444" cy="2236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08882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/>
          <p:nvPr/>
        </p:nvSpPr>
        <p:spPr>
          <a:xfrm>
            <a:off x="457200" y="350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 err="1">
                <a:solidFill>
                  <a:schemeClr val="lt1"/>
                </a:solidFill>
              </a:rPr>
              <a:t>Problemas</a:t>
            </a:r>
            <a:endParaRPr dirty="0"/>
          </a:p>
        </p:txBody>
      </p:sp>
      <p:sp>
        <p:nvSpPr>
          <p:cNvPr id="413" name="Shape 413"/>
          <p:cNvSpPr/>
          <p:nvPr/>
        </p:nvSpPr>
        <p:spPr>
          <a:xfrm>
            <a:off x="395287" y="1484312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000" b="1" dirty="0"/>
              <a:t>Qual a probabilidade das vendas ocorrem acima da meta? (Vamos considerar que em média a empresa vende 50 unidades por semana com desvio padrão de 10 unidades.)</a:t>
            </a:r>
          </a:p>
          <a:p>
            <a:pPr marL="50800">
              <a:lnSpc>
                <a:spcPct val="115000"/>
              </a:lnSpc>
              <a:buSzPts val="2800"/>
            </a:pPr>
            <a:endParaRPr lang="pt-BR" altLang="pt-BR" sz="20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altLang="pt-BR" sz="2000" dirty="0">
                <a:latin typeface="Arial" panose="020B0604020202020204" pitchFamily="34" charset="0"/>
              </a:rPr>
              <a:t>Qual a distribuição de probabilidade você assumiria para resolver este problema?</a:t>
            </a: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0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altLang="pt-BR" sz="2000" dirty="0">
                <a:latin typeface="Arial" panose="020B0604020202020204" pitchFamily="34" charset="0"/>
              </a:rPr>
              <a:t>Qual a probabilidade da empresa vender entre 30 e 45 unidades?</a:t>
            </a: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0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altLang="pt-BR" sz="2000" dirty="0">
                <a:latin typeface="Arial" panose="020B0604020202020204" pitchFamily="34" charset="0"/>
              </a:rPr>
              <a:t>O Marketing definiu uma meta de vendas para a semana de 85 unidades. Qual a probabilidade desta meta ser atingida?</a:t>
            </a: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0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0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0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0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0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0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0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8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02489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/>
          <p:nvPr/>
        </p:nvSpPr>
        <p:spPr>
          <a:xfrm>
            <a:off x="457200" y="350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 err="1">
                <a:solidFill>
                  <a:schemeClr val="lt1"/>
                </a:solidFill>
              </a:rPr>
              <a:t>Problemas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3" name="Shape 413"/>
              <p:cNvSpPr/>
              <p:nvPr/>
            </p:nvSpPr>
            <p:spPr>
              <a:xfrm>
                <a:off x="395287" y="1484312"/>
                <a:ext cx="8229600" cy="4526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r>
                  <a:rPr lang="pt-BR" altLang="pt-BR" sz="2000" dirty="0">
                    <a:latin typeface="Arial" panose="020B0604020202020204" pitchFamily="34" charset="0"/>
                  </a:rPr>
                  <a:t>Qual a probabilidade da empresa vender entre 30 e 45 unidades?</a:t>
                </a: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000" dirty="0">
                  <a:latin typeface="Arial" panose="020B0604020202020204" pitchFamily="34" charset="0"/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r>
                  <a:rPr lang="pt-BR" altLang="pt-BR" sz="2000" dirty="0">
                    <a:latin typeface="Arial" panose="020B0604020202020204" pitchFamily="34" charset="0"/>
                  </a:rPr>
                  <a:t>Adotamos uma distribuição normal e fazemos o seguinte:</a:t>
                </a: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r>
                  <a:rPr lang="pt-BR" altLang="pt-BR" sz="2000" dirty="0">
                    <a:latin typeface="Arial" panose="020B0604020202020204" pitchFamily="34" charset="0"/>
                  </a:rPr>
                  <a:t>Primeiro calculamos a probabilidade até 45 unidades:</a:t>
                </a: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14:m>
                  <m:oMath xmlns:m="http://schemas.openxmlformats.org/officeDocument/2006/math">
                    <m:r>
                      <a:rPr lang="pt-BR" sz="20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000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pt-BR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pt-B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45</m:t>
                        </m:r>
                      </m:e>
                    </m:d>
                    <m:r>
                      <a:rPr lang="pt-BR" sz="2000" b="0" i="1" smtClean="0">
                        <a:latin typeface="Cambria Math" panose="02040503050406030204" pitchFamily="18" charset="0"/>
                      </a:rPr>
                      <m:t>=30,85%</m:t>
                    </m:r>
                  </m:oMath>
                </a14:m>
                <a:endParaRPr lang="pt-BR" altLang="pt-BR" sz="2000" dirty="0">
                  <a:latin typeface="Arial" panose="020B0604020202020204" pitchFamily="34" charset="0"/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r>
                  <a:rPr lang="pt-BR" altLang="pt-BR" sz="2000" dirty="0">
                    <a:latin typeface="Arial" panose="020B0604020202020204" pitchFamily="34" charset="0"/>
                  </a:rPr>
                  <a:t>Depois calculamos a probabilidade até 30 unidades:</a:t>
                </a: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14:m>
                  <m:oMath xmlns:m="http://schemas.openxmlformats.org/officeDocument/2006/math">
                    <m:r>
                      <a:rPr lang="pt-BR" sz="20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000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pt-B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pt-B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30</m:t>
                        </m:r>
                      </m:e>
                    </m:d>
                    <m:r>
                      <a:rPr lang="pt-BR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0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pt-BR" sz="20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sz="20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pt-BR" sz="2000" i="1">
                        <a:latin typeface="Cambria Math" panose="02040503050406030204" pitchFamily="18" charset="0"/>
                      </a:rPr>
                      <m:t>8%</m:t>
                    </m:r>
                  </m:oMath>
                </a14:m>
                <a:endParaRPr lang="pt-BR" altLang="pt-BR" sz="2000" dirty="0">
                  <a:latin typeface="Arial" panose="020B0604020202020204" pitchFamily="34" charset="0"/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r>
                  <a:rPr lang="pt-BR" altLang="pt-BR" sz="2000" dirty="0">
                    <a:latin typeface="Arial" panose="020B0604020202020204" pitchFamily="34" charset="0"/>
                  </a:rPr>
                  <a:t>Finalmente fazemos a diferença para obter a probabilidade:</a:t>
                </a: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14:m>
                  <m:oMath xmlns:m="http://schemas.openxmlformats.org/officeDocument/2006/math">
                    <m:r>
                      <a:rPr lang="pt-BR" sz="20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000" b="0" i="1" smtClean="0">
                            <a:latin typeface="Cambria Math" panose="02040503050406030204" pitchFamily="18" charset="0"/>
                          </a:rPr>
                          <m:t>30</m:t>
                        </m:r>
                        <m:r>
                          <a:rPr lang="pt-B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pt-BR" sz="2000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pt-B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≤45</m:t>
                        </m:r>
                      </m:e>
                    </m:d>
                    <m:r>
                      <a:rPr lang="pt-B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=30,85%−2,28%=28,58%</m:t>
                    </m:r>
                  </m:oMath>
                </a14:m>
                <a:endParaRPr lang="pt-BR" altLang="pt-BR" sz="2000" dirty="0">
                  <a:latin typeface="Arial" panose="020B0604020202020204" pitchFamily="34" charset="0"/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000" dirty="0">
                  <a:latin typeface="Arial" panose="020B0604020202020204" pitchFamily="34" charset="0"/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000" dirty="0">
                  <a:latin typeface="Arial" panose="020B0604020202020204" pitchFamily="34" charset="0"/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000" dirty="0">
                  <a:latin typeface="Arial" panose="020B0604020202020204" pitchFamily="34" charset="0"/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000" dirty="0">
                  <a:latin typeface="Arial" panose="020B0604020202020204" pitchFamily="34" charset="0"/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000" dirty="0">
                  <a:latin typeface="Arial" panose="020B0604020202020204" pitchFamily="34" charset="0"/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000" dirty="0">
                  <a:latin typeface="Arial" panose="020B0604020202020204" pitchFamily="34" charset="0"/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000" dirty="0">
                  <a:latin typeface="Arial" panose="020B0604020202020204" pitchFamily="34" charset="0"/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000" dirty="0">
                  <a:latin typeface="Arial" panose="020B0604020202020204" pitchFamily="34" charset="0"/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000" dirty="0">
                  <a:latin typeface="Arial" panose="020B0604020202020204" pitchFamily="34" charset="0"/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000" dirty="0">
                  <a:latin typeface="Arial" panose="020B0604020202020204" pitchFamily="34" charset="0"/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400" dirty="0">
                  <a:latin typeface="Arial" panose="020B0604020202020204" pitchFamily="34" charset="0"/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800" dirty="0"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13" name="Shape 4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287" y="1484312"/>
                <a:ext cx="8229600" cy="4526100"/>
              </a:xfrm>
              <a:prstGeom prst="rect">
                <a:avLst/>
              </a:prstGeom>
              <a:blipFill>
                <a:blip r:embed="rId3"/>
                <a:stretch>
                  <a:fillRect l="-741" t="-255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aixaDeTexto 3"/>
          <p:cNvSpPr txBox="1"/>
          <p:nvPr/>
        </p:nvSpPr>
        <p:spPr>
          <a:xfrm>
            <a:off x="-71717" y="6014471"/>
            <a:ext cx="68311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00B0F0"/>
                </a:solidFill>
              </a:rPr>
              <a:t>*Resposta no </a:t>
            </a:r>
            <a:r>
              <a:rPr lang="pt-BR" dirty="0" err="1">
                <a:solidFill>
                  <a:srgbClr val="00B0F0"/>
                </a:solidFill>
              </a:rPr>
              <a:t>excel</a:t>
            </a:r>
            <a:r>
              <a:rPr lang="pt-BR" dirty="0">
                <a:solidFill>
                  <a:srgbClr val="00B0F0"/>
                </a:solidFill>
              </a:rPr>
              <a:t>: distrib_prob_continuas.xlsx, aba </a:t>
            </a:r>
            <a:r>
              <a:rPr lang="pt-BR" dirty="0" err="1">
                <a:solidFill>
                  <a:srgbClr val="00B0F0"/>
                </a:solidFill>
              </a:rPr>
              <a:t>problema_resolvido</a:t>
            </a:r>
            <a:endParaRPr lang="pt-BR" dirty="0">
              <a:solidFill>
                <a:srgbClr val="00B0F0"/>
              </a:solidFill>
            </a:endParaRPr>
          </a:p>
          <a:p>
            <a:endParaRPr lang="pt-BR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4582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/>
          <p:nvPr/>
        </p:nvSpPr>
        <p:spPr>
          <a:xfrm>
            <a:off x="457200" y="350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 err="1">
                <a:solidFill>
                  <a:schemeClr val="lt1"/>
                </a:solidFill>
              </a:rPr>
              <a:t>Problemas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3" name="Shape 413"/>
              <p:cNvSpPr/>
              <p:nvPr/>
            </p:nvSpPr>
            <p:spPr>
              <a:xfrm>
                <a:off x="395287" y="1484312"/>
                <a:ext cx="8229600" cy="4526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r>
                  <a:rPr lang="pt-BR" altLang="pt-BR" sz="2000" dirty="0">
                    <a:latin typeface="Arial" panose="020B0604020202020204" pitchFamily="34" charset="0"/>
                  </a:rPr>
                  <a:t>O Marketing definiu uma meta de vendas para a semana de 85 unidades. Qual a probabilidade desta meta ser atingida?</a:t>
                </a: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000" dirty="0">
                  <a:latin typeface="Arial" panose="020B0604020202020204" pitchFamily="34" charset="0"/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r>
                  <a:rPr lang="pt-BR" altLang="pt-BR" sz="2000" dirty="0">
                    <a:latin typeface="Arial" panose="020B0604020202020204" pitchFamily="34" charset="0"/>
                  </a:rPr>
                  <a:t>Adotamos uma distribuição normal e fazemos o seguinte:</a:t>
                </a: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r>
                  <a:rPr lang="pt-BR" altLang="pt-BR" sz="2000" dirty="0">
                    <a:latin typeface="Arial" panose="020B0604020202020204" pitchFamily="34" charset="0"/>
                  </a:rPr>
                  <a:t>Primeiro calculamos a probabilidade até 85 unidades, depois subtraímos 1 – probabilidade.</a:t>
                </a: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14:m>
                  <m:oMath xmlns:m="http://schemas.openxmlformats.org/officeDocument/2006/math">
                    <m:r>
                      <a:rPr lang="pt-BR" sz="20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000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pt-B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</m:t>
                        </m:r>
                        <m:r>
                          <a:rPr lang="pt-B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85</m:t>
                        </m:r>
                      </m:e>
                    </m:d>
                    <m:r>
                      <a:rPr lang="pt-B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=1−</m:t>
                    </m:r>
                    <m:r>
                      <a:rPr lang="pt-BR" sz="20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000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pt-B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pt-B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85</m:t>
                        </m:r>
                      </m:e>
                    </m:d>
                    <m:r>
                      <a:rPr lang="pt-B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=0,0233%</m:t>
                    </m:r>
                  </m:oMath>
                </a14:m>
                <a:endParaRPr lang="pt-BR" altLang="pt-BR" sz="2000" dirty="0">
                  <a:latin typeface="Arial" panose="020B0604020202020204" pitchFamily="34" charset="0"/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000" dirty="0">
                  <a:latin typeface="Arial" panose="020B0604020202020204" pitchFamily="34" charset="0"/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000" dirty="0">
                  <a:latin typeface="Arial" panose="020B0604020202020204" pitchFamily="34" charset="0"/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000" dirty="0">
                  <a:latin typeface="Arial" panose="020B0604020202020204" pitchFamily="34" charset="0"/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000" dirty="0">
                  <a:latin typeface="Arial" panose="020B0604020202020204" pitchFamily="34" charset="0"/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000" dirty="0">
                  <a:latin typeface="Arial" panose="020B0604020202020204" pitchFamily="34" charset="0"/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000" dirty="0">
                  <a:latin typeface="Arial" panose="020B0604020202020204" pitchFamily="34" charset="0"/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000" dirty="0">
                  <a:latin typeface="Arial" panose="020B0604020202020204" pitchFamily="34" charset="0"/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000" dirty="0">
                  <a:latin typeface="Arial" panose="020B0604020202020204" pitchFamily="34" charset="0"/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000" dirty="0">
                  <a:latin typeface="Arial" panose="020B0604020202020204" pitchFamily="34" charset="0"/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400" dirty="0">
                  <a:latin typeface="Arial" panose="020B0604020202020204" pitchFamily="34" charset="0"/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800" dirty="0"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13" name="Shape 4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287" y="1484312"/>
                <a:ext cx="8229600" cy="4526100"/>
              </a:xfrm>
              <a:prstGeom prst="rect">
                <a:avLst/>
              </a:prstGeom>
              <a:blipFill>
                <a:blip r:embed="rId3"/>
                <a:stretch>
                  <a:fillRect l="-741" t="-255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aixaDeTexto 3"/>
          <p:cNvSpPr txBox="1"/>
          <p:nvPr/>
        </p:nvSpPr>
        <p:spPr>
          <a:xfrm>
            <a:off x="-71717" y="6014471"/>
            <a:ext cx="68311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00B0F0"/>
                </a:solidFill>
              </a:rPr>
              <a:t>*Resposta no </a:t>
            </a:r>
            <a:r>
              <a:rPr lang="pt-BR" dirty="0" err="1">
                <a:solidFill>
                  <a:srgbClr val="00B0F0"/>
                </a:solidFill>
              </a:rPr>
              <a:t>excel</a:t>
            </a:r>
            <a:r>
              <a:rPr lang="pt-BR" dirty="0">
                <a:solidFill>
                  <a:srgbClr val="00B0F0"/>
                </a:solidFill>
              </a:rPr>
              <a:t>: distrib_prob_continuas.xlsx, aba </a:t>
            </a:r>
            <a:r>
              <a:rPr lang="pt-BR" dirty="0" err="1">
                <a:solidFill>
                  <a:srgbClr val="00B0F0"/>
                </a:solidFill>
              </a:rPr>
              <a:t>problema_resolvido</a:t>
            </a:r>
            <a:endParaRPr lang="pt-BR" dirty="0">
              <a:solidFill>
                <a:srgbClr val="00B0F0"/>
              </a:solidFill>
            </a:endParaRPr>
          </a:p>
          <a:p>
            <a:endParaRPr lang="pt-BR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52967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/>
          <p:nvPr/>
        </p:nvSpPr>
        <p:spPr>
          <a:xfrm>
            <a:off x="457200" y="350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 err="1">
                <a:solidFill>
                  <a:schemeClr val="lt1"/>
                </a:solidFill>
              </a:rPr>
              <a:t>Onde</a:t>
            </a:r>
            <a:r>
              <a:rPr lang="en-US" sz="3000" b="1" dirty="0">
                <a:solidFill>
                  <a:schemeClr val="lt1"/>
                </a:solidFill>
              </a:rPr>
              <a:t> </a:t>
            </a:r>
            <a:r>
              <a:rPr lang="en-US" sz="3000" b="1" dirty="0" err="1">
                <a:solidFill>
                  <a:schemeClr val="lt1"/>
                </a:solidFill>
              </a:rPr>
              <a:t>estudar</a:t>
            </a:r>
            <a:r>
              <a:rPr lang="en-US" sz="3000" b="1" dirty="0">
                <a:solidFill>
                  <a:schemeClr val="lt1"/>
                </a:solidFill>
              </a:rPr>
              <a:t> </a:t>
            </a:r>
            <a:r>
              <a:rPr lang="en-US" sz="3000" b="1" dirty="0" err="1">
                <a:solidFill>
                  <a:schemeClr val="lt1"/>
                </a:solidFill>
              </a:rPr>
              <a:t>mais</a:t>
            </a:r>
            <a:r>
              <a:rPr lang="en-US" sz="3000" b="1" dirty="0">
                <a:solidFill>
                  <a:schemeClr val="lt1"/>
                </a:solidFill>
              </a:rPr>
              <a:t>!!</a:t>
            </a:r>
            <a:endParaRPr dirty="0"/>
          </a:p>
        </p:txBody>
      </p:sp>
      <p:sp>
        <p:nvSpPr>
          <p:cNvPr id="413" name="Shape 413"/>
          <p:cNvSpPr/>
          <p:nvPr/>
        </p:nvSpPr>
        <p:spPr>
          <a:xfrm>
            <a:off x="395287" y="1484312"/>
            <a:ext cx="3853984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r>
              <a:rPr lang="pt-BR" sz="2000" dirty="0"/>
              <a:t>Leitura</a:t>
            </a:r>
          </a:p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endParaRPr lang="pt-BR" sz="2000" b="0" i="0" u="none" strike="noStrike" cap="none" dirty="0">
              <a:solidFill>
                <a:srgbClr val="000000"/>
              </a:solidFill>
              <a:sym typeface="Arial"/>
            </a:endParaRPr>
          </a:p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endParaRPr lang="pt-BR" sz="2000" dirty="0"/>
          </a:p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endParaRPr lang="pt-BR" sz="2000" b="0" i="0" u="none" strike="noStrike" cap="none" dirty="0">
              <a:solidFill>
                <a:srgbClr val="000000"/>
              </a:solidFill>
              <a:sym typeface="Arial"/>
            </a:endParaRPr>
          </a:p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endParaRPr lang="pt-BR" sz="2000" dirty="0"/>
          </a:p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endParaRPr lang="pt-BR" sz="2000" b="0" i="0" u="none" strike="noStrike" cap="none" dirty="0">
              <a:solidFill>
                <a:srgbClr val="000000"/>
              </a:solidFill>
              <a:sym typeface="Arial"/>
            </a:endParaRPr>
          </a:p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endParaRPr lang="pt-BR" sz="2000" dirty="0"/>
          </a:p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endParaRPr lang="pt-BR" sz="2000" b="0" i="0" u="none" strike="noStrike" cap="none" dirty="0">
              <a:solidFill>
                <a:srgbClr val="000000"/>
              </a:solidFill>
              <a:sym typeface="Arial"/>
            </a:endParaRPr>
          </a:p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endParaRPr lang="pt-BR" sz="2000" dirty="0"/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000" dirty="0"/>
              <a:t>D</a:t>
            </a:r>
            <a:r>
              <a:rPr lang="pt-BR" sz="2000" b="0" i="0" u="none" strike="noStrike" cap="none" dirty="0">
                <a:solidFill>
                  <a:srgbClr val="000000"/>
                </a:solidFill>
                <a:sym typeface="Arial"/>
              </a:rPr>
              <a:t>istribuições contínuas: </a:t>
            </a:r>
            <a:r>
              <a:rPr lang="pt-BR" sz="1000" dirty="0">
                <a:hlinkClick r:id="rId3"/>
              </a:rPr>
              <a:t>https://pt.khanacademy.org/math/ap-statistics/random-variables-ap/continuous-random-variables/v/probabilities-from-density-curves</a:t>
            </a:r>
            <a:endParaRPr lang="pt-BR" sz="2800" dirty="0"/>
          </a:p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endParaRPr lang="pt-BR" sz="2800" dirty="0"/>
          </a:p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endParaRPr lang="pt-BR" sz="2800" dirty="0"/>
          </a:p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endParaRPr lang="pt-BR"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marR="0" lvl="2" indent="-292100" algn="l" rtl="0">
              <a:lnSpc>
                <a:spcPct val="80000"/>
              </a:lnSpc>
              <a:spcBef>
                <a:spcPts val="52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26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Shape 413"/>
          <p:cNvSpPr/>
          <p:nvPr/>
        </p:nvSpPr>
        <p:spPr>
          <a:xfrm>
            <a:off x="4859713" y="1393397"/>
            <a:ext cx="3853984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r>
              <a:rPr lang="pt-BR" sz="2000" dirty="0"/>
              <a:t>Vídeos</a:t>
            </a:r>
          </a:p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endParaRPr lang="pt-BR" sz="2000" b="0" i="0" u="none" strike="noStrike" cap="none" dirty="0">
              <a:solidFill>
                <a:srgbClr val="000000"/>
              </a:solidFill>
              <a:sym typeface="Arial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1100" dirty="0"/>
              <a:t>Distribuições contínuas: </a:t>
            </a:r>
            <a:r>
              <a:rPr lang="pt-BR" sz="1100" dirty="0">
                <a:hlinkClick r:id="rId3"/>
              </a:rPr>
              <a:t>https://pt.khanacademy.org/math/ap-statistics/random-variables-ap/continuous-random-variables/v/probabilities-from-density-curves</a:t>
            </a:r>
            <a:endParaRPr lang="pt-BR" sz="1100" dirty="0"/>
          </a:p>
          <a:p>
            <a:pPr marL="50800"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</a:pPr>
            <a:endParaRPr lang="pt-BR" sz="2000" b="0" i="0" u="none" strike="noStrike" cap="none" dirty="0">
              <a:solidFill>
                <a:srgbClr val="000000"/>
              </a:solidFill>
              <a:sym typeface="Arial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1100" dirty="0"/>
              <a:t>Distribuição Normal: </a:t>
            </a:r>
            <a:r>
              <a:rPr lang="pt-BR" sz="1100" dirty="0">
                <a:hlinkClick r:id="rId4"/>
              </a:rPr>
              <a:t>https://pt.khanacademy.org/math/statistics-probability/modeling-distributions-of-data/more-on-normal-distributions/v/introduction-to-the-normal-distribution</a:t>
            </a:r>
            <a:endParaRPr lang="pt-BR" sz="1100" b="0" i="0" u="none" strike="noStrike" cap="none" dirty="0">
              <a:solidFill>
                <a:srgbClr val="000000"/>
              </a:solidFill>
              <a:sym typeface="Arial"/>
            </a:endParaRPr>
          </a:p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endParaRPr lang="pt-BR"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marR="0" lvl="2" indent="-292100" algn="l" rtl="0">
              <a:lnSpc>
                <a:spcPct val="80000"/>
              </a:lnSpc>
              <a:spcBef>
                <a:spcPts val="52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26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83128" y="1493837"/>
            <a:ext cx="1969013" cy="295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724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4" name="Shape 45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Shape 455"/>
          <p:cNvPicPr preferRelativeResize="0"/>
          <p:nvPr/>
        </p:nvPicPr>
        <p:blipFill rotWithShape="1">
          <a:blip r:embed="rId4">
            <a:alphaModFix/>
          </a:blip>
          <a:srcRect l="14" r="14"/>
          <a:stretch/>
        </p:blipFill>
        <p:spPr>
          <a:xfrm>
            <a:off x="215412" y="642938"/>
            <a:ext cx="8440615" cy="57165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5_Personalizar design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3968</TotalTime>
  <Words>1401</Words>
  <Application>Microsoft Office PowerPoint</Application>
  <PresentationFormat>Apresentação na tela (4:3)</PresentationFormat>
  <Paragraphs>385</Paragraphs>
  <Slides>31</Slides>
  <Notes>31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31</vt:i4>
      </vt:variant>
    </vt:vector>
  </HeadingPairs>
  <TitlesOfParts>
    <vt:vector size="37" baseType="lpstr">
      <vt:lpstr>Arial</vt:lpstr>
      <vt:lpstr>Cambria Math</vt:lpstr>
      <vt:lpstr>Calibri</vt:lpstr>
      <vt:lpstr>Montserrat</vt:lpstr>
      <vt:lpstr>Office Theme</vt:lpstr>
      <vt:lpstr>5_Personalizar design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cp:lastModifiedBy>Alcides Carlos de Araújo</cp:lastModifiedBy>
  <cp:revision>350</cp:revision>
  <dcterms:modified xsi:type="dcterms:W3CDTF">2022-07-27T02:21:47Z</dcterms:modified>
</cp:coreProperties>
</file>