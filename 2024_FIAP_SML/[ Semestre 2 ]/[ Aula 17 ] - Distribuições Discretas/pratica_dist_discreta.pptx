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  <p:sldMasterId id="2147483664" r:id="rId2"/>
  </p:sldMasterIdLst>
  <p:notesMasterIdLst>
    <p:notesMasterId r:id="rId33"/>
  </p:notesMasterIdLst>
  <p:sldIdLst>
    <p:sldId id="256" r:id="rId3"/>
    <p:sldId id="257" r:id="rId4"/>
    <p:sldId id="285" r:id="rId5"/>
    <p:sldId id="300" r:id="rId6"/>
    <p:sldId id="348" r:id="rId7"/>
    <p:sldId id="377" r:id="rId8"/>
    <p:sldId id="402" r:id="rId9"/>
    <p:sldId id="403" r:id="rId10"/>
    <p:sldId id="379" r:id="rId11"/>
    <p:sldId id="388" r:id="rId12"/>
    <p:sldId id="392" r:id="rId13"/>
    <p:sldId id="389" r:id="rId14"/>
    <p:sldId id="404" r:id="rId15"/>
    <p:sldId id="395" r:id="rId16"/>
    <p:sldId id="405" r:id="rId17"/>
    <p:sldId id="406" r:id="rId18"/>
    <p:sldId id="398" r:id="rId19"/>
    <p:sldId id="408" r:id="rId20"/>
    <p:sldId id="407" r:id="rId21"/>
    <p:sldId id="344" r:id="rId22"/>
    <p:sldId id="410" r:id="rId23"/>
    <p:sldId id="380" r:id="rId24"/>
    <p:sldId id="399" r:id="rId25"/>
    <p:sldId id="400" r:id="rId26"/>
    <p:sldId id="409" r:id="rId27"/>
    <p:sldId id="411" r:id="rId28"/>
    <p:sldId id="412" r:id="rId29"/>
    <p:sldId id="413" r:id="rId30"/>
    <p:sldId id="343" r:id="rId31"/>
    <p:sldId id="307" r:id="rId32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34"/>
    </p:embeddedFont>
    <p:embeddedFont>
      <p:font typeface="Montserrat" panose="020B0604020202020204" charset="0"/>
      <p:regular r:id="rId35"/>
      <p:bold r:id="rId36"/>
      <p:italic r:id="rId37"/>
      <p:boldItalic r:id="rId38"/>
    </p:embeddedFont>
    <p:embeddedFont>
      <p:font typeface="Calibri" panose="020F0502020204030204" pitchFamily="3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88E95B-7D3C-4000-9396-C2E5DE68CFB0}">
  <a:tblStyle styleId="{B388E95B-7D3C-4000-9396-C2E5DE68CF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2" autoAdjust="0"/>
    <p:restoredTop sz="92875" autoAdjust="0"/>
  </p:normalViewPr>
  <p:slideViewPr>
    <p:cSldViewPr snapToGrid="0">
      <p:cViewPr varScale="1">
        <p:scale>
          <a:sx n="68" d="100"/>
          <a:sy n="68" d="100"/>
        </p:scale>
        <p:origin x="14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6.fntdata"/><Relationship Id="rId21" Type="http://schemas.openxmlformats.org/officeDocument/2006/relationships/slide" Target="slides/slide19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3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2.fntdata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Shape 10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" name="Shape 10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3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Shape 30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tabLst/>
              <a:defRPr/>
            </a:pPr>
            <a:endParaRPr lang="pt-BR" sz="1100" b="0" i="0" u="none" strike="noStrike" cap="none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40202984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678364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2460395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0546076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2905753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5493095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1711144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40922185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2885637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4947609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2918018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7221323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7686806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31019895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81848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5450907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39625774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30662309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8618266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0699004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33216879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7520264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38346777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4886086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008078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Shape 4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Shape 45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las">
  <p:cSld name="Tela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ads Escuro MBA">
  <p:cSld name="Quads Escuro MBA">
    <p:bg>
      <p:bgPr>
        <a:blipFill rotWithShape="1"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body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Shape 55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body" idx="1"/>
          </p:nvPr>
        </p:nvSpPr>
        <p:spPr>
          <a:xfrm>
            <a:off x="3575051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body" idx="2"/>
          </p:nvPr>
        </p:nvSpPr>
        <p:spPr>
          <a:xfrm>
            <a:off x="457200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0" name="Shape 7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7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>
            <a:spLocks noGrp="1"/>
          </p:cNvSpPr>
          <p:nvPr>
            <p:ph type="title"/>
          </p:nvPr>
        </p:nvSpPr>
        <p:spPr>
          <a:xfrm rot="5400000">
            <a:off x="4732337" y="2171703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" name="Shape 8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3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Shape 84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Shape 85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Shape 86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udo_D">
  <p:cSld name="Conteudo_D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Shape 8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Shape 89"/>
          <p:cNvSpPr txBox="1">
            <a:spLocks noGrp="1"/>
          </p:cNvSpPr>
          <p:nvPr>
            <p:ph type="body" idx="1"/>
          </p:nvPr>
        </p:nvSpPr>
        <p:spPr>
          <a:xfrm>
            <a:off x="251521" y="908720"/>
            <a:ext cx="7632848" cy="5328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Shape 9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91" name="Shape 91"/>
          <p:cNvSpPr txBox="1">
            <a:spLocks noGrp="1"/>
          </p:cNvSpPr>
          <p:nvPr>
            <p:ph type="body" idx="2"/>
          </p:nvPr>
        </p:nvSpPr>
        <p:spPr>
          <a:xfrm>
            <a:off x="251521" y="44626"/>
            <a:ext cx="7704534" cy="575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Slide de título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0" y="4904650"/>
            <a:ext cx="9144300" cy="141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/>
            </a:lvl2pPr>
            <a:lvl3pPr marL="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/>
            </a:lvl3pPr>
            <a:lvl4pPr marL="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/>
            </a:lvl4pPr>
            <a:lvl5pPr marL="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/>
            </a:lvl5pPr>
            <a:lvl6pPr marL="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/>
            </a:lvl6pPr>
            <a:lvl7pPr marL="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/>
            </a:lvl7pPr>
            <a:lvl8pPr marL="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/>
            </a:lvl8pPr>
            <a:lvl9pPr marL="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4" name="Shape 9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175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Shape 9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Shape 9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Shape 9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98" name="Shape 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Shape 99"/>
          <p:cNvSpPr/>
          <p:nvPr/>
        </p:nvSpPr>
        <p:spPr>
          <a:xfrm>
            <a:off x="0" y="4904650"/>
            <a:ext cx="9144300" cy="141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7.gif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ebcgms.org.br/noticia/acidentes-de-trabalho-matam-mais-do-que-guerras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pt.khanacademy.org/math/ap-statistics/random-variables-ap/discrete-random-variables/v/discrete-probability-distribution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3.png"/><Relationship Id="rId5" Type="http://schemas.openxmlformats.org/officeDocument/2006/relationships/hyperlink" Target="https://pt.khanacademy.org/math/statistics-probability/random-variables-stats-library/poisson-distribution/v/poisson-process-1" TargetMode="External"/><Relationship Id="rId4" Type="http://schemas.openxmlformats.org/officeDocument/2006/relationships/hyperlink" Target="https://pt.khanacademy.org/math/statistics-probability/random-variables-stats-library/binomial-random-variables/v/binomial-distribution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Shape 106" descr="FIAP-NOVO-2014-MAGENT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83125" y="2901164"/>
            <a:ext cx="3604019" cy="1051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54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Shape 111" descr="0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2120" y="972084"/>
            <a:ext cx="8391764" cy="475598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Shape 112"/>
          <p:cNvSpPr txBox="1"/>
          <p:nvPr/>
        </p:nvSpPr>
        <p:spPr>
          <a:xfrm>
            <a:off x="2095881" y="2636889"/>
            <a:ext cx="4724242" cy="1217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AULA </a:t>
            </a:r>
            <a:r>
              <a:rPr lang="en-US" sz="8000" dirty="0" smtClean="0">
                <a:solidFill>
                  <a:schemeClr val="dk1"/>
                </a:solidFill>
              </a:rPr>
              <a:t>6.1</a:t>
            </a:r>
            <a:endParaRPr dirty="0"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Shape 306"/>
          <p:cNvPicPr preferRelativeResize="0"/>
          <p:nvPr/>
        </p:nvPicPr>
        <p:blipFill rotWithShape="1">
          <a:blip r:embed="rId3">
            <a:alphaModFix/>
          </a:blip>
          <a:srcRect l="20898" r="22582"/>
          <a:stretch/>
        </p:blipFill>
        <p:spPr>
          <a:xfrm>
            <a:off x="0" y="3376031"/>
            <a:ext cx="9155651" cy="278985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Shape 307"/>
          <p:cNvSpPr txBox="1"/>
          <p:nvPr/>
        </p:nvSpPr>
        <p:spPr>
          <a:xfrm>
            <a:off x="578249" y="4047077"/>
            <a:ext cx="7999382" cy="397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2200" dirty="0">
                <a:solidFill>
                  <a:srgbClr val="FFFFFF"/>
                </a:solidFill>
              </a:rPr>
              <a:t>Data Analysis </a:t>
            </a:r>
            <a:r>
              <a:rPr lang="en-US" sz="2200" dirty="0" smtClean="0">
                <a:solidFill>
                  <a:srgbClr val="FFFFFF"/>
                </a:solidFill>
              </a:rPr>
              <a:t>Fundamentals</a:t>
            </a:r>
            <a:endParaRPr lang="en-US" sz="2200" dirty="0">
              <a:solidFill>
                <a:srgbClr val="FFFFFF"/>
              </a:solidFill>
            </a:endParaRPr>
          </a:p>
        </p:txBody>
      </p:sp>
      <p:sp>
        <p:nvSpPr>
          <p:cNvPr id="308" name="Shape 308"/>
          <p:cNvSpPr txBox="1"/>
          <p:nvPr/>
        </p:nvSpPr>
        <p:spPr>
          <a:xfrm>
            <a:off x="578249" y="5061038"/>
            <a:ext cx="7084983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Alcides C. Araújo</a:t>
            </a:r>
            <a:endParaRPr sz="18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Shape 309"/>
          <p:cNvSpPr txBox="1"/>
          <p:nvPr/>
        </p:nvSpPr>
        <p:spPr>
          <a:xfrm>
            <a:off x="919775" y="1373555"/>
            <a:ext cx="7085100" cy="12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sz="1800" dirty="0">
                <a:solidFill>
                  <a:srgbClr val="FFFF00"/>
                </a:solidFill>
              </a:rPr>
              <a:t>"Capacitar o aluno no entendimento de conceitos básicos de estatística e análise de dados.“</a:t>
            </a:r>
          </a:p>
          <a:p>
            <a:endParaRPr lang="pt-BR" sz="1800" dirty="0">
              <a:solidFill>
                <a:srgbClr val="FFFF00"/>
              </a:solidFill>
            </a:endParaRPr>
          </a:p>
          <a:p>
            <a:r>
              <a:rPr lang="pt-BR" sz="1800" dirty="0">
                <a:solidFill>
                  <a:srgbClr val="FFFF00"/>
                </a:solidFill>
              </a:rPr>
              <a:t>"Preparar os alunos para entender e desempenhar conceitos futuros relacionados a Análise Exploratória de Dados e </a:t>
            </a:r>
            <a:r>
              <a:rPr lang="pt-BR" sz="1800" dirty="0" err="1">
                <a:solidFill>
                  <a:srgbClr val="FFFF00"/>
                </a:solidFill>
              </a:rPr>
              <a:t>Machine</a:t>
            </a:r>
            <a:r>
              <a:rPr lang="pt-BR" sz="1800" dirty="0">
                <a:solidFill>
                  <a:srgbClr val="FFFF00"/>
                </a:solidFill>
              </a:rPr>
              <a:t> Learning"</a:t>
            </a:r>
            <a:endParaRPr sz="1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Conceitos</a:t>
            </a:r>
            <a:r>
              <a:rPr lang="en-US" sz="3000" b="1" dirty="0" smtClean="0">
                <a:solidFill>
                  <a:schemeClr val="lt1"/>
                </a:solidFill>
              </a:rPr>
              <a:t> </a:t>
            </a:r>
            <a:r>
              <a:rPr lang="en-US" sz="3000" b="1" dirty="0" err="1" smtClean="0">
                <a:solidFill>
                  <a:schemeClr val="lt1"/>
                </a:solidFill>
              </a:rPr>
              <a:t>iniciais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06400" algn="ctr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2800" dirty="0" smtClean="0">
                <a:latin typeface="Arial" panose="020B0604020202020204" pitchFamily="34" charset="0"/>
              </a:rPr>
              <a:t>Distribuições de Probabilidade Discretas (Aplicações no </a:t>
            </a:r>
            <a:r>
              <a:rPr lang="pt-BR" altLang="pt-BR" sz="2800" dirty="0" smtClean="0">
                <a:solidFill>
                  <a:srgbClr val="FF0000"/>
                </a:solidFill>
                <a:latin typeface="Arial" panose="020B0604020202020204" pitchFamily="34" charset="0"/>
              </a:rPr>
              <a:t>Python</a:t>
            </a:r>
            <a:r>
              <a:rPr lang="pt-BR" altLang="pt-BR" sz="2800" dirty="0" smtClean="0">
                <a:latin typeface="Arial" panose="020B0604020202020204" pitchFamily="34" charset="0"/>
              </a:rPr>
              <a:t>)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pic>
        <p:nvPicPr>
          <p:cNvPr id="2" name="Picture 2" descr="Resultado de imagem para discrete distribution in 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31" r="5134" b="3775"/>
          <a:stretch/>
        </p:blipFill>
        <p:spPr bwMode="auto">
          <a:xfrm>
            <a:off x="2708667" y="2752165"/>
            <a:ext cx="3602839" cy="3482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Conceitos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 smtClean="0">
                <a:solidFill>
                  <a:schemeClr val="dk1"/>
                </a:solidFill>
              </a:rPr>
              <a:t>Histogramas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 smtClean="0">
                <a:solidFill>
                  <a:schemeClr val="dk1"/>
                </a:solidFill>
              </a:rPr>
              <a:t>Distribuição Uniforme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 smtClean="0">
                <a:solidFill>
                  <a:schemeClr val="dk1"/>
                </a:solidFill>
              </a:rPr>
              <a:t>Distribuição Bernoulli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 smtClean="0">
                <a:solidFill>
                  <a:schemeClr val="dk1"/>
                </a:solidFill>
              </a:rPr>
              <a:t>Distribuição Binomial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 smtClean="0">
                <a:solidFill>
                  <a:schemeClr val="dk1"/>
                </a:solidFill>
              </a:rPr>
              <a:t>Distribuição de Poisson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194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Histograma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 smtClean="0">
                <a:solidFill>
                  <a:schemeClr val="dk1"/>
                </a:solidFill>
              </a:rPr>
              <a:t>Podemos fazer um gráfico: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 smtClean="0">
              <a:latin typeface="Arial" panose="020B0604020202020204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28" y="2527200"/>
            <a:ext cx="5109883" cy="2834769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6347851" y="2853003"/>
            <a:ext cx="22770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Gráficos deste tipo possuem um nome específico denominados de </a:t>
            </a:r>
            <a:r>
              <a:rPr lang="pt-BR" b="1" dirty="0" smtClean="0"/>
              <a:t>Histogramas de frequência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b="1" dirty="0" smtClean="0"/>
              <a:t>Histogramas</a:t>
            </a:r>
            <a:r>
              <a:rPr lang="pt-BR" dirty="0" smtClean="0"/>
              <a:t> são gráficos de distribuições de probabilidades.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41870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Histograma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 smtClean="0">
                <a:solidFill>
                  <a:schemeClr val="dk1"/>
                </a:solidFill>
              </a:rPr>
              <a:t>Histograma com </a:t>
            </a:r>
            <a:r>
              <a:rPr lang="pt-BR" sz="2400" dirty="0" err="1" smtClean="0">
                <a:solidFill>
                  <a:srgbClr val="FF0000"/>
                </a:solidFill>
              </a:rPr>
              <a:t>matplotlib</a:t>
            </a:r>
            <a:r>
              <a:rPr lang="pt-BR" sz="2400" dirty="0" smtClean="0">
                <a:solidFill>
                  <a:schemeClr val="dk1"/>
                </a:solidFill>
              </a:rPr>
              <a:t>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 smtClean="0">
                <a:solidFill>
                  <a:schemeClr val="dk1"/>
                </a:solidFill>
              </a:rPr>
              <a:t>Preparação dos dados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 smtClean="0">
              <a:latin typeface="Arial" panose="020B0604020202020204" pitchFamily="34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5917305" y="3374327"/>
            <a:ext cx="2572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Esta linha de código foi adicionada </a:t>
            </a:r>
            <a:r>
              <a:rPr lang="pt-BR" sz="1200" dirty="0" err="1" smtClean="0"/>
              <a:t>pq</a:t>
            </a:r>
            <a:r>
              <a:rPr lang="pt-BR" sz="1200" dirty="0" smtClean="0"/>
              <a:t> buscamos obter o número de acidentes por mês.</a:t>
            </a:r>
            <a:endParaRPr lang="pt-BR" sz="1200" dirty="0"/>
          </a:p>
        </p:txBody>
      </p:sp>
      <p:cxnSp>
        <p:nvCxnSpPr>
          <p:cNvPr id="6" name="Conector de Seta Reta 5"/>
          <p:cNvCxnSpPr>
            <a:stCxn id="3" idx="1"/>
          </p:cNvCxnSpPr>
          <p:nvPr/>
        </p:nvCxnSpPr>
        <p:spPr>
          <a:xfrm flipH="1">
            <a:off x="4928630" y="3697493"/>
            <a:ext cx="988675" cy="9636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5839964" y="2376811"/>
            <a:ext cx="2572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Ajustamos a coluna </a:t>
            </a:r>
            <a:r>
              <a:rPr lang="pt-BR" sz="1200" dirty="0" err="1" smtClean="0"/>
              <a:t>data_acidente</a:t>
            </a:r>
            <a:r>
              <a:rPr lang="pt-BR" sz="1200" dirty="0" smtClean="0"/>
              <a:t> para </a:t>
            </a:r>
            <a:r>
              <a:rPr lang="pt-BR" sz="1200" dirty="0" err="1" smtClean="0"/>
              <a:t>ano-mês</a:t>
            </a:r>
            <a:r>
              <a:rPr lang="pt-BR" sz="1200" dirty="0" smtClean="0"/>
              <a:t>.</a:t>
            </a:r>
            <a:endParaRPr lang="pt-BR" sz="1200" dirty="0"/>
          </a:p>
        </p:txBody>
      </p:sp>
      <p:cxnSp>
        <p:nvCxnSpPr>
          <p:cNvPr id="10" name="Conector de Seta Reta 9"/>
          <p:cNvCxnSpPr>
            <a:stCxn id="9" idx="1"/>
          </p:cNvCxnSpPr>
          <p:nvPr/>
        </p:nvCxnSpPr>
        <p:spPr>
          <a:xfrm flipH="1">
            <a:off x="4961422" y="2607644"/>
            <a:ext cx="878542" cy="53585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142" y="2847576"/>
            <a:ext cx="4504488" cy="1374373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874" y="4545115"/>
            <a:ext cx="4716548" cy="63604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6275" y="4221949"/>
            <a:ext cx="3629025" cy="2505075"/>
          </a:xfrm>
          <a:prstGeom prst="rect">
            <a:avLst/>
          </a:prstGeom>
        </p:spPr>
      </p:pic>
      <p:cxnSp>
        <p:nvCxnSpPr>
          <p:cNvPr id="13" name="Conector de Seta Reta 12"/>
          <p:cNvCxnSpPr>
            <a:endCxn id="8" idx="1"/>
          </p:cNvCxnSpPr>
          <p:nvPr/>
        </p:nvCxnSpPr>
        <p:spPr>
          <a:xfrm>
            <a:off x="2603148" y="5181164"/>
            <a:ext cx="2543127" cy="29332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836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Histograma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 smtClean="0">
                <a:solidFill>
                  <a:schemeClr val="dk1"/>
                </a:solidFill>
              </a:rPr>
              <a:t>Histograma com </a:t>
            </a:r>
            <a:r>
              <a:rPr lang="pt-BR" sz="2400" dirty="0" err="1" smtClean="0">
                <a:solidFill>
                  <a:srgbClr val="FF0000"/>
                </a:solidFill>
              </a:rPr>
              <a:t>seaborn</a:t>
            </a:r>
            <a:r>
              <a:rPr lang="pt-BR" sz="2400" dirty="0" smtClean="0">
                <a:solidFill>
                  <a:schemeClr val="dk1"/>
                </a:solidFill>
              </a:rPr>
              <a:t>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 smtClean="0">
              <a:latin typeface="Arial" panose="020B0604020202020204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481" y="2182978"/>
            <a:ext cx="4367211" cy="63745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5451" y="3172915"/>
            <a:ext cx="3549272" cy="350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869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Distribuições</a:t>
            </a:r>
            <a:r>
              <a:rPr lang="en-US" sz="3000" b="1" dirty="0" smtClean="0">
                <a:solidFill>
                  <a:schemeClr val="lt1"/>
                </a:solidFill>
              </a:rPr>
              <a:t> de </a:t>
            </a:r>
            <a:r>
              <a:rPr lang="en-US" sz="3000" b="1" dirty="0" err="1" smtClean="0">
                <a:solidFill>
                  <a:schemeClr val="lt1"/>
                </a:solidFill>
              </a:rPr>
              <a:t>probabilidades</a:t>
            </a:r>
            <a:r>
              <a:rPr lang="en-US" sz="3000" b="1" dirty="0" smtClean="0">
                <a:solidFill>
                  <a:schemeClr val="lt1"/>
                </a:solidFill>
              </a:rPr>
              <a:t> </a:t>
            </a:r>
            <a:r>
              <a:rPr lang="en-US" sz="3000" b="1" dirty="0" err="1" smtClean="0">
                <a:solidFill>
                  <a:schemeClr val="lt1"/>
                </a:solidFill>
              </a:rPr>
              <a:t>discretas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 smtClean="0">
                <a:solidFill>
                  <a:schemeClr val="dk1"/>
                </a:solidFill>
              </a:rPr>
              <a:t>Distribuições que serão apresentadas: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 smtClean="0">
              <a:latin typeface="Arial" panose="020B0604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389" y="4005939"/>
            <a:ext cx="2400300" cy="142875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793" y="3550023"/>
            <a:ext cx="2156740" cy="1959183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812296" y="5524161"/>
            <a:ext cx="1962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Distribuição binomial</a:t>
            </a:r>
            <a:endParaRPr lang="pt-BR" dirty="0"/>
          </a:p>
        </p:txBody>
      </p:sp>
      <p:sp>
        <p:nvSpPr>
          <p:cNvPr id="10" name="CaixaDeTexto 9"/>
          <p:cNvSpPr txBox="1"/>
          <p:nvPr/>
        </p:nvSpPr>
        <p:spPr>
          <a:xfrm>
            <a:off x="5018078" y="5509207"/>
            <a:ext cx="2102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Distribuição de Poisson</a:t>
            </a:r>
            <a:endParaRPr lang="pt-BR"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0085" y="5861664"/>
            <a:ext cx="1934697" cy="313604"/>
          </a:xfrm>
          <a:prstGeom prst="rect">
            <a:avLst/>
          </a:prstGeom>
        </p:spPr>
      </p:pic>
      <p:pic>
        <p:nvPicPr>
          <p:cNvPr id="7170" name="Picture 2" descr="Resultado de imagem para distribuiÃ§Ã£o poisson formula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9600" y="5758490"/>
            <a:ext cx="1399149" cy="52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643" y="2035498"/>
            <a:ext cx="2814524" cy="1428780"/>
          </a:xfrm>
          <a:prstGeom prst="rect">
            <a:avLst/>
          </a:prstGeom>
        </p:spPr>
      </p:pic>
      <p:sp>
        <p:nvSpPr>
          <p:cNvPr id="14" name="CaixaDeTexto 13"/>
          <p:cNvSpPr txBox="1"/>
          <p:nvPr/>
        </p:nvSpPr>
        <p:spPr>
          <a:xfrm>
            <a:off x="1326689" y="3421366"/>
            <a:ext cx="1962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Distribuição uniforme</a:t>
            </a:r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2233589"/>
            <a:ext cx="3750888" cy="581899"/>
          </a:xfrm>
          <a:prstGeom prst="rect">
            <a:avLst/>
          </a:prstGeom>
        </p:spPr>
      </p:pic>
      <p:sp>
        <p:nvSpPr>
          <p:cNvPr id="16" name="CaixaDeTexto 15"/>
          <p:cNvSpPr txBox="1"/>
          <p:nvPr/>
        </p:nvSpPr>
        <p:spPr>
          <a:xfrm>
            <a:off x="5466201" y="2783521"/>
            <a:ext cx="1962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Distribuição </a:t>
            </a:r>
            <a:r>
              <a:rPr lang="pt-BR" dirty="0" err="1" smtClean="0"/>
              <a:t>bernoulli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8382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Distribuições</a:t>
            </a:r>
            <a:r>
              <a:rPr lang="en-US" sz="3000" b="1" dirty="0" smtClean="0">
                <a:solidFill>
                  <a:schemeClr val="lt1"/>
                </a:solidFill>
              </a:rPr>
              <a:t> </a:t>
            </a:r>
            <a:r>
              <a:rPr lang="en-US" sz="3000" b="1" dirty="0" err="1" smtClean="0">
                <a:solidFill>
                  <a:schemeClr val="lt1"/>
                </a:solidFill>
              </a:rPr>
              <a:t>Uniforme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 smtClean="0">
                <a:solidFill>
                  <a:schemeClr val="dk1"/>
                </a:solidFill>
              </a:rPr>
              <a:t>Imagine este dado de 6 lados: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 smtClean="0">
                <a:solidFill>
                  <a:schemeClr val="dk1"/>
                </a:solidFill>
              </a:rPr>
              <a:t>Qual a chance de sair 1?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 smtClean="0">
                <a:solidFill>
                  <a:schemeClr val="dk1"/>
                </a:solidFill>
              </a:rPr>
              <a:t>Qual a chance de sair 6?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 smtClean="0">
                <a:solidFill>
                  <a:schemeClr val="dk1"/>
                </a:solidFill>
              </a:rPr>
              <a:t>Na distribuição uniforme todos </a:t>
            </a:r>
            <a:r>
              <a:rPr lang="pt-BR" sz="2400" dirty="0">
                <a:solidFill>
                  <a:schemeClr val="dk1"/>
                </a:solidFill>
              </a:rPr>
              <a:t>os valores possuem a </a:t>
            </a:r>
            <a:r>
              <a:rPr lang="pt-BR" sz="2400" dirty="0" smtClean="0">
                <a:solidFill>
                  <a:schemeClr val="dk1"/>
                </a:solidFill>
              </a:rPr>
              <a:t>mesma probabilidade </a:t>
            </a:r>
            <a:r>
              <a:rPr lang="pt-BR" sz="2400" dirty="0">
                <a:solidFill>
                  <a:schemeClr val="dk1"/>
                </a:solidFill>
              </a:rPr>
              <a:t>de ocorrer.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 smtClean="0">
              <a:latin typeface="Arial" panose="020B0604020202020204" pitchFamily="34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0496" y="1651931"/>
            <a:ext cx="1577787" cy="16291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424" y="4761379"/>
            <a:ext cx="57912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476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Distribuições</a:t>
            </a:r>
            <a:r>
              <a:rPr lang="en-US" sz="3000" b="1" dirty="0" smtClean="0">
                <a:solidFill>
                  <a:schemeClr val="lt1"/>
                </a:solidFill>
              </a:rPr>
              <a:t> </a:t>
            </a:r>
            <a:r>
              <a:rPr lang="en-US" sz="3000" b="1" dirty="0" err="1" smtClean="0">
                <a:solidFill>
                  <a:schemeClr val="lt1"/>
                </a:solidFill>
              </a:rPr>
              <a:t>Uniforme</a:t>
            </a:r>
            <a:r>
              <a:rPr lang="en-US" sz="3000" b="1" dirty="0" smtClean="0">
                <a:solidFill>
                  <a:schemeClr val="lt1"/>
                </a:solidFill>
              </a:rPr>
              <a:t> </a:t>
            </a:r>
            <a:r>
              <a:rPr lang="en-US" sz="3000" b="1" dirty="0" err="1" smtClean="0">
                <a:solidFill>
                  <a:schemeClr val="lt1"/>
                </a:solidFill>
              </a:rPr>
              <a:t>Histograma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 smtClean="0">
                <a:solidFill>
                  <a:schemeClr val="dk1"/>
                </a:solidFill>
              </a:rPr>
              <a:t>Exemplo distribuição uniforme: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 smtClean="0">
              <a:latin typeface="Arial" panose="020B0604020202020204" pitchFamily="34" charset="0"/>
            </a:endParaRPr>
          </a:p>
        </p:txBody>
      </p:sp>
      <p:cxnSp>
        <p:nvCxnSpPr>
          <p:cNvPr id="13" name="Conector de Seta Reta 12"/>
          <p:cNvCxnSpPr>
            <a:stCxn id="15" idx="1"/>
          </p:cNvCxnSpPr>
          <p:nvPr/>
        </p:nvCxnSpPr>
        <p:spPr>
          <a:xfrm flipH="1">
            <a:off x="3446584" y="2230334"/>
            <a:ext cx="803518" cy="6103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4250102" y="1999501"/>
            <a:ext cx="2572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O dado tem 6 lados e os lados têm mesma chance de sair.</a:t>
            </a:r>
            <a:endParaRPr lang="pt-BR" sz="1200" dirty="0"/>
          </a:p>
        </p:txBody>
      </p:sp>
      <p:cxnSp>
        <p:nvCxnSpPr>
          <p:cNvPr id="18" name="Conector de Seta Reta 17"/>
          <p:cNvCxnSpPr>
            <a:stCxn id="21" idx="1"/>
          </p:cNvCxnSpPr>
          <p:nvPr/>
        </p:nvCxnSpPr>
        <p:spPr>
          <a:xfrm flipH="1">
            <a:off x="4403188" y="3001470"/>
            <a:ext cx="1099364" cy="52718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5502552" y="2770637"/>
            <a:ext cx="2901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Criamos um data frame mantendo colunas de resultados e probabilidade.</a:t>
            </a:r>
            <a:endParaRPr lang="pt-BR" sz="1200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457200" y="5407524"/>
            <a:ext cx="165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Geramos o gráfico.</a:t>
            </a:r>
            <a:endParaRPr lang="pt-BR" sz="1200" dirty="0"/>
          </a:p>
        </p:txBody>
      </p:sp>
      <p:cxnSp>
        <p:nvCxnSpPr>
          <p:cNvPr id="26" name="Conector de Seta Reta 25"/>
          <p:cNvCxnSpPr>
            <a:stCxn id="25" idx="0"/>
          </p:cNvCxnSpPr>
          <p:nvPr/>
        </p:nvCxnSpPr>
        <p:spPr>
          <a:xfrm flipV="1">
            <a:off x="1283700" y="5117189"/>
            <a:ext cx="826500" cy="29033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329" y="2034330"/>
            <a:ext cx="2362200" cy="13716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329" y="3633931"/>
            <a:ext cx="4848225" cy="438150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87" y="4451038"/>
            <a:ext cx="3952875" cy="638175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5676" y="4234310"/>
            <a:ext cx="3581400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56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Distribuição</a:t>
            </a:r>
            <a:r>
              <a:rPr lang="en-US" sz="3000" b="1" dirty="0" smtClean="0">
                <a:solidFill>
                  <a:schemeClr val="lt1"/>
                </a:solidFill>
              </a:rPr>
              <a:t> Bernoulli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 smtClean="0">
                <a:solidFill>
                  <a:schemeClr val="dk1"/>
                </a:solidFill>
              </a:rPr>
              <a:t>A distribuição de Bernoulli* é observada para somente a probabilidade de </a:t>
            </a:r>
            <a:r>
              <a:rPr lang="pt-BR" sz="2400" b="1" dirty="0" smtClean="0">
                <a:solidFill>
                  <a:schemeClr val="dk1"/>
                </a:solidFill>
              </a:rPr>
              <a:t>um evento </a:t>
            </a:r>
            <a:r>
              <a:rPr lang="pt-BR" sz="2400" dirty="0" smtClean="0">
                <a:solidFill>
                  <a:schemeClr val="dk1"/>
                </a:solidFill>
              </a:rPr>
              <a:t>em que somente 2 resultados podem ocorrer.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 smtClean="0">
                <a:solidFill>
                  <a:schemeClr val="dk1"/>
                </a:solidFill>
              </a:rPr>
              <a:t>Sucesso/Fracasso, Acidente/Não Acidente, Grávida/Não grávida</a:t>
            </a: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 smtClean="0">
                <a:solidFill>
                  <a:schemeClr val="dk1"/>
                </a:solidFill>
              </a:rPr>
              <a:t>Exemplo: Um funcionário sofrerá um acidente hoje? Teremos “0” para “não sofre acidente” com probabilidade “</a:t>
            </a:r>
            <a:r>
              <a:rPr lang="pt-BR" sz="2400" i="1" dirty="0" smtClean="0">
                <a:solidFill>
                  <a:schemeClr val="dk1"/>
                </a:solidFill>
              </a:rPr>
              <a:t>p</a:t>
            </a:r>
            <a:r>
              <a:rPr lang="pt-BR" sz="2400" dirty="0" smtClean="0">
                <a:solidFill>
                  <a:schemeClr val="dk1"/>
                </a:solidFill>
              </a:rPr>
              <a:t>” e “1” para “sofre acidente”, com probabilidade “1-</a:t>
            </a:r>
            <a:r>
              <a:rPr lang="pt-BR" sz="2400" i="1" dirty="0" smtClean="0">
                <a:solidFill>
                  <a:schemeClr val="dk1"/>
                </a:solidFill>
              </a:rPr>
              <a:t>p</a:t>
            </a:r>
            <a:r>
              <a:rPr lang="pt-BR" sz="2400" dirty="0" smtClean="0">
                <a:solidFill>
                  <a:schemeClr val="dk1"/>
                </a:solidFill>
              </a:rPr>
              <a:t>”. </a:t>
            </a:r>
          </a:p>
          <a:p>
            <a:pPr marL="50800" lvl="0">
              <a:lnSpc>
                <a:spcPct val="115000"/>
              </a:lnSpc>
              <a:buSzPts val="2800"/>
            </a:pPr>
            <a:r>
              <a:rPr lang="pt-BR" sz="2400" dirty="0" smtClean="0">
                <a:solidFill>
                  <a:schemeClr val="dk1"/>
                </a:solidFill>
              </a:rPr>
              <a:t> 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 smtClean="0">
              <a:latin typeface="Arial" panose="020B0604020202020204" pitchFamily="34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-71717" y="6014471"/>
            <a:ext cx="68311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*Exemplo com números ver </a:t>
            </a:r>
            <a:r>
              <a:rPr lang="pt-BR" dirty="0" err="1"/>
              <a:t>excel</a:t>
            </a:r>
            <a:r>
              <a:rPr lang="pt-BR" dirty="0"/>
              <a:t>: </a:t>
            </a:r>
            <a:r>
              <a:rPr lang="pt-BR" dirty="0" smtClean="0"/>
              <a:t>distrib_prob.xlsx</a:t>
            </a:r>
            <a:r>
              <a:rPr lang="pt-BR" dirty="0"/>
              <a:t>, aba </a:t>
            </a:r>
            <a:r>
              <a:rPr lang="pt-BR" dirty="0" err="1" smtClean="0"/>
              <a:t>dist_bernoulli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324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Distribuição</a:t>
            </a:r>
            <a:r>
              <a:rPr lang="en-US" sz="3000" b="1" dirty="0" smtClean="0">
                <a:solidFill>
                  <a:schemeClr val="lt1"/>
                </a:solidFill>
              </a:rPr>
              <a:t> Bernoulli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 smtClean="0">
                <a:solidFill>
                  <a:schemeClr val="dk1"/>
                </a:solidFill>
              </a:rPr>
              <a:t>Exemplo Bernoulli</a:t>
            </a:r>
          </a:p>
          <a:p>
            <a:pPr marL="50800" lvl="0">
              <a:lnSpc>
                <a:spcPct val="115000"/>
              </a:lnSpc>
              <a:buSzPts val="2800"/>
            </a:pPr>
            <a:r>
              <a:rPr lang="pt-BR" sz="2400" dirty="0" smtClean="0">
                <a:solidFill>
                  <a:schemeClr val="dk1"/>
                </a:solidFill>
              </a:rPr>
              <a:t> 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 smtClean="0">
              <a:latin typeface="Arial" panose="020B0604020202020204" pitchFamily="34" charset="0"/>
            </a:endParaRPr>
          </a:p>
        </p:txBody>
      </p:sp>
      <p:cxnSp>
        <p:nvCxnSpPr>
          <p:cNvPr id="6" name="Conector de Seta Reta 5"/>
          <p:cNvCxnSpPr>
            <a:stCxn id="7" idx="0"/>
          </p:cNvCxnSpPr>
          <p:nvPr/>
        </p:nvCxnSpPr>
        <p:spPr>
          <a:xfrm flipV="1">
            <a:off x="1757567" y="4992376"/>
            <a:ext cx="563602" cy="38017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997017" y="5372550"/>
            <a:ext cx="1521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Geramos o gráfico.</a:t>
            </a:r>
            <a:endParaRPr lang="pt-BR" sz="1200" dirty="0"/>
          </a:p>
        </p:txBody>
      </p:sp>
      <p:cxnSp>
        <p:nvCxnSpPr>
          <p:cNvPr id="8" name="Conector de Seta Reta 7"/>
          <p:cNvCxnSpPr>
            <a:stCxn id="9" idx="1"/>
          </p:cNvCxnSpPr>
          <p:nvPr/>
        </p:nvCxnSpPr>
        <p:spPr>
          <a:xfrm flipH="1">
            <a:off x="3840480" y="2627312"/>
            <a:ext cx="1670135" cy="52385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5510615" y="2396479"/>
            <a:ext cx="2901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Criamos um data frame mantendo colunas de resultados e probabilidade.</a:t>
            </a:r>
            <a:endParaRPr lang="pt-BR" sz="12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12" y="2129343"/>
            <a:ext cx="2600325" cy="125730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12" y="3479744"/>
            <a:ext cx="4953000" cy="476250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812" y="4352811"/>
            <a:ext cx="4029075" cy="657225"/>
          </a:xfrm>
          <a:prstGeom prst="rect">
            <a:avLst/>
          </a:prstGeom>
        </p:spPr>
      </p:pic>
      <p:pic>
        <p:nvPicPr>
          <p:cNvPr id="16" name="Imagem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2062" y="4090549"/>
            <a:ext cx="3552825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836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Distribuição</a:t>
            </a:r>
            <a:r>
              <a:rPr lang="en-US" sz="3000" b="1" dirty="0" smtClean="0">
                <a:solidFill>
                  <a:schemeClr val="lt1"/>
                </a:solidFill>
              </a:rPr>
              <a:t> Binomial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smtClean="0">
                <a:solidFill>
                  <a:schemeClr val="lt1"/>
                </a:solidFill>
              </a:rPr>
              <a:t>(</a:t>
            </a:r>
            <a:r>
              <a:rPr lang="en-US" sz="3000" b="1" dirty="0" err="1" smtClean="0">
                <a:solidFill>
                  <a:schemeClr val="lt1"/>
                </a:solidFill>
              </a:rPr>
              <a:t>resumo</a:t>
            </a:r>
            <a:r>
              <a:rPr lang="en-US" sz="3000" b="1" dirty="0" smtClean="0">
                <a:solidFill>
                  <a:schemeClr val="lt1"/>
                </a:solidFill>
              </a:rPr>
              <a:t>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000" dirty="0" smtClean="0">
                    <a:solidFill>
                      <a:schemeClr val="dk1"/>
                    </a:solidFill>
                  </a:rPr>
                  <a:t>Em resumo, uma distribuição binomial possui 3 características e a seguinte fórmula: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0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000" dirty="0">
                    <a:solidFill>
                      <a:schemeClr val="dk1"/>
                    </a:solidFill>
                  </a:rPr>
                  <a:t>a</a:t>
                </a:r>
                <a:r>
                  <a:rPr lang="pt-BR" sz="2000" dirty="0" smtClean="0">
                    <a:solidFill>
                      <a:schemeClr val="dk1"/>
                    </a:solidFill>
                  </a:rPr>
                  <a:t>) consiste de </a:t>
                </a:r>
                <a:r>
                  <a:rPr lang="pt-BR" sz="2000" i="1" dirty="0" smtClean="0">
                    <a:solidFill>
                      <a:schemeClr val="dk1"/>
                    </a:solidFill>
                  </a:rPr>
                  <a:t>n</a:t>
                </a:r>
                <a:r>
                  <a:rPr lang="pt-BR" sz="2000" dirty="0" smtClean="0">
                    <a:solidFill>
                      <a:schemeClr val="dk1"/>
                    </a:solidFill>
                  </a:rPr>
                  <a:t> eventos de Bernoulli (sim/não, sucesso/fracasso)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000" dirty="0">
                    <a:solidFill>
                      <a:schemeClr val="dk1"/>
                    </a:solidFill>
                  </a:rPr>
                  <a:t>b</a:t>
                </a:r>
                <a:r>
                  <a:rPr lang="pt-BR" sz="2000" dirty="0" smtClean="0">
                    <a:solidFill>
                      <a:schemeClr val="dk1"/>
                    </a:solidFill>
                  </a:rPr>
                  <a:t>) cada evento é independente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000" dirty="0">
                    <a:solidFill>
                      <a:schemeClr val="dk1"/>
                    </a:solidFill>
                  </a:rPr>
                  <a:t>c</a:t>
                </a:r>
                <a:r>
                  <a:rPr lang="pt-BR" sz="2000" dirty="0" smtClean="0">
                    <a:solidFill>
                      <a:schemeClr val="dk1"/>
                    </a:solidFill>
                  </a:rPr>
                  <a:t>) a probabilidade de cada evento ocorrer está entre 0 e 1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000" dirty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pt-B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pt-B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pt-B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pt-B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pt-B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pt-B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pt-B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pt-BR" sz="2000" dirty="0"/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0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800" dirty="0" smtClean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 smtClean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 smtClean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 smtClean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 smtClean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 smtClean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dirty="0" smtClean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blipFill>
                <a:blip r:embed="rId3"/>
                <a:stretch>
                  <a:fillRect l="-741" t="-25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/>
          <p:cNvSpPr txBox="1"/>
          <p:nvPr/>
        </p:nvSpPr>
        <p:spPr>
          <a:xfrm>
            <a:off x="-71717" y="6014471"/>
            <a:ext cx="68311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*Exemplo com números ver </a:t>
            </a:r>
            <a:r>
              <a:rPr lang="pt-BR" dirty="0" err="1"/>
              <a:t>excel</a:t>
            </a:r>
            <a:r>
              <a:rPr lang="pt-BR" dirty="0"/>
              <a:t>: </a:t>
            </a:r>
            <a:r>
              <a:rPr lang="pt-BR" dirty="0" smtClean="0"/>
              <a:t>distrib_prob.xlsx</a:t>
            </a:r>
            <a:r>
              <a:rPr lang="pt-BR" dirty="0"/>
              <a:t>, aba </a:t>
            </a:r>
            <a:r>
              <a:rPr lang="pt-BR" dirty="0" err="1" smtClean="0"/>
              <a:t>dist_binomial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5856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Distribuição</a:t>
            </a:r>
            <a:r>
              <a:rPr lang="en-US" sz="3000" b="1" dirty="0" smtClean="0">
                <a:solidFill>
                  <a:schemeClr val="lt1"/>
                </a:solidFill>
              </a:rPr>
              <a:t> Binomial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457200" y="1484312"/>
                <a:ext cx="8229600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400" dirty="0" smtClean="0">
                    <a:solidFill>
                      <a:schemeClr val="dk1"/>
                    </a:solidFill>
                  </a:rPr>
                  <a:t>Exemplo Binomial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400" dirty="0" smtClean="0">
                    <a:solidFill>
                      <a:schemeClr val="dk1"/>
                    </a:solidFill>
                  </a:rPr>
                  <a:t>Entender a função do </a:t>
                </a:r>
                <a:r>
                  <a:rPr lang="pt-BR" sz="2400" dirty="0" smtClean="0">
                    <a:solidFill>
                      <a:srgbClr val="FF0000"/>
                    </a:solidFill>
                  </a:rPr>
                  <a:t>Python</a:t>
                </a:r>
                <a:r>
                  <a:rPr lang="pt-BR" sz="2400" dirty="0" smtClean="0">
                    <a:solidFill>
                      <a:schemeClr val="dk1"/>
                    </a:solidFill>
                  </a:rPr>
                  <a:t> que calcula as probabilidades da distribuição binomial: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pt-B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pt-B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pt-B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pt-B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pt-B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pt-BR" sz="2400" dirty="0" smtClean="0">
                  <a:solidFill>
                    <a:schemeClr val="dk1"/>
                  </a:solidFill>
                </a:endParaRPr>
              </a:p>
              <a:p>
                <a:pPr marL="50800" lvl="0">
                  <a:lnSpc>
                    <a:spcPct val="115000"/>
                  </a:lnSpc>
                  <a:buSzPts val="2800"/>
                </a:pPr>
                <a:r>
                  <a:rPr lang="pt-BR" sz="2400" dirty="0" smtClean="0">
                    <a:solidFill>
                      <a:schemeClr val="dk1"/>
                    </a:solidFill>
                  </a:rPr>
                  <a:t> 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 smtClean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 smtClean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 smtClean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 smtClean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dirty="0" smtClean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84312"/>
                <a:ext cx="8229600" cy="4526100"/>
              </a:xfrm>
              <a:prstGeom prst="rect">
                <a:avLst/>
              </a:prstGeom>
              <a:blipFill>
                <a:blip r:embed="rId3"/>
                <a:stretch>
                  <a:fillRect l="-741" t="-13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253" y="5078345"/>
            <a:ext cx="3405435" cy="654024"/>
          </a:xfrm>
          <a:prstGeom prst="rect">
            <a:avLst/>
          </a:prstGeom>
        </p:spPr>
      </p:pic>
      <p:cxnSp>
        <p:nvCxnSpPr>
          <p:cNvPr id="22" name="Conector de Seta Reta 21"/>
          <p:cNvCxnSpPr/>
          <p:nvPr/>
        </p:nvCxnSpPr>
        <p:spPr>
          <a:xfrm flipH="1">
            <a:off x="4220307" y="3747362"/>
            <a:ext cx="67040" cy="1514486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>
            <a:off x="2804576" y="3863788"/>
            <a:ext cx="306736" cy="139806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/>
          <p:nvPr/>
        </p:nvCxnSpPr>
        <p:spPr>
          <a:xfrm>
            <a:off x="2236763" y="3863788"/>
            <a:ext cx="1364632" cy="139806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541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Distribuição</a:t>
            </a:r>
            <a:r>
              <a:rPr lang="en-US" sz="3000" b="1" dirty="0" smtClean="0">
                <a:solidFill>
                  <a:schemeClr val="lt1"/>
                </a:solidFill>
              </a:rPr>
              <a:t> Binomial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 smtClean="0">
                <a:solidFill>
                  <a:schemeClr val="dk1"/>
                </a:solidFill>
              </a:rPr>
              <a:t>Exemplo Binomial:</a:t>
            </a:r>
          </a:p>
          <a:p>
            <a:pPr marL="50800" lvl="0">
              <a:lnSpc>
                <a:spcPct val="115000"/>
              </a:lnSpc>
              <a:buSzPts val="2800"/>
            </a:pPr>
            <a:r>
              <a:rPr lang="pt-BR" sz="2400" dirty="0" smtClean="0">
                <a:solidFill>
                  <a:schemeClr val="dk1"/>
                </a:solidFill>
              </a:rPr>
              <a:t> 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 smtClean="0">
              <a:latin typeface="Arial" panose="020B0604020202020204" pitchFamily="34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1027497" y="5512850"/>
            <a:ext cx="14849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Geramos o gráfico.</a:t>
            </a:r>
            <a:endParaRPr lang="pt-BR" sz="1200" dirty="0"/>
          </a:p>
        </p:txBody>
      </p:sp>
      <p:sp>
        <p:nvSpPr>
          <p:cNvPr id="9" name="CaixaDeTexto 8"/>
          <p:cNvSpPr txBox="1"/>
          <p:nvPr/>
        </p:nvSpPr>
        <p:spPr>
          <a:xfrm>
            <a:off x="5510615" y="2396479"/>
            <a:ext cx="2901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Criamos um data frame mantendo colunas de resultados e probabilidade.</a:t>
            </a:r>
            <a:endParaRPr lang="pt-BR" sz="1200" dirty="0"/>
          </a:p>
        </p:txBody>
      </p:sp>
      <p:cxnSp>
        <p:nvCxnSpPr>
          <p:cNvPr id="6" name="Conector de Seta Reta 5"/>
          <p:cNvCxnSpPr>
            <a:stCxn id="7" idx="0"/>
          </p:cNvCxnSpPr>
          <p:nvPr/>
        </p:nvCxnSpPr>
        <p:spPr>
          <a:xfrm flipV="1">
            <a:off x="1769986" y="5065931"/>
            <a:ext cx="157288" cy="44691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>
            <a:stCxn id="9" idx="1"/>
          </p:cNvCxnSpPr>
          <p:nvPr/>
        </p:nvCxnSpPr>
        <p:spPr>
          <a:xfrm flipH="1">
            <a:off x="4732675" y="2627312"/>
            <a:ext cx="777940" cy="59298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532" y="2278979"/>
            <a:ext cx="4202555" cy="1207725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532" y="3552212"/>
            <a:ext cx="7458075" cy="25717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4" y="4256306"/>
            <a:ext cx="2847975" cy="809625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3838" y="4041850"/>
            <a:ext cx="3729038" cy="2538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064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Distribuição</a:t>
            </a:r>
            <a:r>
              <a:rPr lang="en-US" sz="3000" b="1" dirty="0" smtClean="0">
                <a:solidFill>
                  <a:schemeClr val="lt1"/>
                </a:solidFill>
              </a:rPr>
              <a:t> de Poisson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smtClean="0">
                <a:solidFill>
                  <a:schemeClr val="lt1"/>
                </a:solidFill>
              </a:rPr>
              <a:t>(</a:t>
            </a:r>
            <a:r>
              <a:rPr lang="en-US" sz="3000" b="1" dirty="0" err="1" smtClean="0">
                <a:solidFill>
                  <a:schemeClr val="lt1"/>
                </a:solidFill>
              </a:rPr>
              <a:t>resumo</a:t>
            </a:r>
            <a:r>
              <a:rPr lang="en-US" sz="3000" b="1" dirty="0" smtClean="0">
                <a:solidFill>
                  <a:schemeClr val="lt1"/>
                </a:solidFill>
              </a:rPr>
              <a:t>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000" dirty="0" smtClean="0">
                    <a:solidFill>
                      <a:schemeClr val="dk1"/>
                    </a:solidFill>
                  </a:rPr>
                  <a:t>Em resumo, uma distribuição de Poisson possui 3 características e a seguinte fórmula: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0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000" dirty="0">
                    <a:solidFill>
                      <a:schemeClr val="dk1"/>
                    </a:solidFill>
                  </a:rPr>
                  <a:t>a</a:t>
                </a:r>
                <a:r>
                  <a:rPr lang="pt-BR" sz="2000" dirty="0" smtClean="0">
                    <a:solidFill>
                      <a:schemeClr val="dk1"/>
                    </a:solidFill>
                  </a:rPr>
                  <a:t>) consiste de </a:t>
                </a:r>
                <a:r>
                  <a:rPr lang="pt-BR" sz="2000" i="1" dirty="0" smtClean="0">
                    <a:solidFill>
                      <a:schemeClr val="dk1"/>
                    </a:solidFill>
                  </a:rPr>
                  <a:t>n</a:t>
                </a:r>
                <a:r>
                  <a:rPr lang="pt-BR" sz="2000" dirty="0" smtClean="0">
                    <a:solidFill>
                      <a:schemeClr val="dk1"/>
                    </a:solidFill>
                  </a:rPr>
                  <a:t> eventos que podem ser contados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000" dirty="0" smtClean="0">
                    <a:solidFill>
                      <a:schemeClr val="dk1"/>
                    </a:solidFill>
                  </a:rPr>
                  <a:t>b) cada evento é independente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000" dirty="0">
                    <a:solidFill>
                      <a:schemeClr val="dk1"/>
                    </a:solidFill>
                  </a:rPr>
                  <a:t>c</a:t>
                </a:r>
                <a:r>
                  <a:rPr lang="pt-BR" sz="2000" dirty="0" smtClean="0">
                    <a:solidFill>
                      <a:schemeClr val="dk1"/>
                    </a:solidFill>
                  </a:rPr>
                  <a:t>) deve-se obter a média de eventos dentro de um intervalo pré-determinado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000" dirty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sup>
                        </m:sSup>
                        <m:sSup>
                          <m:sSup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pt-BR" sz="2000" dirty="0" smtClean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pt-BR" sz="2000" dirty="0" smtClean="0"/>
                  <a:t> é a média de eventos dento de um intervalo</a:t>
                </a:r>
                <a:endParaRPr lang="pt-BR" sz="2000" dirty="0"/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0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800" dirty="0" smtClean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 smtClean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 smtClean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 smtClean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 smtClean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 smtClean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dirty="0" smtClean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blipFill>
                <a:blip r:embed="rId3"/>
                <a:stretch>
                  <a:fillRect l="-741" t="-2557" r="-103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/>
          <p:cNvSpPr txBox="1"/>
          <p:nvPr/>
        </p:nvSpPr>
        <p:spPr>
          <a:xfrm>
            <a:off x="-71717" y="6014471"/>
            <a:ext cx="68311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*Exemplo com números ver </a:t>
            </a:r>
            <a:r>
              <a:rPr lang="pt-BR" dirty="0" err="1"/>
              <a:t>excel</a:t>
            </a:r>
            <a:r>
              <a:rPr lang="pt-BR" dirty="0"/>
              <a:t>: </a:t>
            </a:r>
            <a:r>
              <a:rPr lang="pt-BR" dirty="0" smtClean="0"/>
              <a:t>distrib_prob.xlsx</a:t>
            </a:r>
            <a:r>
              <a:rPr lang="pt-BR" dirty="0"/>
              <a:t>, aba </a:t>
            </a:r>
            <a:r>
              <a:rPr lang="pt-BR" dirty="0" err="1" smtClean="0"/>
              <a:t>dist_poisson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39253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Distribuição</a:t>
            </a:r>
            <a:r>
              <a:rPr lang="en-US" sz="3000" b="1" dirty="0" smtClean="0">
                <a:solidFill>
                  <a:schemeClr val="lt1"/>
                </a:solidFill>
              </a:rPr>
              <a:t> de Poisson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000" dirty="0">
                    <a:solidFill>
                      <a:schemeClr val="dk1"/>
                    </a:solidFill>
                  </a:rPr>
                  <a:t>Exemplo </a:t>
                </a:r>
                <a:r>
                  <a:rPr lang="pt-BR" sz="2000" dirty="0" smtClean="0">
                    <a:solidFill>
                      <a:schemeClr val="dk1"/>
                    </a:solidFill>
                  </a:rPr>
                  <a:t>Poisson</a:t>
                </a:r>
                <a:endParaRPr lang="pt-BR" sz="20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000" dirty="0">
                    <a:solidFill>
                      <a:schemeClr val="dk1"/>
                    </a:solidFill>
                  </a:rPr>
                  <a:t>Entender a função do </a:t>
                </a:r>
                <a:r>
                  <a:rPr lang="pt-BR" sz="2000" dirty="0" smtClean="0">
                    <a:solidFill>
                      <a:srgbClr val="FF0000"/>
                    </a:solidFill>
                  </a:rPr>
                  <a:t>Python</a:t>
                </a:r>
                <a:r>
                  <a:rPr lang="pt-BR" sz="2000" dirty="0" smtClean="0">
                    <a:solidFill>
                      <a:schemeClr val="dk1"/>
                    </a:solidFill>
                  </a:rPr>
                  <a:t> </a:t>
                </a:r>
                <a:r>
                  <a:rPr lang="pt-BR" sz="2000" dirty="0">
                    <a:solidFill>
                      <a:schemeClr val="dk1"/>
                    </a:solidFill>
                  </a:rPr>
                  <a:t>que calcula as probabilidades da distribuição </a:t>
                </a:r>
                <a:r>
                  <a:rPr lang="pt-BR" sz="2000" dirty="0" err="1" smtClean="0">
                    <a:solidFill>
                      <a:schemeClr val="dk1"/>
                    </a:solidFill>
                  </a:rPr>
                  <a:t>poisson</a:t>
                </a:r>
                <a:r>
                  <a:rPr lang="pt-BR" sz="2000" dirty="0" smtClean="0">
                    <a:solidFill>
                      <a:schemeClr val="dk1"/>
                    </a:solidFill>
                  </a:rPr>
                  <a:t>:</a:t>
                </a:r>
                <a:endParaRPr lang="pt-BR" sz="20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000" dirty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sup>
                        </m:sSup>
                        <m:sSup>
                          <m:sSup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pt-BR" sz="2000" dirty="0" smtClean="0"/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0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800" dirty="0" smtClean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 smtClean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 smtClean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 smtClean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 smtClean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 smtClean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dirty="0" smtClean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blipFill>
                <a:blip r:embed="rId3"/>
                <a:stretch>
                  <a:fillRect l="-741" t="-25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81" y="4801853"/>
            <a:ext cx="3256002" cy="607787"/>
          </a:xfrm>
          <a:prstGeom prst="rect">
            <a:avLst/>
          </a:prstGeom>
        </p:spPr>
      </p:pic>
      <p:cxnSp>
        <p:nvCxnSpPr>
          <p:cNvPr id="6" name="Conector de Seta Reta 5"/>
          <p:cNvCxnSpPr/>
          <p:nvPr/>
        </p:nvCxnSpPr>
        <p:spPr>
          <a:xfrm>
            <a:off x="2061882" y="3525870"/>
            <a:ext cx="646423" cy="1397822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/>
          <p:nvPr/>
        </p:nvCxnSpPr>
        <p:spPr>
          <a:xfrm>
            <a:off x="2278854" y="3221502"/>
            <a:ext cx="1027054" cy="170219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395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Distribuição</a:t>
            </a:r>
            <a:r>
              <a:rPr lang="en-US" sz="3000" b="1" dirty="0" smtClean="0">
                <a:solidFill>
                  <a:schemeClr val="lt1"/>
                </a:solidFill>
              </a:rPr>
              <a:t> Poisson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 smtClean="0">
                <a:solidFill>
                  <a:schemeClr val="dk1"/>
                </a:solidFill>
              </a:rPr>
              <a:t>Exemplo Poisson:</a:t>
            </a:r>
          </a:p>
          <a:p>
            <a:pPr marL="50800" lvl="0">
              <a:lnSpc>
                <a:spcPct val="115000"/>
              </a:lnSpc>
              <a:buSzPts val="2800"/>
            </a:pPr>
            <a:r>
              <a:rPr lang="pt-BR" sz="2400" dirty="0" smtClean="0">
                <a:solidFill>
                  <a:schemeClr val="dk1"/>
                </a:solidFill>
              </a:rPr>
              <a:t> 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 smtClean="0">
              <a:latin typeface="Arial" panose="020B0604020202020204" pitchFamily="34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940494" y="5583356"/>
            <a:ext cx="1535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Geramos o gráfico.</a:t>
            </a:r>
            <a:endParaRPr lang="pt-BR" sz="1200" dirty="0"/>
          </a:p>
        </p:txBody>
      </p:sp>
      <p:sp>
        <p:nvSpPr>
          <p:cNvPr id="9" name="CaixaDeTexto 8"/>
          <p:cNvSpPr txBox="1"/>
          <p:nvPr/>
        </p:nvSpPr>
        <p:spPr>
          <a:xfrm>
            <a:off x="5961269" y="2165647"/>
            <a:ext cx="2901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Criamos um data frame mantendo colunas de resultados e probabilidade.</a:t>
            </a:r>
            <a:endParaRPr lang="pt-BR" sz="1200" dirty="0"/>
          </a:p>
        </p:txBody>
      </p:sp>
      <p:cxnSp>
        <p:nvCxnSpPr>
          <p:cNvPr id="8" name="Conector de Seta Reta 7"/>
          <p:cNvCxnSpPr>
            <a:stCxn id="9" idx="2"/>
          </p:cNvCxnSpPr>
          <p:nvPr/>
        </p:nvCxnSpPr>
        <p:spPr>
          <a:xfrm flipH="1">
            <a:off x="5289452" y="2627312"/>
            <a:ext cx="2122506" cy="72192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de Seta Reta 5"/>
          <p:cNvCxnSpPr>
            <a:stCxn id="7" idx="0"/>
          </p:cNvCxnSpPr>
          <p:nvPr/>
        </p:nvCxnSpPr>
        <p:spPr>
          <a:xfrm flipV="1">
            <a:off x="1708204" y="5049245"/>
            <a:ext cx="120596" cy="53411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10" y="2154798"/>
            <a:ext cx="4762500" cy="1400175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47" y="3677645"/>
            <a:ext cx="6896100" cy="23812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02" y="4243127"/>
            <a:ext cx="2714625" cy="790575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737" y="4194873"/>
            <a:ext cx="363855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824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Problema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4553231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1600" dirty="0" smtClean="0">
                <a:latin typeface="Arial" panose="020B0604020202020204" pitchFamily="34" charset="0"/>
              </a:rPr>
              <a:t>Anualmente ocorrem cerca de 270 milhões de acidentes e trabalho e 160 milhões de casos de doenças ocupacionais são registradas no mundo.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1600" dirty="0" smtClean="0">
                <a:latin typeface="Arial" panose="020B0604020202020204" pitchFamily="34" charset="0"/>
              </a:rPr>
              <a:t>+ 2 milhões de pessoas perdem a vida todos os anos durante o trabalho (6,3 mil mortes por dia).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1600" dirty="0" smtClean="0">
                <a:latin typeface="Arial" panose="020B0604020202020204" pitchFamily="34" charset="0"/>
              </a:rPr>
              <a:t>Os custos globais chegam a 2,8 trilhões de dólares (podem comprometer até 4% do PIB mundial).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50800">
              <a:lnSpc>
                <a:spcPct val="115000"/>
              </a:lnSpc>
              <a:buSzPts val="2800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 smtClean="0">
              <a:latin typeface="Arial" panose="020B0604020202020204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-44822" y="6109024"/>
            <a:ext cx="9341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 smtClean="0"/>
              <a:t>Fonte: </a:t>
            </a:r>
            <a:r>
              <a:rPr lang="pt-BR" sz="1000" dirty="0">
                <a:hlinkClick r:id="rId3"/>
              </a:rPr>
              <a:t>https://www.seebcgms.org.br/noticia/acidentes-de-trabalho-matam-mais-do-que-guerras/</a:t>
            </a:r>
            <a:endParaRPr lang="pt-BR" sz="10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403" y="1798265"/>
            <a:ext cx="3764159" cy="2083454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1129553" y="4732994"/>
            <a:ext cx="7467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 smtClean="0"/>
              <a:t>Qual a probabilidade de ocorrer algum acidente dado um histórico de acidentes?</a:t>
            </a: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4240715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Preparação</a:t>
            </a:r>
            <a:r>
              <a:rPr lang="en-US" sz="3000" b="1" dirty="0" smtClean="0">
                <a:solidFill>
                  <a:schemeClr val="lt1"/>
                </a:solidFill>
              </a:rPr>
              <a:t> dos dados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 smtClean="0">
                <a:solidFill>
                  <a:schemeClr val="dk1"/>
                </a:solidFill>
              </a:rPr>
              <a:t>Carregar pacotes e dados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 smtClean="0">
              <a:latin typeface="Arial" panose="020B0604020202020204" pitchFamily="34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6571130" y="4144890"/>
            <a:ext cx="6737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Dados.</a:t>
            </a:r>
            <a:endParaRPr lang="pt-BR" sz="1200" dirty="0"/>
          </a:p>
        </p:txBody>
      </p:sp>
      <p:cxnSp>
        <p:nvCxnSpPr>
          <p:cNvPr id="6" name="Conector de Seta Reta 5"/>
          <p:cNvCxnSpPr>
            <a:stCxn id="3" idx="1"/>
          </p:cNvCxnSpPr>
          <p:nvPr/>
        </p:nvCxnSpPr>
        <p:spPr>
          <a:xfrm flipH="1">
            <a:off x="4811324" y="4283390"/>
            <a:ext cx="1759806" cy="77419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5528502" y="3137213"/>
            <a:ext cx="787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Pacotes.</a:t>
            </a:r>
            <a:endParaRPr lang="pt-BR" sz="1200" dirty="0"/>
          </a:p>
        </p:txBody>
      </p:sp>
      <p:cxnSp>
        <p:nvCxnSpPr>
          <p:cNvPr id="10" name="Conector de Seta Reta 9"/>
          <p:cNvCxnSpPr>
            <a:stCxn id="9" idx="1"/>
          </p:cNvCxnSpPr>
          <p:nvPr/>
        </p:nvCxnSpPr>
        <p:spPr>
          <a:xfrm flipH="1">
            <a:off x="4811324" y="3275713"/>
            <a:ext cx="717178" cy="13603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90" y="2459407"/>
            <a:ext cx="3750533" cy="1544337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939" y="5057588"/>
            <a:ext cx="5831686" cy="553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883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Uso</a:t>
            </a:r>
            <a:r>
              <a:rPr lang="en-US" sz="3000" b="1" dirty="0" smtClean="0">
                <a:solidFill>
                  <a:schemeClr val="lt1"/>
                </a:solidFill>
              </a:rPr>
              <a:t> das </a:t>
            </a:r>
            <a:r>
              <a:rPr lang="en-US" sz="3000" b="1" dirty="0" err="1" smtClean="0">
                <a:solidFill>
                  <a:schemeClr val="lt1"/>
                </a:solidFill>
              </a:rPr>
              <a:t>funções</a:t>
            </a:r>
            <a:r>
              <a:rPr lang="en-US" sz="3000" b="1" dirty="0" smtClean="0">
                <a:solidFill>
                  <a:schemeClr val="lt1"/>
                </a:solidFill>
              </a:rPr>
              <a:t> do R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b="1" dirty="0"/>
              <a:t>Qual a probabilidade de ocorrer </a:t>
            </a:r>
            <a:r>
              <a:rPr lang="pt-BR" sz="2000" b="1" dirty="0" smtClean="0"/>
              <a:t>algum </a:t>
            </a:r>
            <a:r>
              <a:rPr lang="pt-BR" sz="2000" b="1" dirty="0"/>
              <a:t>acidente dado um histórico de acidentes</a:t>
            </a:r>
            <a:r>
              <a:rPr lang="pt-BR" sz="2000" b="1" dirty="0" smtClean="0"/>
              <a:t>?</a:t>
            </a:r>
          </a:p>
          <a:p>
            <a:pPr marL="50800">
              <a:lnSpc>
                <a:spcPct val="115000"/>
              </a:lnSpc>
              <a:buSzPts val="2800"/>
            </a:pPr>
            <a:endParaRPr lang="pt-BR" altLang="pt-BR" sz="20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2000" dirty="0">
                <a:latin typeface="Arial" panose="020B0604020202020204" pitchFamily="34" charset="0"/>
              </a:rPr>
              <a:t>Qual a distribuição de probabilidade você assumiria para resolver este problema?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2000" dirty="0" smtClean="0">
                <a:latin typeface="Arial" panose="020B0604020202020204" pitchFamily="34" charset="0"/>
              </a:rPr>
              <a:t>Se uma empresa tem média mensal de 20 acidentes. Qual a probabilidade de ocorrer 7 acidentes?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2000" dirty="0">
                <a:latin typeface="Arial" panose="020B0604020202020204" pitchFamily="34" charset="0"/>
              </a:rPr>
              <a:t>Qual a probabilidade de ocorrer </a:t>
            </a:r>
            <a:r>
              <a:rPr lang="pt-BR" altLang="pt-BR" sz="2000" dirty="0" smtClean="0">
                <a:latin typeface="Arial" panose="020B0604020202020204" pitchFamily="34" charset="0"/>
              </a:rPr>
              <a:t>entre 15 a 17 </a:t>
            </a:r>
            <a:r>
              <a:rPr lang="pt-BR" altLang="pt-BR" sz="2000" dirty="0">
                <a:latin typeface="Arial" panose="020B0604020202020204" pitchFamily="34" charset="0"/>
              </a:rPr>
              <a:t>acidentes</a:t>
            </a:r>
            <a:r>
              <a:rPr lang="pt-BR" altLang="pt-BR" sz="2000" dirty="0" smtClean="0">
                <a:latin typeface="Arial" panose="020B0604020202020204" pitchFamily="34" charset="0"/>
              </a:rPr>
              <a:t>? Mesma média.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458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Resolução</a:t>
            </a:r>
            <a:r>
              <a:rPr lang="en-US" sz="3000" b="1" dirty="0" smtClean="0">
                <a:solidFill>
                  <a:schemeClr val="lt1"/>
                </a:solidFill>
              </a:rPr>
              <a:t> 2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altLang="pt-BR" sz="2000" b="1" dirty="0" smtClean="0">
                    <a:latin typeface="Arial" panose="020B0604020202020204" pitchFamily="34" charset="0"/>
                  </a:rPr>
                  <a:t>Se uma empresa tem média mensal de 20 acidentes. Qual a probabilidade de ocorrer 7 acidentes?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000" dirty="0" smtClean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altLang="pt-BR" sz="2000" dirty="0" smtClean="0">
                    <a:latin typeface="Arial" panose="020B0604020202020204" pitchFamily="34" charset="0"/>
                  </a:rPr>
                  <a:t>Vamos utilizar a distribuição de </a:t>
                </a:r>
                <a:r>
                  <a:rPr lang="pt-BR" altLang="pt-BR" sz="2000" dirty="0" err="1" smtClean="0">
                    <a:latin typeface="Arial" panose="020B0604020202020204" pitchFamily="34" charset="0"/>
                  </a:rPr>
                  <a:t>poisson</a:t>
                </a:r>
                <a:endParaRPr lang="pt-BR" altLang="pt-BR" sz="2000" dirty="0" smtClean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000" dirty="0"/>
                  <a:t>20 é a média de eventos dento de um intervalo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  <m:sSup>
                          <m:sSupPr>
                            <m:ctrlPr>
                              <a:rPr lang="pt-B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  <m:sup>
                            <m:r>
                              <a:rPr lang="pt-B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=0,000523=0,052%</m:t>
                    </m:r>
                  </m:oMath>
                </a14:m>
                <a:endParaRPr lang="pt-BR" sz="20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b="1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 smtClean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 smtClean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dirty="0" smtClean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blipFill>
                <a:blip r:embed="rId3"/>
                <a:stretch>
                  <a:fillRect l="-741" t="-25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ector de Seta Reta 5"/>
          <p:cNvCxnSpPr>
            <a:stCxn id="4" idx="3"/>
          </p:cNvCxnSpPr>
          <p:nvPr/>
        </p:nvCxnSpPr>
        <p:spPr>
          <a:xfrm flipV="1">
            <a:off x="3427095" y="4724119"/>
            <a:ext cx="1280791" cy="358522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74" y="4383460"/>
            <a:ext cx="3093721" cy="1398362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7886" y="4482945"/>
            <a:ext cx="3246566" cy="482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15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Resolução</a:t>
            </a:r>
            <a:r>
              <a:rPr lang="en-US" sz="3000" b="1" dirty="0" smtClean="0">
                <a:solidFill>
                  <a:schemeClr val="lt1"/>
                </a:solidFill>
              </a:rPr>
              <a:t> </a:t>
            </a:r>
            <a:r>
              <a:rPr lang="en-US" sz="3000" b="1" dirty="0">
                <a:solidFill>
                  <a:schemeClr val="lt1"/>
                </a:solidFill>
              </a:rPr>
              <a:t>3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altLang="pt-BR" sz="2000" b="1" dirty="0" smtClean="0">
                    <a:latin typeface="Arial" panose="020B0604020202020204" pitchFamily="34" charset="0"/>
                  </a:rPr>
                  <a:t>Qual a probabilidade de ocorrer entre 15 a 17 acidentes? (mesma média, 20 acidentes)</a:t>
                </a:r>
                <a:endParaRPr lang="pt-BR" altLang="pt-BR" sz="2000" b="1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000" b="1" dirty="0" smtClean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000" dirty="0" smtClean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000" dirty="0"/>
                  <a:t>20 é a média de eventos dento de um intervalo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p>
                        </m:sSup>
                        <m:sSup>
                          <m:sSupPr>
                            <m:ctrlPr>
                              <a:rPr lang="pt-B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  <m:sup>
                            <m:r>
                              <a:rPr lang="pt-B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15</m:t>
                            </m:r>
                          </m:sup>
                        </m:sSup>
                      </m:num>
                      <m:den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p>
                          <m:sSupPr>
                            <m:ctrlPr>
                              <a:rPr lang="pt-B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  <m:sup>
                            <m:r>
                              <a:rPr lang="pt-B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pt-B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sSup>
                          <m:sSupPr>
                            <m:ctrlPr>
                              <a:rPr lang="pt-B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  <m:sup>
                            <m:r>
                              <a:rPr lang="pt-B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pt-B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=0,1922=19,22%</m:t>
                    </m:r>
                  </m:oMath>
                </a14:m>
                <a:endParaRPr lang="pt-BR" altLang="pt-BR" sz="2000" b="1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 smtClean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 smtClean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dirty="0" smtClean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blipFill>
                <a:blip r:embed="rId3"/>
                <a:stretch>
                  <a:fillRect l="-741" t="-25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ector de Seta Reta 5"/>
          <p:cNvCxnSpPr>
            <a:endCxn id="7" idx="1"/>
          </p:cNvCxnSpPr>
          <p:nvPr/>
        </p:nvCxnSpPr>
        <p:spPr>
          <a:xfrm flipV="1">
            <a:off x="5784028" y="4892508"/>
            <a:ext cx="737223" cy="255209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40" y="4285020"/>
            <a:ext cx="5623988" cy="1725392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1251" y="4655614"/>
            <a:ext cx="2622749" cy="47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739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Análise</a:t>
            </a:r>
            <a:r>
              <a:rPr lang="en-US" sz="3000" b="1" dirty="0" smtClean="0">
                <a:solidFill>
                  <a:schemeClr val="lt1"/>
                </a:solidFill>
              </a:rPr>
              <a:t> do </a:t>
            </a:r>
            <a:r>
              <a:rPr lang="en-US" sz="3000" b="1" dirty="0" err="1" smtClean="0">
                <a:solidFill>
                  <a:schemeClr val="lt1"/>
                </a:solidFill>
              </a:rPr>
              <a:t>problema</a:t>
            </a:r>
            <a:r>
              <a:rPr lang="en-US" sz="3000" b="1" dirty="0" smtClean="0">
                <a:solidFill>
                  <a:schemeClr val="lt1"/>
                </a:solidFill>
              </a:rPr>
              <a:t> com dados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b="1" dirty="0"/>
              <a:t>Qual a probabilidade de ocorrer </a:t>
            </a:r>
            <a:r>
              <a:rPr lang="pt-BR" sz="2000" b="1" dirty="0" smtClean="0"/>
              <a:t>algum </a:t>
            </a:r>
            <a:r>
              <a:rPr lang="pt-BR" sz="2000" b="1" dirty="0"/>
              <a:t>acidente dado um histórico de acidentes</a:t>
            </a:r>
            <a:r>
              <a:rPr lang="pt-BR" sz="2000" b="1" dirty="0" smtClean="0"/>
              <a:t>?</a:t>
            </a:r>
          </a:p>
          <a:p>
            <a:pPr marL="50800">
              <a:lnSpc>
                <a:spcPct val="115000"/>
              </a:lnSpc>
              <a:buSzPts val="2800"/>
            </a:pPr>
            <a:endParaRPr lang="pt-BR" altLang="pt-BR" sz="20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2000" dirty="0" smtClean="0">
                <a:latin typeface="Arial" panose="020B0604020202020204" pitchFamily="34" charset="0"/>
              </a:rPr>
              <a:t>Em nosso conjunto de dados, qual foi a média mensal de acidentes?</a:t>
            </a: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2000" dirty="0" smtClean="0">
                <a:latin typeface="Arial" panose="020B0604020202020204" pitchFamily="34" charset="0"/>
              </a:rPr>
              <a:t>Utilize a média mensal obtida anteriormente. Qual a probabilidade de ocorrer 7 acidentes?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2000" dirty="0">
                <a:latin typeface="Arial" panose="020B0604020202020204" pitchFamily="34" charset="0"/>
              </a:rPr>
              <a:t>Qual a probabilidade de ocorrer </a:t>
            </a:r>
            <a:r>
              <a:rPr lang="pt-BR" altLang="pt-BR" sz="2000" dirty="0" smtClean="0">
                <a:latin typeface="Arial" panose="020B0604020202020204" pitchFamily="34" charset="0"/>
              </a:rPr>
              <a:t>entre </a:t>
            </a:r>
            <a:r>
              <a:rPr lang="pt-BR" altLang="pt-BR" sz="2000" dirty="0">
                <a:latin typeface="Arial" panose="020B0604020202020204" pitchFamily="34" charset="0"/>
              </a:rPr>
              <a:t>4</a:t>
            </a:r>
            <a:r>
              <a:rPr lang="pt-BR" altLang="pt-BR" sz="2000" dirty="0" smtClean="0">
                <a:latin typeface="Arial" panose="020B0604020202020204" pitchFamily="34" charset="0"/>
              </a:rPr>
              <a:t> </a:t>
            </a:r>
            <a:r>
              <a:rPr lang="pt-BR" altLang="pt-BR" sz="2000" dirty="0" smtClean="0">
                <a:latin typeface="Arial" panose="020B0604020202020204" pitchFamily="34" charset="0"/>
              </a:rPr>
              <a:t>a </a:t>
            </a:r>
            <a:r>
              <a:rPr lang="pt-BR" altLang="pt-BR" sz="2000" dirty="0">
                <a:latin typeface="Arial" panose="020B0604020202020204" pitchFamily="34" charset="0"/>
              </a:rPr>
              <a:t>6</a:t>
            </a:r>
            <a:r>
              <a:rPr lang="pt-BR" altLang="pt-BR" sz="2000" dirty="0" smtClean="0">
                <a:latin typeface="Arial" panose="020B0604020202020204" pitchFamily="34" charset="0"/>
              </a:rPr>
              <a:t> </a:t>
            </a:r>
            <a:r>
              <a:rPr lang="pt-BR" altLang="pt-BR" sz="2000" dirty="0">
                <a:latin typeface="Arial" panose="020B0604020202020204" pitchFamily="34" charset="0"/>
              </a:rPr>
              <a:t>acidentes? (Utilize a média mensal obtida anteriormente)</a:t>
            </a:r>
            <a:endParaRPr lang="pt-BR" altLang="pt-BR" sz="20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656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Análise</a:t>
            </a:r>
            <a:r>
              <a:rPr lang="en-US" sz="3000" b="1" dirty="0" smtClean="0">
                <a:solidFill>
                  <a:schemeClr val="lt1"/>
                </a:solidFill>
              </a:rPr>
              <a:t> do </a:t>
            </a:r>
            <a:r>
              <a:rPr lang="en-US" sz="3000" b="1" dirty="0" err="1" smtClean="0">
                <a:solidFill>
                  <a:schemeClr val="lt1"/>
                </a:solidFill>
              </a:rPr>
              <a:t>problema</a:t>
            </a:r>
            <a:r>
              <a:rPr lang="en-US" sz="3000" b="1" dirty="0" smtClean="0">
                <a:solidFill>
                  <a:schemeClr val="lt1"/>
                </a:solidFill>
              </a:rPr>
              <a:t> com dados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2000" dirty="0" smtClean="0">
                <a:latin typeface="Arial" panose="020B0604020202020204" pitchFamily="34" charset="0"/>
              </a:rPr>
              <a:t>Em nosso conjunto de dados, qual foi a média mensal de acidentes?</a:t>
            </a: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 smtClean="0">
              <a:latin typeface="Arial" panose="020B0604020202020204" pitchFamily="34" charset="0"/>
            </a:endParaRPr>
          </a:p>
        </p:txBody>
      </p:sp>
      <p:cxnSp>
        <p:nvCxnSpPr>
          <p:cNvPr id="5" name="Conector de Seta Reta 4"/>
          <p:cNvCxnSpPr>
            <a:stCxn id="6" idx="1"/>
          </p:cNvCxnSpPr>
          <p:nvPr/>
        </p:nvCxnSpPr>
        <p:spPr>
          <a:xfrm flipH="1">
            <a:off x="6348413" y="3312745"/>
            <a:ext cx="905558" cy="17604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7253971" y="2989579"/>
            <a:ext cx="17075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Preparamos os dados para obter a série histórica de acidentes.</a:t>
            </a:r>
            <a:endParaRPr lang="pt-BR" sz="1200" dirty="0"/>
          </a:p>
        </p:txBody>
      </p:sp>
      <p:cxnSp>
        <p:nvCxnSpPr>
          <p:cNvPr id="8" name="Conector de Seta Reta 7"/>
          <p:cNvCxnSpPr>
            <a:stCxn id="9" idx="1"/>
          </p:cNvCxnSpPr>
          <p:nvPr/>
        </p:nvCxnSpPr>
        <p:spPr>
          <a:xfrm flipH="1" flipV="1">
            <a:off x="5586315" y="5362485"/>
            <a:ext cx="1560490" cy="23083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7146805" y="5362485"/>
            <a:ext cx="1707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Código para obter a média mensal.</a:t>
            </a:r>
            <a:endParaRPr lang="pt-BR" sz="12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4" y="2370218"/>
            <a:ext cx="5953125" cy="1809750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65" y="5065874"/>
            <a:ext cx="4859137" cy="98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531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Análise</a:t>
            </a:r>
            <a:r>
              <a:rPr lang="en-US" sz="3000" b="1" dirty="0" smtClean="0">
                <a:solidFill>
                  <a:schemeClr val="lt1"/>
                </a:solidFill>
              </a:rPr>
              <a:t> do </a:t>
            </a:r>
            <a:r>
              <a:rPr lang="en-US" sz="3000" b="1" dirty="0" err="1" smtClean="0">
                <a:solidFill>
                  <a:schemeClr val="lt1"/>
                </a:solidFill>
              </a:rPr>
              <a:t>problema</a:t>
            </a:r>
            <a:r>
              <a:rPr lang="en-US" sz="3000" b="1" dirty="0" smtClean="0">
                <a:solidFill>
                  <a:schemeClr val="lt1"/>
                </a:solidFill>
              </a:rPr>
              <a:t> com dados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2000" dirty="0" smtClean="0">
                <a:latin typeface="Arial" panose="020B0604020202020204" pitchFamily="34" charset="0"/>
              </a:rPr>
              <a:t>Utilize a média mensal obtida anteriormente. Qual a probabilidade de ocorrer 7 acidentes?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 smtClean="0">
              <a:latin typeface="Arial" panose="020B0604020202020204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812" y="3064192"/>
            <a:ext cx="6730375" cy="190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9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Análise</a:t>
            </a:r>
            <a:r>
              <a:rPr lang="en-US" sz="3000" b="1" dirty="0" smtClean="0">
                <a:solidFill>
                  <a:schemeClr val="lt1"/>
                </a:solidFill>
              </a:rPr>
              <a:t> do </a:t>
            </a:r>
            <a:r>
              <a:rPr lang="en-US" sz="3000" b="1" dirty="0" err="1" smtClean="0">
                <a:solidFill>
                  <a:schemeClr val="lt1"/>
                </a:solidFill>
              </a:rPr>
              <a:t>problema</a:t>
            </a:r>
            <a:r>
              <a:rPr lang="en-US" sz="3000" b="1" dirty="0" smtClean="0">
                <a:solidFill>
                  <a:schemeClr val="lt1"/>
                </a:solidFill>
              </a:rPr>
              <a:t> com dados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2000" dirty="0" smtClean="0">
                <a:latin typeface="Arial" panose="020B0604020202020204" pitchFamily="34" charset="0"/>
              </a:rPr>
              <a:t>Qual </a:t>
            </a:r>
            <a:r>
              <a:rPr lang="pt-BR" altLang="pt-BR" sz="2000" dirty="0">
                <a:latin typeface="Arial" panose="020B0604020202020204" pitchFamily="34" charset="0"/>
              </a:rPr>
              <a:t>a probabilidade de ocorrer </a:t>
            </a:r>
            <a:r>
              <a:rPr lang="pt-BR" altLang="pt-BR" sz="2000" dirty="0" smtClean="0">
                <a:latin typeface="Arial" panose="020B0604020202020204" pitchFamily="34" charset="0"/>
              </a:rPr>
              <a:t>entre 4 a </a:t>
            </a:r>
            <a:r>
              <a:rPr lang="pt-BR" altLang="pt-BR" sz="2000" dirty="0">
                <a:latin typeface="Arial" panose="020B0604020202020204" pitchFamily="34" charset="0"/>
              </a:rPr>
              <a:t>6</a:t>
            </a:r>
            <a:r>
              <a:rPr lang="pt-BR" altLang="pt-BR" sz="2000" dirty="0" smtClean="0">
                <a:latin typeface="Arial" panose="020B0604020202020204" pitchFamily="34" charset="0"/>
              </a:rPr>
              <a:t> </a:t>
            </a:r>
            <a:r>
              <a:rPr lang="pt-BR" altLang="pt-BR" sz="2000" dirty="0">
                <a:latin typeface="Arial" panose="020B0604020202020204" pitchFamily="34" charset="0"/>
              </a:rPr>
              <a:t>acidentes? (Utilize a média mensal obtida anteriormente)</a:t>
            </a:r>
            <a:endParaRPr lang="pt-BR" altLang="pt-BR" sz="20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 smtClean="0">
              <a:latin typeface="Arial" panose="020B0604020202020204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069" y="2793609"/>
            <a:ext cx="5974937" cy="227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066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Onde</a:t>
            </a:r>
            <a:r>
              <a:rPr lang="en-US" sz="3000" b="1" dirty="0" smtClean="0">
                <a:solidFill>
                  <a:schemeClr val="lt1"/>
                </a:solidFill>
              </a:rPr>
              <a:t> </a:t>
            </a:r>
            <a:r>
              <a:rPr lang="en-US" sz="3000" b="1" dirty="0" err="1" smtClean="0">
                <a:solidFill>
                  <a:schemeClr val="lt1"/>
                </a:solidFill>
              </a:rPr>
              <a:t>estudar</a:t>
            </a:r>
            <a:r>
              <a:rPr lang="en-US" sz="3000" b="1" dirty="0" smtClean="0">
                <a:solidFill>
                  <a:schemeClr val="lt1"/>
                </a:solidFill>
              </a:rPr>
              <a:t> </a:t>
            </a:r>
            <a:r>
              <a:rPr lang="en-US" sz="3000" b="1" dirty="0" err="1" smtClean="0">
                <a:solidFill>
                  <a:schemeClr val="lt1"/>
                </a:solidFill>
              </a:rPr>
              <a:t>mais</a:t>
            </a:r>
            <a:r>
              <a:rPr lang="en-US" sz="3000" b="1" dirty="0" smtClean="0">
                <a:solidFill>
                  <a:schemeClr val="lt1"/>
                </a:solidFill>
              </a:rPr>
              <a:t>!!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3853984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lang="pt-BR" sz="2000" dirty="0" smtClean="0"/>
              <a:t>Leitura</a:t>
            </a: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 smtClean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 smtClean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 smtClean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 smtClean="0"/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 smtClean="0"/>
              <a:t>D</a:t>
            </a:r>
            <a:r>
              <a:rPr lang="pt-BR" sz="2000" b="0" i="0" u="none" strike="noStrike" cap="none" dirty="0" smtClean="0">
                <a:solidFill>
                  <a:srgbClr val="000000"/>
                </a:solidFill>
                <a:sym typeface="Arial"/>
              </a:rPr>
              <a:t>istribuições discretas: </a:t>
            </a:r>
            <a:r>
              <a:rPr lang="pt-BR" sz="1000" dirty="0" smtClean="0">
                <a:hlinkClick r:id="rId3"/>
              </a:rPr>
              <a:t>https</a:t>
            </a:r>
            <a:r>
              <a:rPr lang="pt-BR" sz="1000" dirty="0">
                <a:hlinkClick r:id="rId3"/>
              </a:rPr>
              <a:t>://pt.khanacademy.org/math/ap-statistics/random-variables-ap/discrete-random-variables/v/discrete-probability-distribution</a:t>
            </a:r>
            <a:endParaRPr lang="pt-BR" sz="1000" b="0" i="0" u="none" strike="noStrike" cap="none" dirty="0" smtClean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dirty="0" smtClean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29210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Shape 413"/>
          <p:cNvSpPr/>
          <p:nvPr/>
        </p:nvSpPr>
        <p:spPr>
          <a:xfrm>
            <a:off x="4859713" y="1393397"/>
            <a:ext cx="3853984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lang="pt-BR" sz="2000" dirty="0" smtClean="0"/>
              <a:t>Vídeos</a:t>
            </a: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1100" dirty="0" smtClean="0"/>
              <a:t>Distribuição Binomial: </a:t>
            </a:r>
            <a:r>
              <a:rPr lang="pt-BR" sz="1100" dirty="0" smtClean="0">
                <a:hlinkClick r:id="rId4"/>
              </a:rPr>
              <a:t>https</a:t>
            </a:r>
            <a:r>
              <a:rPr lang="pt-BR" sz="1100" dirty="0">
                <a:hlinkClick r:id="rId4"/>
              </a:rPr>
              <a:t>://pt.khanacademy.org/math/statistics-probability/random-variables-stats-library/binomial-random-variables/v/binomial-distribution</a:t>
            </a:r>
            <a:endParaRPr lang="pt-BR" sz="1100" dirty="0" smtClean="0"/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1100" b="0" i="0" u="none" strike="noStrike" cap="none" dirty="0" smtClean="0">
              <a:solidFill>
                <a:srgbClr val="000000"/>
              </a:solidFill>
              <a:sym typeface="Arial"/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1100" dirty="0" smtClean="0"/>
              <a:t>Distribuição de Poisson: </a:t>
            </a:r>
            <a:r>
              <a:rPr lang="pt-BR" sz="1100" dirty="0">
                <a:hlinkClick r:id="rId5"/>
              </a:rPr>
              <a:t>https://pt.khanacademy.org/math/statistics-probability/random-variables-stats-library/poisson-distribution/v/poisson-process-1</a:t>
            </a:r>
            <a:endParaRPr lang="pt-BR" sz="28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29210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1034" y="1968817"/>
            <a:ext cx="1742489" cy="261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72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Shape 4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Shape 455"/>
          <p:cNvPicPr preferRelativeResize="0"/>
          <p:nvPr/>
        </p:nvPicPr>
        <p:blipFill rotWithShape="1">
          <a:blip r:embed="rId4">
            <a:alphaModFix/>
          </a:blip>
          <a:srcRect l="14" r="14"/>
          <a:stretch/>
        </p:blipFill>
        <p:spPr>
          <a:xfrm>
            <a:off x="215412" y="642938"/>
            <a:ext cx="8440615" cy="5716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5_Personalizar design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3551</TotalTime>
  <Words>921</Words>
  <Application>Microsoft Office PowerPoint</Application>
  <PresentationFormat>Apresentação na tela (4:3)</PresentationFormat>
  <Paragraphs>317</Paragraphs>
  <Slides>30</Slides>
  <Notes>30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30</vt:i4>
      </vt:variant>
    </vt:vector>
  </HeadingPairs>
  <TitlesOfParts>
    <vt:vector size="36" baseType="lpstr">
      <vt:lpstr>Cambria Math</vt:lpstr>
      <vt:lpstr>Arial</vt:lpstr>
      <vt:lpstr>Montserrat</vt:lpstr>
      <vt:lpstr>Calibri</vt:lpstr>
      <vt:lpstr>Office Theme</vt:lpstr>
      <vt:lpstr>5_Personalizar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Neto Alcides</cp:lastModifiedBy>
  <cp:revision>322</cp:revision>
  <dcterms:modified xsi:type="dcterms:W3CDTF">2021-09-08T12:46:26Z</dcterms:modified>
</cp:coreProperties>
</file>