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  <p:sldMasterId id="2147483664" r:id="rId2"/>
  </p:sldMasterIdLst>
  <p:notesMasterIdLst>
    <p:notesMasterId r:id="rId33"/>
  </p:notesMasterIdLst>
  <p:sldIdLst>
    <p:sldId id="256" r:id="rId3"/>
    <p:sldId id="257" r:id="rId4"/>
    <p:sldId id="285" r:id="rId5"/>
    <p:sldId id="344" r:id="rId6"/>
    <p:sldId id="300" r:id="rId7"/>
    <p:sldId id="348" r:id="rId8"/>
    <p:sldId id="349" r:id="rId9"/>
    <p:sldId id="386" r:id="rId10"/>
    <p:sldId id="350" r:id="rId11"/>
    <p:sldId id="376" r:id="rId12"/>
    <p:sldId id="387" r:id="rId13"/>
    <p:sldId id="377" r:id="rId14"/>
    <p:sldId id="379" r:id="rId15"/>
    <p:sldId id="393" r:id="rId16"/>
    <p:sldId id="388" r:id="rId17"/>
    <p:sldId id="392" r:id="rId18"/>
    <p:sldId id="389" r:id="rId19"/>
    <p:sldId id="390" r:id="rId20"/>
    <p:sldId id="394" r:id="rId21"/>
    <p:sldId id="395" r:id="rId22"/>
    <p:sldId id="391" r:id="rId23"/>
    <p:sldId id="397" r:id="rId24"/>
    <p:sldId id="398" r:id="rId25"/>
    <p:sldId id="380" r:id="rId26"/>
    <p:sldId id="362" r:id="rId27"/>
    <p:sldId id="399" r:id="rId28"/>
    <p:sldId id="400" r:id="rId29"/>
    <p:sldId id="336" r:id="rId30"/>
    <p:sldId id="343" r:id="rId31"/>
    <p:sldId id="307" r:id="rId32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Cambria Math" panose="02040503050406030204" pitchFamily="18" charset="0"/>
      <p:regular r:id="rId38"/>
    </p:embeddedFont>
    <p:embeddedFont>
      <p:font typeface="Montserrat" panose="00000500000000000000" pitchFamily="2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88E95B-7D3C-4000-9396-C2E5DE68CFB0}">
  <a:tblStyle styleId="{B388E95B-7D3C-4000-9396-C2E5DE68CFB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92" autoAdjust="0"/>
    <p:restoredTop sz="92875" autoAdjust="0"/>
  </p:normalViewPr>
  <p:slideViewPr>
    <p:cSldViewPr snapToGrid="0">
      <p:cViewPr varScale="1">
        <p:scale>
          <a:sx n="64" d="100"/>
          <a:sy n="64" d="100"/>
        </p:scale>
        <p:origin x="154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6.fntdata"/><Relationship Id="rId21" Type="http://schemas.openxmlformats.org/officeDocument/2006/relationships/slide" Target="slides/slide19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3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2.fntdata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" name="Shape 10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9" name="Shape 10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hape 30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Shape 30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5450907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tabLst/>
              <a:defRPr/>
            </a:pPr>
            <a:endParaRPr lang="pt-BR"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40202984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0621868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6164879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35186891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9308445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33223617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6783645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2905753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42746917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5493095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1711144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40922185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41887364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711842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4947609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39386612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8863565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7686806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30662309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1418562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8618266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0699004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64475948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008078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Shape 4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Shape 45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las">
  <p:cSld name="Tela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med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ads Escuro MBA">
  <p:cSld name="Quads Escuro MBA">
    <p:bg>
      <p:bgPr>
        <a:blipFill rotWithShape="1"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body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body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body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Shape 54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Shape 55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Shape 59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3" name="Shape 63"/>
          <p:cNvSpPr txBox="1">
            <a:spLocks noGrp="1"/>
          </p:cNvSpPr>
          <p:nvPr>
            <p:ph type="body" idx="1"/>
          </p:nvPr>
        </p:nvSpPr>
        <p:spPr>
          <a:xfrm>
            <a:off x="3575051" y="273052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Shape 64"/>
          <p:cNvSpPr txBox="1">
            <a:spLocks noGrp="1"/>
          </p:cNvSpPr>
          <p:nvPr>
            <p:ph type="body" idx="2"/>
          </p:nvPr>
        </p:nvSpPr>
        <p:spPr>
          <a:xfrm>
            <a:off x="457200" y="1435102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Shape 65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0" name="Shape 7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Shape 7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Shape 72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Shape 73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7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Shape 78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 txBox="1">
            <a:spLocks noGrp="1"/>
          </p:cNvSpPr>
          <p:nvPr>
            <p:ph type="title"/>
          </p:nvPr>
        </p:nvSpPr>
        <p:spPr>
          <a:xfrm rot="5400000">
            <a:off x="4732337" y="2171703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" name="Shape 8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3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Shape 84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Shape 85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Shape 86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udo_D">
  <p:cSld name="Conteudo_D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Shape 8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Shape 89"/>
          <p:cNvSpPr txBox="1">
            <a:spLocks noGrp="1"/>
          </p:cNvSpPr>
          <p:nvPr>
            <p:ph type="body" idx="1"/>
          </p:nvPr>
        </p:nvSpPr>
        <p:spPr>
          <a:xfrm>
            <a:off x="251521" y="908720"/>
            <a:ext cx="7632848" cy="5328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Shape 9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91" name="Shape 91"/>
          <p:cNvSpPr txBox="1">
            <a:spLocks noGrp="1"/>
          </p:cNvSpPr>
          <p:nvPr>
            <p:ph type="body" idx="2"/>
          </p:nvPr>
        </p:nvSpPr>
        <p:spPr>
          <a:xfrm>
            <a:off x="251521" y="44626"/>
            <a:ext cx="7704534" cy="575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Slide de título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/>
        </p:nvSpPr>
        <p:spPr>
          <a:xfrm>
            <a:off x="0" y="4904650"/>
            <a:ext cx="9144300" cy="141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/>
            </a:lvl2pPr>
            <a:lvl3pPr marL="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/>
            </a:lvl3pPr>
            <a:lvl4pPr marL="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/>
            </a:lvl4pPr>
            <a:lvl5pPr marL="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/>
            </a:lvl5pPr>
            <a:lvl6pPr marL="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/>
            </a:lvl6pPr>
            <a:lvl7pPr marL="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/>
            </a:lvl7pPr>
            <a:lvl8pPr marL="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/>
            </a:lvl8pPr>
            <a:lvl9pPr marL="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4" name="Shape 9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175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Shape 9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Shape 9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" name="Shape 9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pic>
        <p:nvPicPr>
          <p:cNvPr id="98" name="Shape 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Shape 99"/>
          <p:cNvSpPr/>
          <p:nvPr/>
        </p:nvSpPr>
        <p:spPr>
          <a:xfrm>
            <a:off x="0" y="4904650"/>
            <a:ext cx="9144300" cy="141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ebcgms.org.br/noticia/acidentes-de-trabalho-matam-mais-do-que-guerras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5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8.gif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6uOLbhYeXrk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hyperlink" Target="https://www.youtube.com/watch?v=RKKF4LLpT9M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pt.khanacademy.org/math/ap-statistics/random-variables-ap/discrete-random-variables/v/discrete-probability-distribution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4.png"/><Relationship Id="rId5" Type="http://schemas.openxmlformats.org/officeDocument/2006/relationships/hyperlink" Target="https://pt.khanacademy.org/math/statistics-probability/random-variables-stats-library/poisson-distribution/v/poisson-process-1" TargetMode="External"/><Relationship Id="rId4" Type="http://schemas.openxmlformats.org/officeDocument/2006/relationships/hyperlink" Target="https://pt.khanacademy.org/math/statistics-probability/random-variables-stats-library/binomial-random-variables/v/binomial-distribution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Shape 106" descr="FIAP-NOVO-2014-MAGENT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83125" y="2901164"/>
            <a:ext cx="3604019" cy="1051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54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Shape 111" descr="0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2120" y="972084"/>
            <a:ext cx="8391764" cy="475598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Shape 112"/>
          <p:cNvSpPr txBox="1"/>
          <p:nvPr/>
        </p:nvSpPr>
        <p:spPr>
          <a:xfrm>
            <a:off x="2095881" y="2636889"/>
            <a:ext cx="4724242" cy="1217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AULA 6</a:t>
            </a:r>
            <a:endParaRPr dirty="0"/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Shape 306"/>
          <p:cNvPicPr preferRelativeResize="0"/>
          <p:nvPr/>
        </p:nvPicPr>
        <p:blipFill rotWithShape="1">
          <a:blip r:embed="rId3">
            <a:alphaModFix/>
          </a:blip>
          <a:srcRect l="20898" r="22582"/>
          <a:stretch/>
        </p:blipFill>
        <p:spPr>
          <a:xfrm>
            <a:off x="0" y="3376031"/>
            <a:ext cx="9155651" cy="278985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Shape 307"/>
          <p:cNvSpPr txBox="1"/>
          <p:nvPr/>
        </p:nvSpPr>
        <p:spPr>
          <a:xfrm>
            <a:off x="578249" y="4047077"/>
            <a:ext cx="7999382" cy="397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2200" dirty="0">
                <a:solidFill>
                  <a:srgbClr val="FFFFFF"/>
                </a:solidFill>
              </a:rPr>
              <a:t>Data Analysis Fundamentals</a:t>
            </a:r>
          </a:p>
        </p:txBody>
      </p:sp>
      <p:sp>
        <p:nvSpPr>
          <p:cNvPr id="308" name="Shape 308"/>
          <p:cNvSpPr txBox="1"/>
          <p:nvPr/>
        </p:nvSpPr>
        <p:spPr>
          <a:xfrm>
            <a:off x="578249" y="5061038"/>
            <a:ext cx="7084983" cy="34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Alcides C. Araújo</a:t>
            </a:r>
            <a:endParaRPr sz="18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Shape 309"/>
          <p:cNvSpPr txBox="1"/>
          <p:nvPr/>
        </p:nvSpPr>
        <p:spPr>
          <a:xfrm>
            <a:off x="919775" y="1373555"/>
            <a:ext cx="7085100" cy="12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sz="1800" dirty="0">
                <a:solidFill>
                  <a:srgbClr val="FFFF00"/>
                </a:solidFill>
              </a:rPr>
              <a:t>"Capacitar o aluno no entendimento de conceitos básicos de estatística e análise de dados.“</a:t>
            </a:r>
          </a:p>
          <a:p>
            <a:endParaRPr lang="pt-BR" sz="1800" dirty="0">
              <a:solidFill>
                <a:srgbClr val="FFFF00"/>
              </a:solidFill>
            </a:endParaRPr>
          </a:p>
          <a:p>
            <a:r>
              <a:rPr lang="pt-BR" sz="1800" dirty="0">
                <a:solidFill>
                  <a:srgbClr val="FFFF00"/>
                </a:solidFill>
              </a:rPr>
              <a:t>"Preparar os alunos para entender e desempenhar conceitos futuros relacionados a Análise Exploratória de Dados e </a:t>
            </a:r>
            <a:r>
              <a:rPr lang="pt-BR" sz="1800" dirty="0" err="1">
                <a:solidFill>
                  <a:srgbClr val="FFFF00"/>
                </a:solidFill>
              </a:rPr>
              <a:t>Machine</a:t>
            </a:r>
            <a:r>
              <a:rPr lang="pt-BR" sz="1800" dirty="0">
                <a:solidFill>
                  <a:srgbClr val="FFFF00"/>
                </a:solidFill>
              </a:rPr>
              <a:t> Learning"</a:t>
            </a:r>
            <a:endParaRPr sz="1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Problema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4553231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altLang="pt-BR" sz="1600" dirty="0">
                <a:latin typeface="Arial" panose="020B0604020202020204" pitchFamily="34" charset="0"/>
              </a:rPr>
              <a:t>Anualmente ocorrem cerca de 270 milhões de acidentes e trabalho e 160 milhões de casos de doenças ocupacionais são registradas no mundo.</a:t>
            </a: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altLang="pt-BR" sz="1600" dirty="0">
                <a:latin typeface="Arial" panose="020B0604020202020204" pitchFamily="34" charset="0"/>
              </a:rPr>
              <a:t>+ 2 milhões de pessoas perdem a vida todos os anos durante o trabalho (6,3 mil mortes por dia).</a:t>
            </a: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altLang="pt-BR" sz="1600" dirty="0">
                <a:latin typeface="Arial" panose="020B0604020202020204" pitchFamily="34" charset="0"/>
              </a:rPr>
              <a:t>Os custos globais chegam a 2,8 trilhões de dólares (podem comprometer até 4% do PIB mundial).</a:t>
            </a: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50800">
              <a:lnSpc>
                <a:spcPct val="115000"/>
              </a:lnSpc>
              <a:buSzPts val="2800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-44822" y="6109024"/>
            <a:ext cx="93412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Fonte: </a:t>
            </a:r>
            <a:r>
              <a:rPr lang="pt-BR" sz="1000" dirty="0">
                <a:hlinkClick r:id="rId3"/>
              </a:rPr>
              <a:t>https://www.seebcgms.org.br/noticia/acidentes-de-trabalho-matam-mais-do-que-guerras/</a:t>
            </a:r>
            <a:endParaRPr lang="pt-BR" sz="100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403" y="1798265"/>
            <a:ext cx="3764159" cy="2083454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1129553" y="4732994"/>
            <a:ext cx="7467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Qual a probabilidade de ocorrer algum acidente dado um histórico de acidentes?</a:t>
            </a:r>
          </a:p>
        </p:txBody>
      </p:sp>
    </p:spTree>
    <p:extLst>
      <p:ext uri="{BB962C8B-B14F-4D97-AF65-F5344CB8AC3E}">
        <p14:creationId xmlns:p14="http://schemas.microsoft.com/office/powerpoint/2010/main" val="4240715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Conceitos</a:t>
            </a:r>
            <a:r>
              <a:rPr lang="en-US" sz="3000" b="1" dirty="0">
                <a:solidFill>
                  <a:schemeClr val="lt1"/>
                </a:solidFill>
              </a:rPr>
              <a:t> </a:t>
            </a:r>
            <a:r>
              <a:rPr lang="en-US" sz="3000" b="1" dirty="0" err="1">
                <a:solidFill>
                  <a:schemeClr val="lt1"/>
                </a:solidFill>
              </a:rPr>
              <a:t>iniciais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altLang="pt-BR" sz="2800" dirty="0">
                <a:latin typeface="Arial" panose="020B0604020202020204" pitchFamily="34" charset="0"/>
              </a:rPr>
              <a:t>Distribuições de Probabilidade Discretas</a:t>
            </a: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  <p:pic>
        <p:nvPicPr>
          <p:cNvPr id="1026" name="Picture 2" descr="Resultado de imagem para distribuiÃ§Ãµes de probabilidade discreta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997" y="2627312"/>
            <a:ext cx="4981201" cy="2811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Conceitos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Variável</a:t>
            </a: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Variável aleatória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Distribuições de probabilidade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Distribuição Uniforme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Distribuição Bernoulli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Distribuição Binomial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Distribuição de Poisson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6194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Variável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just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Variável é uma característica da unidade amostral</a:t>
            </a: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970" y="3712507"/>
            <a:ext cx="7449886" cy="1065679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457199" y="2402541"/>
            <a:ext cx="219635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Por exemplo, a unidade amostral seria este banco de dados.</a:t>
            </a:r>
          </a:p>
        </p:txBody>
      </p:sp>
      <p:cxnSp>
        <p:nvCxnSpPr>
          <p:cNvPr id="8" name="Conector de Seta Reta 7"/>
          <p:cNvCxnSpPr>
            <a:stCxn id="4" idx="2"/>
            <a:endCxn id="2" idx="0"/>
          </p:cNvCxnSpPr>
          <p:nvPr/>
        </p:nvCxnSpPr>
        <p:spPr>
          <a:xfrm>
            <a:off x="1555376" y="3141205"/>
            <a:ext cx="2724537" cy="571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have Direita 12"/>
          <p:cNvSpPr/>
          <p:nvPr/>
        </p:nvSpPr>
        <p:spPr>
          <a:xfrm rot="16200000">
            <a:off x="6719047" y="3290442"/>
            <a:ext cx="224117" cy="699247"/>
          </a:xfrm>
          <a:prstGeom prst="rightBrac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/>
          <p:cNvSpPr txBox="1"/>
          <p:nvPr/>
        </p:nvSpPr>
        <p:spPr>
          <a:xfrm>
            <a:off x="5943600" y="2222605"/>
            <a:ext cx="26087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PIB é uma característica desta unidade amostral, ou seja, uma variável (</a:t>
            </a:r>
            <a:r>
              <a:rPr lang="pt-BR" i="1" dirty="0" err="1"/>
              <a:t>feature</a:t>
            </a:r>
            <a:r>
              <a:rPr lang="pt-BR" dirty="0"/>
              <a:t>).</a:t>
            </a:r>
          </a:p>
        </p:txBody>
      </p:sp>
      <p:cxnSp>
        <p:nvCxnSpPr>
          <p:cNvPr id="19" name="Conector de Seta Reta 18"/>
          <p:cNvCxnSpPr>
            <a:stCxn id="14" idx="2"/>
            <a:endCxn id="13" idx="1"/>
          </p:cNvCxnSpPr>
          <p:nvPr/>
        </p:nvCxnSpPr>
        <p:spPr>
          <a:xfrm flipH="1">
            <a:off x="6831106" y="2961269"/>
            <a:ext cx="416859" cy="566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1157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Variável</a:t>
            </a:r>
            <a:r>
              <a:rPr lang="en-US" sz="3000" b="1" dirty="0">
                <a:solidFill>
                  <a:schemeClr val="lt1"/>
                </a:solidFill>
              </a:rPr>
              <a:t> </a:t>
            </a:r>
            <a:r>
              <a:rPr lang="en-US" sz="3000" b="1" dirty="0" err="1">
                <a:solidFill>
                  <a:schemeClr val="lt1"/>
                </a:solidFill>
              </a:rPr>
              <a:t>aleatória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just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Variáveis aleatórias representam resultados, em números, de processos aleatórios. Por exemplo, jogar uma moeda, prever o resultado de um jogo, tentar cobrar alguém, alugar um carro e não ter acidente.</a:t>
            </a: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3392" y="3519767"/>
            <a:ext cx="4136825" cy="2029386"/>
          </a:xfrm>
          <a:prstGeom prst="rect">
            <a:avLst/>
          </a:prstGeom>
        </p:spPr>
      </p:pic>
      <p:cxnSp>
        <p:nvCxnSpPr>
          <p:cNvPr id="5" name="Conector de Seta Reta 4"/>
          <p:cNvCxnSpPr>
            <a:stCxn id="7" idx="1"/>
          </p:cNvCxnSpPr>
          <p:nvPr/>
        </p:nvCxnSpPr>
        <p:spPr>
          <a:xfrm flipH="1" flipV="1">
            <a:off x="6230472" y="5199531"/>
            <a:ext cx="825311" cy="4364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7055783" y="5374341"/>
            <a:ext cx="12012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Processo aleatório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4060732" y="5639216"/>
            <a:ext cx="12012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Resultados</a:t>
            </a:r>
          </a:p>
        </p:txBody>
      </p:sp>
      <p:cxnSp>
        <p:nvCxnSpPr>
          <p:cNvPr id="12" name="Conector de Seta Reta 11"/>
          <p:cNvCxnSpPr>
            <a:endCxn id="11" idx="0"/>
          </p:cNvCxnSpPr>
          <p:nvPr/>
        </p:nvCxnSpPr>
        <p:spPr>
          <a:xfrm>
            <a:off x="4572000" y="5261490"/>
            <a:ext cx="89368" cy="377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1817228" y="5549153"/>
            <a:ext cx="1730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Variável aleatória</a:t>
            </a:r>
          </a:p>
        </p:txBody>
      </p:sp>
      <p:cxnSp>
        <p:nvCxnSpPr>
          <p:cNvPr id="16" name="Conector de Seta Reta 15"/>
          <p:cNvCxnSpPr/>
          <p:nvPr/>
        </p:nvCxnSpPr>
        <p:spPr>
          <a:xfrm flipH="1">
            <a:off x="2778220" y="5004847"/>
            <a:ext cx="308538" cy="544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6052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Tipos</a:t>
            </a:r>
            <a:r>
              <a:rPr lang="en-US" sz="3000" b="1" dirty="0">
                <a:solidFill>
                  <a:schemeClr val="lt1"/>
                </a:solidFill>
              </a:rPr>
              <a:t> de </a:t>
            </a:r>
            <a:r>
              <a:rPr lang="en-US" sz="3000" b="1" dirty="0" err="1">
                <a:solidFill>
                  <a:schemeClr val="lt1"/>
                </a:solidFill>
              </a:rPr>
              <a:t>variáveis</a:t>
            </a:r>
            <a:r>
              <a:rPr lang="en-US" sz="3000" b="1" dirty="0">
                <a:solidFill>
                  <a:schemeClr val="lt1"/>
                </a:solidFill>
              </a:rPr>
              <a:t> </a:t>
            </a:r>
            <a:r>
              <a:rPr lang="en-US" sz="3000" b="1" dirty="0" err="1">
                <a:solidFill>
                  <a:schemeClr val="lt1"/>
                </a:solidFill>
              </a:rPr>
              <a:t>aleatórias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4194642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Discretas: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1800" dirty="0">
                <a:solidFill>
                  <a:schemeClr val="dk1"/>
                </a:solidFill>
              </a:rPr>
              <a:t>Possui um número finito de resultados.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1800" dirty="0">
                <a:solidFill>
                  <a:schemeClr val="dk1"/>
                </a:solidFill>
              </a:rPr>
              <a:t>Exemplo: Vivo/morto, grávida/não grávida, sucesso/fracasso, vitória/derrota/empate.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  <p:sp>
        <p:nvSpPr>
          <p:cNvPr id="8" name="Shape 413"/>
          <p:cNvSpPr/>
          <p:nvPr/>
        </p:nvSpPr>
        <p:spPr>
          <a:xfrm>
            <a:off x="4651842" y="1484312"/>
            <a:ext cx="4194642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Contínuas: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1800" dirty="0">
                <a:solidFill>
                  <a:schemeClr val="dk1"/>
                </a:solidFill>
              </a:rPr>
              <a:t>Possui uma grande amplitude de resultados, em que se torna praticamente impossível contar o número de resultados possíveis.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1800" dirty="0">
                <a:solidFill>
                  <a:schemeClr val="dk1"/>
                </a:solidFill>
              </a:rPr>
              <a:t>Exemplo: Peso, altura, renda, velocidade de um carro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899" y="3801151"/>
            <a:ext cx="977012" cy="1839828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0452" y="4011452"/>
            <a:ext cx="1381125" cy="1419225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9946" y="4025153"/>
            <a:ext cx="2735915" cy="1918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972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Combinação</a:t>
            </a:r>
            <a:r>
              <a:rPr lang="en-US" sz="3000" b="1" dirty="0">
                <a:solidFill>
                  <a:schemeClr val="lt1"/>
                </a:solidFill>
              </a:rPr>
              <a:t> + </a:t>
            </a:r>
            <a:r>
              <a:rPr lang="en-US" sz="3000" b="1" dirty="0" err="1">
                <a:solidFill>
                  <a:schemeClr val="lt1"/>
                </a:solidFill>
              </a:rPr>
              <a:t>Probabilidade</a:t>
            </a:r>
            <a:r>
              <a:rPr lang="en-US" sz="3000" b="1" dirty="0">
                <a:solidFill>
                  <a:schemeClr val="lt1"/>
                </a:solidFill>
              </a:rPr>
              <a:t> =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Distribuição</a:t>
            </a:r>
            <a:r>
              <a:rPr lang="en-US" sz="3000" b="1" dirty="0">
                <a:solidFill>
                  <a:schemeClr val="lt1"/>
                </a:solidFill>
              </a:rPr>
              <a:t> de </a:t>
            </a:r>
            <a:r>
              <a:rPr lang="en-US" sz="3000" b="1" dirty="0" err="1">
                <a:solidFill>
                  <a:schemeClr val="lt1"/>
                </a:solidFill>
              </a:rPr>
              <a:t>Probabilidade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Relembrar distribuição de probabilidade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a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9684800"/>
                  </p:ext>
                </p:extLst>
              </p:nvPr>
            </p:nvGraphicFramePr>
            <p:xfrm>
              <a:off x="579063" y="2456982"/>
              <a:ext cx="7862047" cy="1778255"/>
            </p:xfrm>
            <a:graphic>
              <a:graphicData uri="http://schemas.openxmlformats.org/drawingml/2006/table">
                <a:tbl>
                  <a:tblPr>
                    <a:tableStyleId>{BC89EF96-8CEA-46FF-86C4-4CE0E7609802}</a:tableStyleId>
                  </a:tblPr>
                  <a:tblGrid>
                    <a:gridCol w="1806144">
                      <a:extLst>
                        <a:ext uri="{9D8B030D-6E8A-4147-A177-3AD203B41FA5}">
                          <a16:colId xmlns:a16="http://schemas.microsoft.com/office/drawing/2014/main" val="1189738582"/>
                        </a:ext>
                      </a:extLst>
                    </a:gridCol>
                    <a:gridCol w="1786240">
                      <a:extLst>
                        <a:ext uri="{9D8B030D-6E8A-4147-A177-3AD203B41FA5}">
                          <a16:colId xmlns:a16="http://schemas.microsoft.com/office/drawing/2014/main" val="4089645491"/>
                        </a:ext>
                      </a:extLst>
                    </a:gridCol>
                    <a:gridCol w="1929876">
                      <a:extLst>
                        <a:ext uri="{9D8B030D-6E8A-4147-A177-3AD203B41FA5}">
                          <a16:colId xmlns:a16="http://schemas.microsoft.com/office/drawing/2014/main" val="3558780534"/>
                        </a:ext>
                      </a:extLst>
                    </a:gridCol>
                    <a:gridCol w="2339787">
                      <a:extLst>
                        <a:ext uri="{9D8B030D-6E8A-4147-A177-3AD203B41FA5}">
                          <a16:colId xmlns:a16="http://schemas.microsoft.com/office/drawing/2014/main" val="25614071"/>
                        </a:ext>
                      </a:extLst>
                    </a:gridCol>
                  </a:tblGrid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  <a:latin typeface="+mj-lt"/>
                            </a:rPr>
                            <a:t>Número de sucessos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  <a:latin typeface="+mj-lt"/>
                            </a:rPr>
                            <a:t>Combinações possíveis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Probabilidade de Bernoulli</a:t>
                          </a:r>
                        </a:p>
                      </a:txBody>
                      <a:tcPr marL="9525" marR="9525" marT="9525" marB="0" anchor="ctr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Probabilidade Binomial</a:t>
                          </a:r>
                        </a:p>
                      </a:txBody>
                      <a:tcPr marL="9525" marR="9525" marT="9525" marB="0" anchor="ctr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434407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0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1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40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0,2</m:t>
                                    </m:r>
                                  </m:e>
                                  <m:sup>
                                    <m:r>
                                      <a:rPr lang="pt-BR" sz="1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pt-BR" sz="1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=0,00032</m:t>
                                </m:r>
                              </m:oMath>
                            </m:oMathPara>
                          </a14:m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40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pt-BR" sz="1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pt-BR" sz="1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0,2</m:t>
                                    </m:r>
                                  </m:e>
                                  <m:sup>
                                    <m:r>
                                      <a:rPr lang="pt-BR" sz="1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pt-BR" sz="1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=0,00032</m:t>
                                </m:r>
                              </m:oMath>
                            </m:oMathPara>
                          </a14:m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657323844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1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5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40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pt-BR" sz="14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14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0,</m:t>
                                        </m:r>
                                        <m:r>
                                          <a:rPr lang="pt-BR" sz="14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e>
                                      <m:sup>
                                        <m:r>
                                          <a:rPr lang="pt-BR" sz="14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p>
                                    <m:r>
                                      <a:rPr lang="pt-BR" sz="140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pt-BR" sz="1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0,2</m:t>
                                    </m:r>
                                  </m:e>
                                  <m:sup>
                                    <m:r>
                                      <a:rPr lang="pt-BR" sz="1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pt-BR" sz="1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=0,00128</m:t>
                                </m:r>
                              </m:oMath>
                            </m:oMathPara>
                          </a14:m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40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pt-BR" sz="140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sSup>
                                      <m:sSupPr>
                                        <m:ctrlPr>
                                          <a:rPr lang="pt-BR" sz="14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14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0,</m:t>
                                        </m:r>
                                        <m:r>
                                          <a:rPr lang="pt-BR" sz="14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e>
                                      <m:sup>
                                        <m:r>
                                          <a:rPr lang="pt-BR" sz="14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p>
                                    <m:r>
                                      <a:rPr lang="pt-BR" sz="140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pt-BR" sz="1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0,2</m:t>
                                    </m:r>
                                  </m:e>
                                  <m:sup>
                                    <m:r>
                                      <a:rPr lang="pt-BR" sz="1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pt-BR" sz="1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=0,0064</m:t>
                                </m:r>
                              </m:oMath>
                            </m:oMathPara>
                          </a14:m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312387543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2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10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40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pt-BR" sz="14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14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0,8</m:t>
                                        </m:r>
                                      </m:e>
                                      <m:sup>
                                        <m:r>
                                          <a:rPr lang="pt-BR" sz="14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pt-BR" sz="1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pt-BR" sz="1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0,2</m:t>
                                    </m:r>
                                  </m:e>
                                  <m:sup>
                                    <m:r>
                                      <a:rPr lang="pt-BR" sz="1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pt-BR" sz="1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=0,00512</m:t>
                                </m:r>
                              </m:oMath>
                            </m:oMathPara>
                          </a14:m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pt-BR" sz="140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pt-BR" sz="140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pt-BR" sz="14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14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0,8</m:t>
                                        </m:r>
                                      </m:e>
                                      <m:sup>
                                        <m:r>
                                          <a:rPr lang="pt-BR" sz="14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pt-BR" sz="1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pt-BR" sz="1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0,2</m:t>
                                    </m:r>
                                  </m:e>
                                  <m:sup>
                                    <m:r>
                                      <a:rPr lang="pt-BR" sz="1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pt-BR" sz="1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=0,0512</m:t>
                                </m:r>
                              </m:oMath>
                            </m:oMathPara>
                          </a14:m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87922394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>
                              <a:effectLst/>
                            </a:rPr>
                            <a:t>3</a:t>
                          </a:r>
                          <a:endParaRPr lang="pt-BR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10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40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pt-BR" sz="14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14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0,8</m:t>
                                        </m:r>
                                      </m:e>
                                      <m:sup>
                                        <m:r>
                                          <a:rPr lang="pt-BR" sz="14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  <m:r>
                                      <a:rPr lang="pt-BR" sz="1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pt-BR" sz="1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0,2</m:t>
                                    </m:r>
                                  </m:e>
                                  <m:sup>
                                    <m:r>
                                      <a:rPr lang="pt-BR" sz="1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pt-BR" sz="1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=0,02048</m:t>
                                </m:r>
                              </m:oMath>
                            </m:oMathPara>
                          </a14:m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40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pt-BR" sz="14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14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  <m:r>
                                          <a:rPr lang="pt-BR" sz="140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∙</m:t>
                                        </m:r>
                                        <m:r>
                                          <a:rPr lang="pt-BR" sz="14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0,8</m:t>
                                        </m:r>
                                      </m:e>
                                      <m:sup>
                                        <m:r>
                                          <a:rPr lang="pt-BR" sz="14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  <m:r>
                                      <a:rPr lang="pt-BR" sz="1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pt-BR" sz="1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0,2</m:t>
                                    </m:r>
                                  </m:e>
                                  <m:sup>
                                    <m:r>
                                      <a:rPr lang="pt-BR" sz="1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pt-BR" sz="1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=0,2048</m:t>
                                </m:r>
                              </m:oMath>
                            </m:oMathPara>
                          </a14:m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300216172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>
                              <a:effectLst/>
                            </a:rPr>
                            <a:t>4</a:t>
                          </a:r>
                          <a:endParaRPr lang="pt-BR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5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pt-BR" sz="140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pt-BR" sz="1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sz="1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0,8</m:t>
                                      </m:r>
                                    </m:e>
                                    <m:sup>
                                      <m:r>
                                        <a:rPr lang="pt-BR" sz="1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p>
                                  </m:sSup>
                                  <m:r>
                                    <a:rPr lang="pt-BR" sz="1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pt-BR" sz="1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0,2</m:t>
                                  </m:r>
                                </m:e>
                                <m:sup>
                                  <m:r>
                                    <a:rPr lang="pt-BR" sz="1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pt-BR" sz="1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=0,</m:t>
                              </m:r>
                            </m:oMath>
                          </a14:m>
                          <a:r>
                            <a:rPr lang="pt-BR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08192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pt-BR" sz="140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pt-BR" sz="140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pt-BR" sz="14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14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0,8</m:t>
                                        </m:r>
                                      </m:e>
                                      <m:sup>
                                        <m:r>
                                          <a:rPr lang="pt-BR" sz="14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  <m:r>
                                      <a:rPr lang="pt-BR" sz="1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pt-BR" sz="1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0,2</m:t>
                                    </m:r>
                                  </m:e>
                                  <m:sup>
                                    <m:r>
                                      <a:rPr lang="pt-BR" sz="1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pt-BR" sz="1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=0,4096</m:t>
                                </m:r>
                              </m:oMath>
                            </m:oMathPara>
                          </a14:m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77418405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>
                              <a:effectLst/>
                            </a:rPr>
                            <a:t>5</a:t>
                          </a:r>
                          <a:endParaRPr lang="pt-BR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1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40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0,8</m:t>
                                    </m:r>
                                  </m:e>
                                  <m:sup>
                                    <m:r>
                                      <a:rPr lang="pt-BR" sz="1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pt-BR" sz="1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=0,3277</m:t>
                                </m:r>
                              </m:oMath>
                            </m:oMathPara>
                          </a14:m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pt-BR" sz="1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pt-BR" sz="140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0,8</m:t>
                                    </m:r>
                                  </m:e>
                                  <m:sup>
                                    <m:r>
                                      <a:rPr lang="pt-BR" sz="1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pt-BR" sz="1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=0,3277</m:t>
                                </m:r>
                              </m:oMath>
                            </m:oMathPara>
                          </a14:m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095469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a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9684800"/>
                  </p:ext>
                </p:extLst>
              </p:nvPr>
            </p:nvGraphicFramePr>
            <p:xfrm>
              <a:off x="579063" y="2456982"/>
              <a:ext cx="7862047" cy="1778255"/>
            </p:xfrm>
            <a:graphic>
              <a:graphicData uri="http://schemas.openxmlformats.org/drawingml/2006/table">
                <a:tbl>
                  <a:tblPr>
                    <a:tableStyleId>{BC89EF96-8CEA-46FF-86C4-4CE0E7609802}</a:tableStyleId>
                  </a:tblPr>
                  <a:tblGrid>
                    <a:gridCol w="1806144">
                      <a:extLst>
                        <a:ext uri="{9D8B030D-6E8A-4147-A177-3AD203B41FA5}">
                          <a16:colId xmlns:a16="http://schemas.microsoft.com/office/drawing/2014/main" val="1189738582"/>
                        </a:ext>
                      </a:extLst>
                    </a:gridCol>
                    <a:gridCol w="1786240">
                      <a:extLst>
                        <a:ext uri="{9D8B030D-6E8A-4147-A177-3AD203B41FA5}">
                          <a16:colId xmlns:a16="http://schemas.microsoft.com/office/drawing/2014/main" val="4089645491"/>
                        </a:ext>
                      </a:extLst>
                    </a:gridCol>
                    <a:gridCol w="1929876">
                      <a:extLst>
                        <a:ext uri="{9D8B030D-6E8A-4147-A177-3AD203B41FA5}">
                          <a16:colId xmlns:a16="http://schemas.microsoft.com/office/drawing/2014/main" val="3558780534"/>
                        </a:ext>
                      </a:extLst>
                    </a:gridCol>
                    <a:gridCol w="2339787">
                      <a:extLst>
                        <a:ext uri="{9D8B030D-6E8A-4147-A177-3AD203B41FA5}">
                          <a16:colId xmlns:a16="http://schemas.microsoft.com/office/drawing/2014/main" val="25614071"/>
                        </a:ext>
                      </a:extLst>
                    </a:gridCol>
                  </a:tblGrid>
                  <a:tr h="43624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  <a:latin typeface="+mj-lt"/>
                            </a:rPr>
                            <a:t>Número de sucessos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  <a:latin typeface="+mj-lt"/>
                            </a:rPr>
                            <a:t>Combinações possíveis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Probabilidade de Bernoulli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Probabilidade Binomial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4344071"/>
                      </a:ext>
                    </a:extLst>
                  </a:tr>
                  <a:tr h="22523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0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1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86435" t="-216216" r="-121767" b="-5405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236458" t="-216216" r="-521" b="-5405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7323844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1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5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86435" t="-325000" r="-121767" b="-45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236458" t="-325000" r="-521" b="-45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2387543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2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10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86435" t="-413514" r="-121767" b="-3432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236458" t="-413514" r="-521" b="-3432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9223945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>
                              <a:effectLst/>
                            </a:rPr>
                            <a:t>3</a:t>
                          </a:r>
                          <a:endParaRPr lang="pt-BR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10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86435" t="-527778" r="-121767" b="-25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236458" t="-527778" r="-521" b="-25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0216172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>
                              <a:effectLst/>
                            </a:rPr>
                            <a:t>4</a:t>
                          </a:r>
                          <a:endParaRPr lang="pt-BR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5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86435" t="-610811" r="-121767" b="-1459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236458" t="-610811" r="-521" b="-1459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4184056"/>
                      </a:ext>
                    </a:extLst>
                  </a:tr>
                  <a:tr h="22523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>
                              <a:effectLst/>
                            </a:rPr>
                            <a:t>5</a:t>
                          </a:r>
                          <a:endParaRPr lang="pt-BR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400" u="none" strike="noStrike" dirty="0">
                              <a:effectLst/>
                            </a:rPr>
                            <a:t>1</a:t>
                          </a:r>
                          <a:endParaRPr lang="pt-BR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86435" t="-710811" r="-121767" b="-459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236458" t="-710811" r="-521" b="-459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954694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CaixaDeTexto 2"/>
          <p:cNvSpPr txBox="1"/>
          <p:nvPr/>
        </p:nvSpPr>
        <p:spPr>
          <a:xfrm>
            <a:off x="5109882" y="4625417"/>
            <a:ext cx="2590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probabilidade binomial é o resultado de uma sequencia de eventos em que somente 2 resultados podem ocorrer. Neste exemplo, sucesso ou fracasso.</a:t>
            </a:r>
          </a:p>
        </p:txBody>
      </p:sp>
      <p:cxnSp>
        <p:nvCxnSpPr>
          <p:cNvPr id="6" name="Conector de Seta Reta 5"/>
          <p:cNvCxnSpPr>
            <a:endCxn id="3" idx="0"/>
          </p:cNvCxnSpPr>
          <p:nvPr/>
        </p:nvCxnSpPr>
        <p:spPr>
          <a:xfrm flipH="1">
            <a:off x="6405282" y="4235237"/>
            <a:ext cx="560294" cy="3901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/>
          <p:cNvSpPr txBox="1"/>
          <p:nvPr/>
        </p:nvSpPr>
        <p:spPr>
          <a:xfrm>
            <a:off x="1147481" y="4625417"/>
            <a:ext cx="29126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Nesta tabela temos um conjunto de resultados de eventos associados as suas respectivas probabilidades. Ou seja, denominamos isto de </a:t>
            </a:r>
            <a:r>
              <a:rPr lang="pt-BR" b="1" dirty="0"/>
              <a:t>Distribuição de Probabilidades</a:t>
            </a:r>
            <a:r>
              <a:rPr lang="pt-BR" dirty="0"/>
              <a:t>.</a:t>
            </a:r>
          </a:p>
        </p:txBody>
      </p:sp>
      <p:cxnSp>
        <p:nvCxnSpPr>
          <p:cNvPr id="11" name="Conector de Seta Reta 10"/>
          <p:cNvCxnSpPr/>
          <p:nvPr/>
        </p:nvCxnSpPr>
        <p:spPr>
          <a:xfrm flipH="1">
            <a:off x="2442882" y="4235237"/>
            <a:ext cx="560294" cy="3901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0074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Distribuição</a:t>
            </a:r>
            <a:r>
              <a:rPr lang="en-US" sz="3000" b="1" dirty="0">
                <a:solidFill>
                  <a:schemeClr val="lt1"/>
                </a:solidFill>
              </a:rPr>
              <a:t> de </a:t>
            </a:r>
            <a:r>
              <a:rPr lang="en-US" sz="3000" b="1" dirty="0" err="1">
                <a:solidFill>
                  <a:schemeClr val="lt1"/>
                </a:solidFill>
              </a:rPr>
              <a:t>probabilidade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just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b="1" dirty="0"/>
              <a:t>Distribuição de Probabilidades </a:t>
            </a:r>
            <a:r>
              <a:rPr lang="pt-BR" sz="2400" dirty="0"/>
              <a:t>é um conjunto de resultados de eventos associados as suas respectivas probabilidades</a:t>
            </a:r>
            <a:endParaRPr lang="pt-BR" sz="2400" dirty="0">
              <a:solidFill>
                <a:schemeClr val="dk1"/>
              </a:solidFill>
            </a:endParaRPr>
          </a:p>
          <a:p>
            <a:pPr marL="457200" lvl="0" indent="-406400" algn="just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 algn="just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 algn="just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 algn="just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083" y="3229431"/>
            <a:ext cx="4617780" cy="2561769"/>
          </a:xfrm>
          <a:prstGeom prst="rect">
            <a:avLst/>
          </a:prstGeom>
        </p:spPr>
      </p:pic>
      <p:sp>
        <p:nvSpPr>
          <p:cNvPr id="3" name="Chave Esquerda 2"/>
          <p:cNvSpPr/>
          <p:nvPr/>
        </p:nvSpPr>
        <p:spPr>
          <a:xfrm rot="16200000">
            <a:off x="4401672" y="5091529"/>
            <a:ext cx="394447" cy="144331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have Esquerda 11"/>
          <p:cNvSpPr/>
          <p:nvPr/>
        </p:nvSpPr>
        <p:spPr>
          <a:xfrm>
            <a:off x="1874351" y="3754562"/>
            <a:ext cx="330972" cy="112224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4213411" y="5966130"/>
            <a:ext cx="13357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eventos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583429" y="4161794"/>
            <a:ext cx="13357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probabilidades</a:t>
            </a:r>
          </a:p>
        </p:txBody>
      </p:sp>
    </p:spTree>
    <p:extLst>
      <p:ext uri="{BB962C8B-B14F-4D97-AF65-F5344CB8AC3E}">
        <p14:creationId xmlns:p14="http://schemas.microsoft.com/office/powerpoint/2010/main" val="2405172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Histograma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Podemos fazer um gráfico: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628" y="2527200"/>
            <a:ext cx="5109883" cy="2834769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6347851" y="2853003"/>
            <a:ext cx="22770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Gráficos deste tipo possuem um nome específico denominados de </a:t>
            </a:r>
            <a:r>
              <a:rPr lang="pt-BR" b="1" dirty="0"/>
              <a:t>Histogramas de frequência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b="1" dirty="0"/>
              <a:t>Histogramas</a:t>
            </a:r>
            <a:r>
              <a:rPr lang="pt-BR" dirty="0"/>
              <a:t> são gráficos de distribuições de probabilidades.</a:t>
            </a:r>
          </a:p>
        </p:txBody>
      </p:sp>
    </p:spTree>
    <p:extLst>
      <p:ext uri="{BB962C8B-B14F-4D97-AF65-F5344CB8AC3E}">
        <p14:creationId xmlns:p14="http://schemas.microsoft.com/office/powerpoint/2010/main" val="441870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Distribuições</a:t>
            </a:r>
            <a:r>
              <a:rPr lang="en-US" sz="3000" b="1" dirty="0">
                <a:solidFill>
                  <a:schemeClr val="lt1"/>
                </a:solidFill>
              </a:rPr>
              <a:t> de </a:t>
            </a:r>
            <a:r>
              <a:rPr lang="en-US" sz="3000" b="1" dirty="0" err="1">
                <a:solidFill>
                  <a:schemeClr val="lt1"/>
                </a:solidFill>
              </a:rPr>
              <a:t>probabilidades</a:t>
            </a:r>
            <a:r>
              <a:rPr lang="en-US" sz="3000" b="1" dirty="0">
                <a:solidFill>
                  <a:schemeClr val="lt1"/>
                </a:solidFill>
              </a:rPr>
              <a:t> </a:t>
            </a:r>
            <a:r>
              <a:rPr lang="en-US" sz="3000" b="1" dirty="0" err="1">
                <a:solidFill>
                  <a:schemeClr val="lt1"/>
                </a:solidFill>
              </a:rPr>
              <a:t>discretas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Distribuições que serão apresentadas: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389" y="4005939"/>
            <a:ext cx="2400300" cy="142875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793" y="3550023"/>
            <a:ext cx="2156740" cy="1959183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1812296" y="5524161"/>
            <a:ext cx="1962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Distribuição binomial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5018078" y="5509207"/>
            <a:ext cx="21021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Distribuição de Poisson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0085" y="5861664"/>
            <a:ext cx="1934697" cy="313604"/>
          </a:xfrm>
          <a:prstGeom prst="rect">
            <a:avLst/>
          </a:prstGeom>
        </p:spPr>
      </p:pic>
      <p:pic>
        <p:nvPicPr>
          <p:cNvPr id="7170" name="Picture 2" descr="Resultado de imagem para distribuiÃ§Ã£o poisson formula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9600" y="5758490"/>
            <a:ext cx="1399149" cy="52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643" y="2035498"/>
            <a:ext cx="2814524" cy="1428780"/>
          </a:xfrm>
          <a:prstGeom prst="rect">
            <a:avLst/>
          </a:prstGeom>
        </p:spPr>
      </p:pic>
      <p:sp>
        <p:nvSpPr>
          <p:cNvPr id="14" name="CaixaDeTexto 13"/>
          <p:cNvSpPr txBox="1"/>
          <p:nvPr/>
        </p:nvSpPr>
        <p:spPr>
          <a:xfrm>
            <a:off x="1326689" y="3421366"/>
            <a:ext cx="1962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Distribuição uniforme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2233589"/>
            <a:ext cx="3750888" cy="581899"/>
          </a:xfrm>
          <a:prstGeom prst="rect">
            <a:avLst/>
          </a:prstGeom>
        </p:spPr>
      </p:pic>
      <p:sp>
        <p:nvSpPr>
          <p:cNvPr id="16" name="CaixaDeTexto 15"/>
          <p:cNvSpPr txBox="1"/>
          <p:nvPr/>
        </p:nvSpPr>
        <p:spPr>
          <a:xfrm>
            <a:off x="5466201" y="2783521"/>
            <a:ext cx="1962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Distribuição </a:t>
            </a:r>
            <a:r>
              <a:rPr lang="pt-BR" dirty="0" err="1"/>
              <a:t>bernoulli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8382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lt1"/>
              </a:buClr>
            </a:pPr>
            <a:r>
              <a:rPr lang="en-US" sz="3000" b="1" dirty="0" err="1">
                <a:solidFill>
                  <a:schemeClr val="lt1"/>
                </a:solidFill>
              </a:rPr>
              <a:t>Distribuição</a:t>
            </a:r>
            <a:r>
              <a:rPr lang="en-US" sz="3000" b="1" dirty="0">
                <a:solidFill>
                  <a:schemeClr val="lt1"/>
                </a:solidFill>
              </a:rPr>
              <a:t> de </a:t>
            </a:r>
            <a:r>
              <a:rPr lang="en-US" sz="3000" b="1" dirty="0" err="1">
                <a:solidFill>
                  <a:schemeClr val="lt1"/>
                </a:solidFill>
              </a:rPr>
              <a:t>probabilidade</a:t>
            </a:r>
            <a:r>
              <a:rPr lang="en-US" sz="3000" b="1" dirty="0">
                <a:solidFill>
                  <a:schemeClr val="lt1"/>
                </a:solidFill>
              </a:rPr>
              <a:t> </a:t>
            </a:r>
            <a:r>
              <a:rPr lang="en-US" sz="3000" b="1" dirty="0" err="1">
                <a:solidFill>
                  <a:schemeClr val="lt1"/>
                </a:solidFill>
              </a:rPr>
              <a:t>discreta</a:t>
            </a:r>
            <a:endParaRPr lang="en-US" sz="3200"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just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Uma distribuição discreta busca descrever a probabilidade associada as eventos de variáveis aleatórias discretas.</a:t>
            </a:r>
          </a:p>
          <a:p>
            <a:pPr marL="457200" lvl="0" indent="-406400" algn="just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 algn="just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Por exemplo: </a:t>
            </a:r>
          </a:p>
          <a:p>
            <a:pPr marL="457200" lvl="2" indent="-406400" algn="just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Variável aleatória: </a:t>
            </a:r>
            <a:r>
              <a:rPr lang="pt-BR" sz="2400" b="1" dirty="0">
                <a:solidFill>
                  <a:schemeClr val="dk1"/>
                </a:solidFill>
              </a:rPr>
              <a:t>sucesso/fracasso.</a:t>
            </a:r>
            <a:endParaRPr lang="pt-BR" sz="2400" dirty="0">
              <a:solidFill>
                <a:schemeClr val="dk1"/>
              </a:solidFill>
            </a:endParaRPr>
          </a:p>
          <a:p>
            <a:pPr marL="457200" lvl="2" indent="-406400" algn="just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Distribuição de probabilidade: </a:t>
            </a:r>
            <a:r>
              <a:rPr lang="pt-BR" sz="2400" b="1" dirty="0">
                <a:solidFill>
                  <a:schemeClr val="dk1"/>
                </a:solidFill>
              </a:rPr>
              <a:t>sucesso – 60%, fracasso – 40%.</a:t>
            </a:r>
          </a:p>
          <a:p>
            <a:pPr marL="457200" lvl="0" indent="-406400" algn="just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solidFill>
                <a:schemeClr val="dk1"/>
              </a:solidFill>
              <a:latin typeface="Arial" panose="020B0604020202020204" pitchFamily="34" charset="0"/>
            </a:endParaRPr>
          </a:p>
          <a:p>
            <a:pPr marL="50800" lvl="0" algn="just">
              <a:lnSpc>
                <a:spcPct val="115000"/>
              </a:lnSpc>
              <a:buSzPts val="2800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547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Distribuições</a:t>
            </a:r>
            <a:r>
              <a:rPr lang="en-US" sz="3000" b="1" dirty="0">
                <a:solidFill>
                  <a:schemeClr val="lt1"/>
                </a:solidFill>
              </a:rPr>
              <a:t> </a:t>
            </a:r>
            <a:r>
              <a:rPr lang="en-US" sz="3000" b="1" dirty="0" err="1">
                <a:solidFill>
                  <a:schemeClr val="lt1"/>
                </a:solidFill>
              </a:rPr>
              <a:t>Uniforme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Imagine este dado de 6 lados: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Qual a chance de sair 1?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Qual a chance de sair 6?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Na distribuição uniforme todos os valores possuem a mesma probabilidade de ocorrer.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0496" y="1651931"/>
            <a:ext cx="1577787" cy="16291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6424" y="4761379"/>
            <a:ext cx="57912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4760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Distribuições</a:t>
            </a:r>
            <a:r>
              <a:rPr lang="en-US" sz="3000" b="1" dirty="0">
                <a:solidFill>
                  <a:schemeClr val="lt1"/>
                </a:solidFill>
              </a:rPr>
              <a:t> </a:t>
            </a:r>
            <a:r>
              <a:rPr lang="en-US" sz="3000" b="1" dirty="0" err="1">
                <a:solidFill>
                  <a:schemeClr val="lt1"/>
                </a:solidFill>
              </a:rPr>
              <a:t>Uniforme</a:t>
            </a:r>
            <a:r>
              <a:rPr lang="en-US" sz="3000" b="1" dirty="0">
                <a:solidFill>
                  <a:schemeClr val="lt1"/>
                </a:solidFill>
              </a:rPr>
              <a:t> </a:t>
            </a:r>
            <a:r>
              <a:rPr lang="en-US" sz="3000" b="1" dirty="0" err="1">
                <a:solidFill>
                  <a:schemeClr val="lt1"/>
                </a:solidFill>
              </a:rPr>
              <a:t>Histograma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A distribuição tem o seguinte desenho*: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  <p:grpSp>
        <p:nvGrpSpPr>
          <p:cNvPr id="6" name="Agrupar 5"/>
          <p:cNvGrpSpPr/>
          <p:nvPr/>
        </p:nvGrpSpPr>
        <p:grpSpPr>
          <a:xfrm>
            <a:off x="674313" y="2627312"/>
            <a:ext cx="7795374" cy="2902323"/>
            <a:chOff x="1323352" y="2557183"/>
            <a:chExt cx="7795374" cy="2902323"/>
          </a:xfrm>
        </p:grpSpPr>
        <p:pic>
          <p:nvPicPr>
            <p:cNvPr id="3" name="Imagem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34890" y="2557183"/>
              <a:ext cx="5309127" cy="290232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CaixaDeTexto 3"/>
                <p:cNvSpPr txBox="1"/>
                <p:nvPr/>
              </p:nvSpPr>
              <p:spPr>
                <a:xfrm>
                  <a:off x="1323352" y="2707341"/>
                  <a:ext cx="627529" cy="5142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4" name="CaixaDeTexto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3352" y="2707341"/>
                  <a:ext cx="627529" cy="51424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CaixaDeTexto 9"/>
                <p:cNvSpPr txBox="1"/>
                <p:nvPr/>
              </p:nvSpPr>
              <p:spPr>
                <a:xfrm>
                  <a:off x="6231251" y="2627312"/>
                  <a:ext cx="2887475" cy="7801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f>
                                  <m:fPr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den>
                                </m:f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=1,2,…, 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0, 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𝑜𝑢𝑡𝑟𝑎𝑠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0" name="CaixaDeTexto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1251" y="2627312"/>
                  <a:ext cx="2887475" cy="78015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CaixaDeTexto 10"/>
                <p:cNvSpPr txBox="1"/>
                <p:nvPr/>
              </p:nvSpPr>
              <p:spPr>
                <a:xfrm>
                  <a:off x="6231251" y="3477591"/>
                  <a:ext cx="2887475" cy="4942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é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𝑑𝑖𝑎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1" name="CaixaDeTexto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1251" y="3477591"/>
                  <a:ext cx="2887475" cy="494238"/>
                </a:xfrm>
                <a:prstGeom prst="rect">
                  <a:avLst/>
                </a:prstGeom>
                <a:blipFill>
                  <a:blip r:embed="rId6"/>
                  <a:stretch>
                    <a:fillRect b="-123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aixaDeTexto 11"/>
                <p:cNvSpPr txBox="1"/>
                <p:nvPr/>
              </p:nvSpPr>
              <p:spPr>
                <a:xfrm>
                  <a:off x="6231251" y="4084639"/>
                  <a:ext cx="2887475" cy="5422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𝑣𝑎𝑟𝑖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â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𝑛𝑐𝑖𝑎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p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2" name="CaixaDeTexto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1251" y="4084639"/>
                  <a:ext cx="2887475" cy="54226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CaixaDeTexto 6"/>
          <p:cNvSpPr txBox="1"/>
          <p:nvPr/>
        </p:nvSpPr>
        <p:spPr>
          <a:xfrm>
            <a:off x="-71718" y="6006681"/>
            <a:ext cx="7279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*Exemplo com números ver </a:t>
            </a:r>
            <a:r>
              <a:rPr lang="pt-BR" dirty="0" err="1"/>
              <a:t>excel</a:t>
            </a:r>
            <a:r>
              <a:rPr lang="pt-BR" dirty="0"/>
              <a:t>: distrib_prob.xlsx, aba </a:t>
            </a:r>
            <a:r>
              <a:rPr lang="pt-BR" dirty="0" err="1"/>
              <a:t>dist_uniforme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718564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Distribuição</a:t>
            </a:r>
            <a:r>
              <a:rPr lang="en-US" sz="3000" b="1" dirty="0">
                <a:solidFill>
                  <a:schemeClr val="lt1"/>
                </a:solidFill>
              </a:rPr>
              <a:t> Bernoulli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A distribuição de Bernoulli* é observada para somente a probabilidade de </a:t>
            </a:r>
            <a:r>
              <a:rPr lang="pt-BR" sz="2400" b="1" dirty="0">
                <a:solidFill>
                  <a:schemeClr val="dk1"/>
                </a:solidFill>
              </a:rPr>
              <a:t>um evento </a:t>
            </a:r>
            <a:r>
              <a:rPr lang="pt-BR" sz="2400" dirty="0">
                <a:solidFill>
                  <a:schemeClr val="dk1"/>
                </a:solidFill>
              </a:rPr>
              <a:t>em que somente 2 resultados podem ocorrer.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Sucesso/Fracasso, Acidente/Não Acidente, Grávida/Não grávida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Exemplo: Um funcionário sofrerá um acidente hoje? Teremos “0” para “não sofre acidente” com probabilidade “</a:t>
            </a:r>
            <a:r>
              <a:rPr lang="pt-BR" sz="2400" i="1" dirty="0">
                <a:solidFill>
                  <a:schemeClr val="dk1"/>
                </a:solidFill>
              </a:rPr>
              <a:t>p</a:t>
            </a:r>
            <a:r>
              <a:rPr lang="pt-BR" sz="2400" dirty="0">
                <a:solidFill>
                  <a:schemeClr val="dk1"/>
                </a:solidFill>
              </a:rPr>
              <a:t>” e “1” para “sofre acidente”, com probabilidade “1-</a:t>
            </a:r>
            <a:r>
              <a:rPr lang="pt-BR" sz="2400" i="1" dirty="0">
                <a:solidFill>
                  <a:schemeClr val="dk1"/>
                </a:solidFill>
              </a:rPr>
              <a:t>p</a:t>
            </a:r>
            <a:r>
              <a:rPr lang="pt-BR" sz="2400" dirty="0">
                <a:solidFill>
                  <a:schemeClr val="dk1"/>
                </a:solidFill>
              </a:rPr>
              <a:t>”. </a:t>
            </a:r>
          </a:p>
          <a:p>
            <a:pPr marL="50800" lvl="0">
              <a:lnSpc>
                <a:spcPct val="115000"/>
              </a:lnSpc>
              <a:buSzPts val="2800"/>
            </a:pPr>
            <a:r>
              <a:rPr lang="pt-BR" sz="2400" dirty="0">
                <a:solidFill>
                  <a:schemeClr val="dk1"/>
                </a:solidFill>
              </a:rPr>
              <a:t> 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-71717" y="6014471"/>
            <a:ext cx="68311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*Exemplo com números ver </a:t>
            </a:r>
            <a:r>
              <a:rPr lang="pt-BR" dirty="0" err="1"/>
              <a:t>excel</a:t>
            </a:r>
            <a:r>
              <a:rPr lang="pt-BR" dirty="0"/>
              <a:t>: distrib_prob.xlsx, aba </a:t>
            </a:r>
            <a:r>
              <a:rPr lang="pt-BR" dirty="0" err="1"/>
              <a:t>dist_bernoulli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93249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Distribuição</a:t>
            </a:r>
            <a:r>
              <a:rPr lang="en-US" sz="3000" b="1" dirty="0">
                <a:solidFill>
                  <a:schemeClr val="lt1"/>
                </a:solidFill>
              </a:rPr>
              <a:t> Binomial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Imagine agora que buscamos observar um evento em que somente 2 resultados podem ocorrer (Bernoulli), porém este evento é repetido várias vezes.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Neste caso, temos uma </a:t>
            </a:r>
            <a:r>
              <a:rPr lang="pt-BR" sz="2400" b="1" dirty="0">
                <a:solidFill>
                  <a:schemeClr val="dk1"/>
                </a:solidFill>
              </a:rPr>
              <a:t>Distribuição Binomial</a:t>
            </a:r>
            <a:r>
              <a:rPr lang="pt-BR" sz="2400" dirty="0">
                <a:solidFill>
                  <a:schemeClr val="dk1"/>
                </a:solidFill>
              </a:rPr>
              <a:t>.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400" y="3959950"/>
            <a:ext cx="3444776" cy="2050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8004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Distribuição</a:t>
            </a:r>
            <a:r>
              <a:rPr lang="en-US" sz="3000" b="1" dirty="0">
                <a:solidFill>
                  <a:schemeClr val="lt1"/>
                </a:solidFill>
              </a:rPr>
              <a:t> Binomial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(</a:t>
            </a:r>
            <a:r>
              <a:rPr lang="en-US" sz="3000" b="1" dirty="0" err="1">
                <a:solidFill>
                  <a:schemeClr val="lt1"/>
                </a:solidFill>
              </a:rPr>
              <a:t>Exemplos</a:t>
            </a:r>
            <a:r>
              <a:rPr lang="en-US" sz="3000" b="1" dirty="0">
                <a:solidFill>
                  <a:schemeClr val="lt1"/>
                </a:solidFill>
              </a:rPr>
              <a:t>)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1800" dirty="0">
                <a:solidFill>
                  <a:schemeClr val="dk1"/>
                </a:solidFill>
              </a:rPr>
              <a:t>Uma empresa envia </a:t>
            </a:r>
            <a:r>
              <a:rPr lang="pt-BR" sz="1800" i="1" dirty="0" err="1">
                <a:solidFill>
                  <a:schemeClr val="dk1"/>
                </a:solidFill>
              </a:rPr>
              <a:t>sms</a:t>
            </a:r>
            <a:r>
              <a:rPr lang="pt-BR" sz="1800" dirty="0">
                <a:solidFill>
                  <a:schemeClr val="dk1"/>
                </a:solidFill>
              </a:rPr>
              <a:t> de propaganda para 10 mil clientes, a chance de 1 cliente acessar o link é de 5%. Qual a probabilidade de 100 clientes acessarem o link dos </a:t>
            </a:r>
            <a:r>
              <a:rPr lang="pt-BR" sz="1800" i="1" dirty="0" err="1">
                <a:solidFill>
                  <a:schemeClr val="dk1"/>
                </a:solidFill>
              </a:rPr>
              <a:t>sms`s</a:t>
            </a:r>
            <a:r>
              <a:rPr lang="pt-BR" sz="1800" dirty="0">
                <a:solidFill>
                  <a:schemeClr val="dk1"/>
                </a:solidFill>
              </a:rPr>
              <a:t>?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18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1800" dirty="0">
                <a:solidFill>
                  <a:schemeClr val="dk1"/>
                </a:solidFill>
              </a:rPr>
              <a:t>Uma empresa envia </a:t>
            </a:r>
            <a:r>
              <a:rPr lang="pt-BR" sz="1800" i="1" dirty="0" err="1">
                <a:solidFill>
                  <a:schemeClr val="dk1"/>
                </a:solidFill>
              </a:rPr>
              <a:t>email</a:t>
            </a:r>
            <a:r>
              <a:rPr lang="pt-BR" sz="1800" i="1" dirty="0">
                <a:solidFill>
                  <a:schemeClr val="dk1"/>
                </a:solidFill>
              </a:rPr>
              <a:t> marketing</a:t>
            </a:r>
            <a:r>
              <a:rPr lang="pt-BR" sz="1800" dirty="0">
                <a:solidFill>
                  <a:schemeClr val="dk1"/>
                </a:solidFill>
              </a:rPr>
              <a:t> para 50 mil clientes, a chance de 1 cliente acessar o link é de 2%. Qual a probabilidade de 500 clientes acessarem o link dos </a:t>
            </a:r>
            <a:r>
              <a:rPr lang="pt-BR" sz="1800" i="1" dirty="0" err="1">
                <a:solidFill>
                  <a:schemeClr val="dk1"/>
                </a:solidFill>
              </a:rPr>
              <a:t>email`s</a:t>
            </a:r>
            <a:r>
              <a:rPr lang="pt-BR" sz="1800" dirty="0">
                <a:solidFill>
                  <a:schemeClr val="dk1"/>
                </a:solidFill>
              </a:rPr>
              <a:t>?</a:t>
            </a: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18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1800" dirty="0">
                <a:solidFill>
                  <a:schemeClr val="dk1"/>
                </a:solidFill>
              </a:rPr>
              <a:t>A chance de acidente mensal em uma fábrica com 200 funcionários é de 3%, qual a probabilidade de 10 funcionários sofrerem acidente este mês?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18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0086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Distribuição</a:t>
            </a:r>
            <a:r>
              <a:rPr lang="en-US" sz="3000" b="1" dirty="0">
                <a:solidFill>
                  <a:schemeClr val="lt1"/>
                </a:solidFill>
              </a:rPr>
              <a:t> Binomial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(</a:t>
            </a:r>
            <a:r>
              <a:rPr lang="en-US" sz="3000" b="1" dirty="0" err="1">
                <a:solidFill>
                  <a:schemeClr val="lt1"/>
                </a:solidFill>
              </a:rPr>
              <a:t>resumo</a:t>
            </a:r>
            <a:r>
              <a:rPr lang="en-US" sz="3000" b="1" dirty="0">
                <a:solidFill>
                  <a:schemeClr val="lt1"/>
                </a:solidFill>
              </a:rPr>
              <a:t>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Shape 413"/>
              <p:cNvSpPr/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2000" dirty="0">
                    <a:solidFill>
                      <a:schemeClr val="dk1"/>
                    </a:solidFill>
                  </a:rPr>
                  <a:t>Em resumo, uma distribuição binomial possui 3 características e a seguinte fórmula: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0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2000" dirty="0">
                    <a:solidFill>
                      <a:schemeClr val="dk1"/>
                    </a:solidFill>
                  </a:rPr>
                  <a:t>a) consiste de </a:t>
                </a:r>
                <a:r>
                  <a:rPr lang="pt-BR" sz="2000" i="1" dirty="0">
                    <a:solidFill>
                      <a:schemeClr val="dk1"/>
                    </a:solidFill>
                  </a:rPr>
                  <a:t>n</a:t>
                </a:r>
                <a:r>
                  <a:rPr lang="pt-BR" sz="2000" dirty="0">
                    <a:solidFill>
                      <a:schemeClr val="dk1"/>
                    </a:solidFill>
                  </a:rPr>
                  <a:t> eventos de Bernoulli (sim/não, sucesso/fracasso)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2000" dirty="0">
                    <a:solidFill>
                      <a:schemeClr val="dk1"/>
                    </a:solidFill>
                  </a:rPr>
                  <a:t>b) cada evento é independente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2000" dirty="0">
                    <a:solidFill>
                      <a:schemeClr val="dk1"/>
                    </a:solidFill>
                  </a:rPr>
                  <a:t>c) a probabilidade de cada evento ocorrer está entre 0 e 1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000" dirty="0">
                  <a:solidFill>
                    <a:schemeClr val="dk1"/>
                  </a:solidFill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d>
                          <m:dPr>
                            <m:ctrlPr>
                              <a:rPr lang="pt-B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pt-B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pt-B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B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pt-B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pt-B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pt-B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pt-B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pt-BR" sz="2000" dirty="0"/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0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8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80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3" name="Shape 4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blipFill>
                <a:blip r:embed="rId3"/>
                <a:stretch>
                  <a:fillRect l="-741" t="-25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/>
          <p:cNvSpPr txBox="1"/>
          <p:nvPr/>
        </p:nvSpPr>
        <p:spPr>
          <a:xfrm>
            <a:off x="-71717" y="6014471"/>
            <a:ext cx="68311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*Exemplo com números ver </a:t>
            </a:r>
            <a:r>
              <a:rPr lang="pt-BR" dirty="0" err="1"/>
              <a:t>excel</a:t>
            </a:r>
            <a:r>
              <a:rPr lang="pt-BR" dirty="0"/>
              <a:t>: distrib_prob.xlsx, aba </a:t>
            </a:r>
            <a:r>
              <a:rPr lang="pt-BR" dirty="0" err="1"/>
              <a:t>dist_binomial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458563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Distribuição</a:t>
            </a:r>
            <a:r>
              <a:rPr lang="en-US" sz="3000" b="1" dirty="0">
                <a:solidFill>
                  <a:schemeClr val="lt1"/>
                </a:solidFill>
              </a:rPr>
              <a:t> Poisson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A distribuição de Poisson é utilizada quando buscamos contar o número de eventos num intervalo </a:t>
            </a:r>
            <a:r>
              <a:rPr lang="pt-BR" sz="2400" dirty="0" err="1">
                <a:solidFill>
                  <a:schemeClr val="dk1"/>
                </a:solidFill>
              </a:rPr>
              <a:t>pré</a:t>
            </a:r>
            <a:r>
              <a:rPr lang="pt-BR" sz="2400" dirty="0">
                <a:solidFill>
                  <a:schemeClr val="dk1"/>
                </a:solidFill>
              </a:rPr>
              <a:t> determinado (tempo, área, volume).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2847" y="2832846"/>
            <a:ext cx="3571651" cy="324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3161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Distribuição</a:t>
            </a:r>
            <a:r>
              <a:rPr lang="en-US" sz="3000" b="1" dirty="0">
                <a:solidFill>
                  <a:schemeClr val="lt1"/>
                </a:solidFill>
              </a:rPr>
              <a:t> Poisson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(</a:t>
            </a:r>
            <a:r>
              <a:rPr lang="en-US" sz="3000" b="1" dirty="0" err="1">
                <a:solidFill>
                  <a:schemeClr val="lt1"/>
                </a:solidFill>
              </a:rPr>
              <a:t>Exemplos</a:t>
            </a:r>
            <a:r>
              <a:rPr lang="en-US" sz="3000" b="1" dirty="0">
                <a:solidFill>
                  <a:schemeClr val="lt1"/>
                </a:solidFill>
              </a:rPr>
              <a:t>)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Número de chamadas telefônicas recebidas em um intervalo de cinco minutos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Número de falhas de um sistema bancário em um dia de operação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Número de acidentes ocorridos em um dia na cidade de São Paulo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Número de defeitos para cada 100 metros de tecido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Número de carros que estacionam a cada hora.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06867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Distribuição</a:t>
            </a:r>
            <a:r>
              <a:rPr lang="en-US" sz="3000" b="1" dirty="0">
                <a:solidFill>
                  <a:schemeClr val="lt1"/>
                </a:solidFill>
              </a:rPr>
              <a:t> de Poisson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(</a:t>
            </a:r>
            <a:r>
              <a:rPr lang="en-US" sz="3000" b="1" dirty="0" err="1">
                <a:solidFill>
                  <a:schemeClr val="lt1"/>
                </a:solidFill>
              </a:rPr>
              <a:t>resumo</a:t>
            </a:r>
            <a:r>
              <a:rPr lang="en-US" sz="3000" b="1" dirty="0">
                <a:solidFill>
                  <a:schemeClr val="lt1"/>
                </a:solidFill>
              </a:rPr>
              <a:t>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Shape 413"/>
              <p:cNvSpPr/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2000" dirty="0">
                    <a:solidFill>
                      <a:schemeClr val="dk1"/>
                    </a:solidFill>
                  </a:rPr>
                  <a:t>Em resumo, uma distribuição de Poisson possui 3 características e a seguinte fórmula: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0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2000" dirty="0">
                    <a:solidFill>
                      <a:schemeClr val="dk1"/>
                    </a:solidFill>
                  </a:rPr>
                  <a:t>a) consiste de </a:t>
                </a:r>
                <a:r>
                  <a:rPr lang="pt-BR" sz="2000" i="1" dirty="0">
                    <a:solidFill>
                      <a:schemeClr val="dk1"/>
                    </a:solidFill>
                  </a:rPr>
                  <a:t>n</a:t>
                </a:r>
                <a:r>
                  <a:rPr lang="pt-BR" sz="2000" dirty="0">
                    <a:solidFill>
                      <a:schemeClr val="dk1"/>
                    </a:solidFill>
                  </a:rPr>
                  <a:t> eventos que podem ser contados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2000" dirty="0">
                    <a:solidFill>
                      <a:schemeClr val="dk1"/>
                    </a:solidFill>
                  </a:rPr>
                  <a:t>b) cada evento é independente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2000" dirty="0">
                    <a:solidFill>
                      <a:schemeClr val="dk1"/>
                    </a:solidFill>
                  </a:rPr>
                  <a:t>c) deve-se obter a média de eventos dentro de um intervalo pré-determinado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000" dirty="0">
                  <a:solidFill>
                    <a:schemeClr val="dk1"/>
                  </a:solidFill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sup>
                        </m:sSup>
                        <m:sSup>
                          <m:sSupPr>
                            <m:ctrlP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lang="pt-BR" sz="20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14:m>
                  <m:oMath xmlns:m="http://schemas.openxmlformats.org/officeDocument/2006/math">
                    <m:r>
                      <a:rPr lang="pt-B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pt-BR" sz="2000" dirty="0"/>
                  <a:t> é a média de eventos dento de um intervalo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0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8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80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3" name="Shape 4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blipFill>
                <a:blip r:embed="rId3"/>
                <a:stretch>
                  <a:fillRect l="-741" t="-2557" r="-103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/>
          <p:cNvSpPr txBox="1"/>
          <p:nvPr/>
        </p:nvSpPr>
        <p:spPr>
          <a:xfrm>
            <a:off x="-71717" y="6014471"/>
            <a:ext cx="68311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*Exemplo com números ver </a:t>
            </a:r>
            <a:r>
              <a:rPr lang="pt-BR" dirty="0" err="1"/>
              <a:t>excel</a:t>
            </a:r>
            <a:r>
              <a:rPr lang="pt-BR" dirty="0"/>
              <a:t>: distrib_prob.xlsx, aba </a:t>
            </a:r>
            <a:r>
              <a:rPr lang="pt-BR" dirty="0" err="1"/>
              <a:t>dist_poisson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392533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Voltando</a:t>
            </a:r>
            <a:r>
              <a:rPr lang="en-US" sz="3000" b="1" dirty="0">
                <a:solidFill>
                  <a:schemeClr val="lt1"/>
                </a:solidFill>
              </a:rPr>
              <a:t> </a:t>
            </a:r>
            <a:r>
              <a:rPr lang="en-US" sz="3000" b="1" dirty="0" err="1">
                <a:solidFill>
                  <a:schemeClr val="lt1"/>
                </a:solidFill>
              </a:rPr>
              <a:t>ao</a:t>
            </a:r>
            <a:r>
              <a:rPr lang="en-US" sz="3000" b="1" dirty="0">
                <a:solidFill>
                  <a:schemeClr val="lt1"/>
                </a:solidFill>
              </a:rPr>
              <a:t> </a:t>
            </a:r>
            <a:r>
              <a:rPr lang="en-US" sz="3000" b="1" dirty="0" err="1">
                <a:solidFill>
                  <a:schemeClr val="lt1"/>
                </a:solidFill>
              </a:rPr>
              <a:t>nosso</a:t>
            </a:r>
            <a:r>
              <a:rPr lang="en-US" sz="3000" b="1" dirty="0">
                <a:solidFill>
                  <a:schemeClr val="lt1"/>
                </a:solidFill>
              </a:rPr>
              <a:t> </a:t>
            </a:r>
            <a:r>
              <a:rPr lang="en-US" sz="3000" b="1" dirty="0" err="1">
                <a:solidFill>
                  <a:schemeClr val="lt1"/>
                </a:solidFill>
              </a:rPr>
              <a:t>problema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000" b="1" dirty="0"/>
              <a:t>Qual a probabilidade de ocorrer algum acidente dado um histórico de acidentes?</a:t>
            </a:r>
          </a:p>
          <a:p>
            <a:pPr marL="50800">
              <a:lnSpc>
                <a:spcPct val="115000"/>
              </a:lnSpc>
              <a:buSzPts val="2800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altLang="pt-BR" sz="2000" dirty="0">
                <a:latin typeface="Arial" panose="020B0604020202020204" pitchFamily="34" charset="0"/>
              </a:rPr>
              <a:t>Qual a distribuição de probabilidade você assumiria para resolver este problema?</a:t>
            </a: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altLang="pt-BR" sz="2000" dirty="0">
                <a:latin typeface="Arial" panose="020B0604020202020204" pitchFamily="34" charset="0"/>
              </a:rPr>
              <a:t>Se uma empresa tem média mensal de 20 acidentes. Qual a probabilidade de ocorrer 7 acidentes?</a:t>
            </a: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altLang="pt-BR" sz="2000" dirty="0">
                <a:latin typeface="Arial" panose="020B0604020202020204" pitchFamily="34" charset="0"/>
              </a:rPr>
              <a:t>Qual a probabilidade de ocorrer entre 15 a 17 acidentes? Mesma média.</a:t>
            </a: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4582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Resolução</a:t>
            </a:r>
            <a:r>
              <a:rPr lang="en-US" sz="3000" b="1" dirty="0">
                <a:solidFill>
                  <a:schemeClr val="lt1"/>
                </a:solidFill>
              </a:rPr>
              <a:t> 1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altLang="pt-BR" sz="2800" dirty="0">
                <a:latin typeface="Arial" panose="020B0604020202020204" pitchFamily="34" charset="0"/>
              </a:rPr>
              <a:t>Qual a distribuição de probabilidade você assumiria para resolver este problema?</a:t>
            </a: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altLang="pt-BR" sz="2800" dirty="0">
                <a:latin typeface="Arial" panose="020B0604020202020204" pitchFamily="34" charset="0"/>
              </a:rPr>
              <a:t>R. </a:t>
            </a:r>
            <a:r>
              <a:rPr lang="pt-BR" altLang="pt-BR" sz="2800" b="1" dirty="0">
                <a:latin typeface="Arial" panose="020B0604020202020204" pitchFamily="34" charset="0"/>
              </a:rPr>
              <a:t>Poisson</a:t>
            </a: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8283" y="2765924"/>
            <a:ext cx="3571651" cy="324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49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Resolução</a:t>
            </a:r>
            <a:r>
              <a:rPr lang="en-US" sz="3000" b="1" dirty="0">
                <a:solidFill>
                  <a:schemeClr val="lt1"/>
                </a:solidFill>
              </a:rPr>
              <a:t> 2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Shape 413"/>
              <p:cNvSpPr/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altLang="pt-BR" sz="2400" b="1" dirty="0">
                    <a:latin typeface="Arial" panose="020B0604020202020204" pitchFamily="34" charset="0"/>
                  </a:rPr>
                  <a:t>Se uma empresa tem média mensal de 20 acidentes. Qual a probabilidade de ocorrer 7 acidentes?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2400" dirty="0"/>
                  <a:t>20 é a média de eventos dento de um intervalo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20</m:t>
                            </m:r>
                          </m:sup>
                        </m:sSup>
                        <m:sSup>
                          <m:sSup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20</m:t>
                            </m:r>
                          </m:e>
                          <m:sup>
                            <m:r>
                              <a:rPr lang="pt-B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num>
                      <m:den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=0,000523=0,052%</m:t>
                    </m:r>
                  </m:oMath>
                </a14:m>
                <a:endParaRPr lang="pt-BR" sz="24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800" b="1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80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3" name="Shape 4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blipFill>
                <a:blip r:embed="rId3"/>
                <a:stretch>
                  <a:fillRect l="-741" t="-13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0154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Resolução</a:t>
            </a:r>
            <a:r>
              <a:rPr lang="en-US" sz="3000" b="1" dirty="0">
                <a:solidFill>
                  <a:schemeClr val="lt1"/>
                </a:solidFill>
              </a:rPr>
              <a:t> 3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Shape 413"/>
              <p:cNvSpPr/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altLang="pt-BR" sz="2400" b="1" dirty="0">
                    <a:latin typeface="Arial" panose="020B0604020202020204" pitchFamily="34" charset="0"/>
                  </a:rPr>
                  <a:t>Qual a probabilidade de ocorrer entre 15 a 17 acidentes? (mesma média, 20 acidentes)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b="1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2400" dirty="0"/>
                  <a:t>20 é a média de eventos dento de um intervalo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p>
                        </m:sSup>
                        <m:sSup>
                          <m:sSup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20</m:t>
                            </m:r>
                          </m:e>
                          <m:sup>
                            <m:r>
                              <a:rPr lang="pt-B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15</m:t>
                            </m:r>
                          </m:sup>
                        </m:sSup>
                      </m:num>
                      <m:den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sSup>
                          <m:sSup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20</m:t>
                            </m:r>
                          </m:e>
                          <m:sup>
                            <m:r>
                              <a:rPr lang="pt-B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sSup>
                          <m:sSup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20</m:t>
                            </m:r>
                          </m:e>
                          <m:sup>
                            <m:r>
                              <a:rPr lang="pt-B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num>
                      <m:den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=0,1922=19,22%</m:t>
                    </m:r>
                  </m:oMath>
                </a14:m>
                <a:endParaRPr lang="pt-BR" altLang="pt-BR" sz="2400" b="1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80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3" name="Shape 4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blipFill>
                <a:blip r:embed="rId3"/>
                <a:stretch>
                  <a:fillRect l="-741" t="-13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57398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Exercícios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r>
              <a:rPr lang="pt-BR" sz="2000" dirty="0"/>
              <a:t>Resposta: </a:t>
            </a:r>
            <a:r>
              <a:rPr lang="pt-BR" sz="2000" dirty="0">
                <a:hlinkClick r:id="rId3"/>
              </a:rPr>
              <a:t>https://www.youtube.com/watch?v=6uOLbhYeXrk</a:t>
            </a: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000" dirty="0"/>
              <a:t>Resposta: </a:t>
            </a:r>
            <a:r>
              <a:rPr lang="pt-BR" sz="2000" dirty="0">
                <a:hlinkClick r:id="rId4"/>
              </a:rPr>
              <a:t>https://www.youtube.com/watch?v=RKKF4LLpT9M</a:t>
            </a:r>
            <a:endParaRPr lang="pt-BR" sz="2000" dirty="0"/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0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16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8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8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8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2" indent="-292100" algn="l" rtl="0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450" y="1493837"/>
            <a:ext cx="7494213" cy="667565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415" y="2873742"/>
            <a:ext cx="7494213" cy="1059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123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Onde</a:t>
            </a:r>
            <a:r>
              <a:rPr lang="en-US" sz="3000" b="1" dirty="0">
                <a:solidFill>
                  <a:schemeClr val="lt1"/>
                </a:solidFill>
              </a:rPr>
              <a:t> </a:t>
            </a:r>
            <a:r>
              <a:rPr lang="en-US" sz="3000" b="1" dirty="0" err="1">
                <a:solidFill>
                  <a:schemeClr val="lt1"/>
                </a:solidFill>
              </a:rPr>
              <a:t>estudar</a:t>
            </a:r>
            <a:r>
              <a:rPr lang="en-US" sz="3000" b="1" dirty="0">
                <a:solidFill>
                  <a:schemeClr val="lt1"/>
                </a:solidFill>
              </a:rPr>
              <a:t> </a:t>
            </a:r>
            <a:r>
              <a:rPr lang="en-US" sz="3000" b="1" dirty="0" err="1">
                <a:solidFill>
                  <a:schemeClr val="lt1"/>
                </a:solidFill>
              </a:rPr>
              <a:t>mais</a:t>
            </a:r>
            <a:r>
              <a:rPr lang="en-US" sz="3000" b="1" dirty="0">
                <a:solidFill>
                  <a:schemeClr val="lt1"/>
                </a:solidFill>
              </a:rPr>
              <a:t>!!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3853984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r>
              <a:rPr lang="pt-BR" sz="2000" dirty="0"/>
              <a:t>Leitura</a:t>
            </a: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000" dirty="0"/>
              <a:t>D</a:t>
            </a:r>
            <a:r>
              <a:rPr lang="pt-BR" sz="2000" b="0" i="0" u="none" strike="noStrike" cap="none" dirty="0">
                <a:solidFill>
                  <a:srgbClr val="000000"/>
                </a:solidFill>
                <a:sym typeface="Arial"/>
              </a:rPr>
              <a:t>istribuições discretas: </a:t>
            </a:r>
            <a:r>
              <a:rPr lang="pt-BR" sz="1000" dirty="0">
                <a:hlinkClick r:id="rId3"/>
              </a:rPr>
              <a:t>https://pt.khanacademy.org/math/ap-statistics/random-variables-ap/discrete-random-variables/v/discrete-probability-distribution</a:t>
            </a:r>
            <a:endParaRPr lang="pt-BR" sz="10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8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8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8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2" indent="-292100" algn="l" rtl="0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Shape 413"/>
          <p:cNvSpPr/>
          <p:nvPr/>
        </p:nvSpPr>
        <p:spPr>
          <a:xfrm>
            <a:off x="4859713" y="1393397"/>
            <a:ext cx="3853984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r>
              <a:rPr lang="pt-BR" sz="2000" dirty="0"/>
              <a:t>Vídeos</a:t>
            </a: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1100" dirty="0"/>
              <a:t>Distribuição Binomial: </a:t>
            </a:r>
            <a:r>
              <a:rPr lang="pt-BR" sz="1100" dirty="0">
                <a:hlinkClick r:id="rId4"/>
              </a:rPr>
              <a:t>https://pt.khanacademy.org/math/statistics-probability/random-variables-stats-library/binomial-random-variables/v/binomial-distribution</a:t>
            </a:r>
            <a:endParaRPr lang="pt-BR" sz="1100" dirty="0"/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11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1100" dirty="0"/>
              <a:t>Distribuição de Poisson: </a:t>
            </a:r>
            <a:r>
              <a:rPr lang="pt-BR" sz="1100" dirty="0">
                <a:hlinkClick r:id="rId5"/>
              </a:rPr>
              <a:t>https://pt.khanacademy.org/math/statistics-probability/random-variables-stats-library/poisson-distribution/v/poisson-process-1</a:t>
            </a:r>
            <a:endParaRPr lang="pt-BR" sz="28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2" indent="-292100" algn="l" rtl="0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3419" y="1968818"/>
            <a:ext cx="1742489" cy="2613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724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Shape 4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Shape 455"/>
          <p:cNvPicPr preferRelativeResize="0"/>
          <p:nvPr/>
        </p:nvPicPr>
        <p:blipFill rotWithShape="1">
          <a:blip r:embed="rId4">
            <a:alphaModFix/>
          </a:blip>
          <a:srcRect l="14" r="14"/>
          <a:stretch/>
        </p:blipFill>
        <p:spPr>
          <a:xfrm>
            <a:off x="215412" y="642938"/>
            <a:ext cx="8440615" cy="5716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5_Personalizar design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2321</TotalTime>
  <Words>1362</Words>
  <Application>Microsoft Office PowerPoint</Application>
  <PresentationFormat>Apresentação na tela (4:3)</PresentationFormat>
  <Paragraphs>348</Paragraphs>
  <Slides>30</Slides>
  <Notes>30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30</vt:i4>
      </vt:variant>
    </vt:vector>
  </HeadingPairs>
  <TitlesOfParts>
    <vt:vector size="36" baseType="lpstr">
      <vt:lpstr>Montserrat</vt:lpstr>
      <vt:lpstr>Arial</vt:lpstr>
      <vt:lpstr>Cambria Math</vt:lpstr>
      <vt:lpstr>Calibri</vt:lpstr>
      <vt:lpstr>Office Theme</vt:lpstr>
      <vt:lpstr>5_Personalizar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Alcides Carlos de Araújo</cp:lastModifiedBy>
  <cp:revision>278</cp:revision>
  <dcterms:modified xsi:type="dcterms:W3CDTF">2022-07-27T02:20:48Z</dcterms:modified>
</cp:coreProperties>
</file>