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664" r:id="rId2"/>
  </p:sldMasterIdLst>
  <p:notesMasterIdLst>
    <p:notesMasterId r:id="rId24"/>
  </p:notesMasterIdLst>
  <p:sldIdLst>
    <p:sldId id="256" r:id="rId3"/>
    <p:sldId id="257" r:id="rId4"/>
    <p:sldId id="285" r:id="rId5"/>
    <p:sldId id="300" r:id="rId6"/>
    <p:sldId id="348" r:id="rId7"/>
    <p:sldId id="434" r:id="rId8"/>
    <p:sldId id="457" r:id="rId9"/>
    <p:sldId id="435" r:id="rId10"/>
    <p:sldId id="389" r:id="rId11"/>
    <p:sldId id="443" r:id="rId12"/>
    <p:sldId id="450" r:id="rId13"/>
    <p:sldId id="437" r:id="rId14"/>
    <p:sldId id="451" r:id="rId15"/>
    <p:sldId id="458" r:id="rId16"/>
    <p:sldId id="452" r:id="rId17"/>
    <p:sldId id="438" r:id="rId18"/>
    <p:sldId id="459" r:id="rId19"/>
    <p:sldId id="453" r:id="rId20"/>
    <p:sldId id="454" r:id="rId21"/>
    <p:sldId id="343" r:id="rId22"/>
    <p:sldId id="307" r:id="rId2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88E95B-7D3C-4000-9396-C2E5DE68CFB0}">
  <a:tblStyle styleId="{B388E95B-7D3C-4000-9396-C2E5DE68CF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2875" autoAdjust="0"/>
  </p:normalViewPr>
  <p:slideViewPr>
    <p:cSldViewPr snapToGrid="0">
      <p:cViewPr varScale="1">
        <p:scale>
          <a:sx n="64" d="100"/>
          <a:sy n="64" d="100"/>
        </p:scale>
        <p:origin x="15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Shape 3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tabLst/>
              <a:defRPr/>
            </a:pPr>
            <a:endParaRPr lang="pt-BR"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020298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294727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992461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660798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092218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593358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8424006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791037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625027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858672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973385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9962329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969438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6297353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68067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008078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4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Shape 45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las">
  <p:cSld name="Tela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ads Escuro MBA">
  <p:cSld name="Quads Escuro MBA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3575051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457200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 rot="5400000">
            <a:off x="4732337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3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udo_D">
  <p:cSld name="Conteudo_D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Shape 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251521" y="908720"/>
            <a:ext cx="7632848" cy="53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body" idx="2"/>
          </p:nvPr>
        </p:nvSpPr>
        <p:spPr>
          <a:xfrm>
            <a:off x="251521" y="44626"/>
            <a:ext cx="7704534" cy="57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0" y="4904650"/>
            <a:ext cx="91443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Shape 9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Shape 9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98" name="Shape 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Shape 99"/>
          <p:cNvSpPr/>
          <p:nvPr/>
        </p:nvSpPr>
        <p:spPr>
          <a:xfrm>
            <a:off x="0" y="4904650"/>
            <a:ext cx="91443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t.khanacademy.org/math/statistics-probability/inference-categorical-data-chi-square-tests/chi-square-goodness-of-fit-tests/v/chi-square-distribution-introduction" TargetMode="External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machinelearningmastery.com/chi-squared-test-for-machine-learning/" TargetMode="External"/><Relationship Id="rId5" Type="http://schemas.openxmlformats.org/officeDocument/2006/relationships/hyperlink" Target="https://pt.khanacademy.org/math/statistics-probability/inference-categorical-data-chi-square-tests/chi-square-tests-for-homogeneity-and-association-independence/v/contingency-table-chi-square-test" TargetMode="External"/><Relationship Id="rId4" Type="http://schemas.openxmlformats.org/officeDocument/2006/relationships/hyperlink" Target="https://pt.khanacademy.org/math/statistics-probability/inference-categorical-data-chi-square-tests/chi-square-goodness-of-fit-tests/v/pearson-s-chi-square-test-goodness-of-fit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Shape 106" descr="FIAP-NOVO-2014-MAGENT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3125" y="2901164"/>
            <a:ext cx="3604019" cy="105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54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Shape 111" descr="0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120" y="972084"/>
            <a:ext cx="8391764" cy="47559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Shape 112"/>
          <p:cNvSpPr txBox="1"/>
          <p:nvPr/>
        </p:nvSpPr>
        <p:spPr>
          <a:xfrm>
            <a:off x="2053676" y="2636889"/>
            <a:ext cx="5289657" cy="1217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AULA 12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Shape 306"/>
          <p:cNvPicPr preferRelativeResize="0"/>
          <p:nvPr/>
        </p:nvPicPr>
        <p:blipFill rotWithShape="1">
          <a:blip r:embed="rId3">
            <a:alphaModFix/>
          </a:blip>
          <a:srcRect l="20898" r="22582"/>
          <a:stretch/>
        </p:blipFill>
        <p:spPr>
          <a:xfrm>
            <a:off x="0" y="3376031"/>
            <a:ext cx="9155651" cy="278985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Shape 307"/>
          <p:cNvSpPr txBox="1"/>
          <p:nvPr/>
        </p:nvSpPr>
        <p:spPr>
          <a:xfrm>
            <a:off x="578249" y="4047077"/>
            <a:ext cx="7999382" cy="39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</a:rPr>
              <a:t>Data Analysis Fundamentals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578249" y="5061038"/>
            <a:ext cx="7084983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Alcides C. Araújo</a:t>
            </a:r>
            <a:endParaRPr sz="18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Shape 309"/>
          <p:cNvSpPr txBox="1"/>
          <p:nvPr/>
        </p:nvSpPr>
        <p:spPr>
          <a:xfrm>
            <a:off x="919775" y="1373555"/>
            <a:ext cx="7085100" cy="12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1800" dirty="0">
                <a:solidFill>
                  <a:srgbClr val="FFFF00"/>
                </a:solidFill>
              </a:rPr>
              <a:t>"Capacitar o aluno no entendimento de conceitos básicos de estatística e análise de dados.“</a:t>
            </a:r>
          </a:p>
          <a:p>
            <a:endParaRPr lang="pt-BR" sz="1800" dirty="0">
              <a:solidFill>
                <a:srgbClr val="FFFF00"/>
              </a:solidFill>
            </a:endParaRPr>
          </a:p>
          <a:p>
            <a:r>
              <a:rPr lang="pt-BR" sz="1800" dirty="0">
                <a:solidFill>
                  <a:srgbClr val="FFFF00"/>
                </a:solidFill>
              </a:rPr>
              <a:t>"Preparar os alunos para entender e desempenhar conceitos futuros relacionados a Análise Exploratória de Dados e </a:t>
            </a:r>
            <a:r>
              <a:rPr lang="pt-BR" sz="1800" dirty="0" err="1">
                <a:solidFill>
                  <a:srgbClr val="FFFF00"/>
                </a:solidFill>
              </a:rPr>
              <a:t>Machine</a:t>
            </a:r>
            <a:r>
              <a:rPr lang="pt-BR" sz="1800" dirty="0">
                <a:solidFill>
                  <a:srgbClr val="FFFF00"/>
                </a:solidFill>
              </a:rPr>
              <a:t> Learning"</a:t>
            </a:r>
            <a:endParaRPr sz="1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Conceitos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iniciais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800" dirty="0">
                <a:latin typeface="Arial" panose="020B0604020202020204" pitchFamily="34" charset="0"/>
              </a:rPr>
              <a:t>Teste </a:t>
            </a:r>
            <a:r>
              <a:rPr lang="pt-BR" altLang="pt-BR" sz="2800" dirty="0" err="1">
                <a:latin typeface="Arial" panose="020B0604020202020204" pitchFamily="34" charset="0"/>
              </a:rPr>
              <a:t>Qui</a:t>
            </a:r>
            <a:r>
              <a:rPr lang="pt-BR" altLang="pt-BR" sz="2800" dirty="0">
                <a:latin typeface="Arial" panose="020B0604020202020204" pitchFamily="34" charset="0"/>
              </a:rPr>
              <a:t>-Quadrado (prática </a:t>
            </a:r>
            <a:r>
              <a:rPr lang="pt-BR" altLang="pt-BR" sz="2800" i="1" dirty="0">
                <a:solidFill>
                  <a:srgbClr val="FF0000"/>
                </a:solidFill>
                <a:latin typeface="Arial" panose="020B0604020202020204" pitchFamily="34" charset="0"/>
              </a:rPr>
              <a:t>Python</a:t>
            </a:r>
            <a:r>
              <a:rPr lang="pt-BR" altLang="pt-BR" sz="2800" dirty="0">
                <a:latin typeface="Arial" panose="020B0604020202020204" pitchFamily="34" charset="0"/>
              </a:rPr>
              <a:t>)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grpSp>
        <p:nvGrpSpPr>
          <p:cNvPr id="3" name="Agrupar 2"/>
          <p:cNvGrpSpPr/>
          <p:nvPr/>
        </p:nvGrpSpPr>
        <p:grpSpPr>
          <a:xfrm>
            <a:off x="1420765" y="2475524"/>
            <a:ext cx="6178644" cy="3091558"/>
            <a:chOff x="1420765" y="2475524"/>
            <a:chExt cx="6178644" cy="3091558"/>
          </a:xfrm>
        </p:grpSpPr>
        <p:pic>
          <p:nvPicPr>
            <p:cNvPr id="1026" name="Picture 2" descr="Chi square test in R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62" b="11871"/>
            <a:stretch/>
          </p:blipFill>
          <p:spPr bwMode="auto">
            <a:xfrm>
              <a:off x="1420765" y="2475524"/>
              <a:ext cx="6178644" cy="30915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O que é Python e pra que serve?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446" t="15796" r="29668" b="14298"/>
            <a:stretch/>
          </p:blipFill>
          <p:spPr bwMode="auto">
            <a:xfrm>
              <a:off x="2052935" y="4307338"/>
              <a:ext cx="1196702" cy="11509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Conceitos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Procedimento geral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Testes de aderência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Testes de Homogeneidade 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Testes de independência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194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Procedimento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Geral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6" y="1484312"/>
                <a:ext cx="8390125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marR="0" lvl="0" indent="-4064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Char char="●"/>
                  <a:tabLst/>
                  <a:defRPr/>
                </a:pPr>
                <a:r>
                  <a:rPr kumimoji="0" lang="pt-B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Etapas:</a:t>
                </a:r>
              </a:p>
              <a:p>
                <a:pPr marL="457200" marR="0" lvl="0" indent="-4064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Char char="●"/>
                  <a:tabLst/>
                  <a:defRPr/>
                </a:pPr>
                <a:endParaRPr kumimoji="0" lang="pt-B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508000" lvl="0" indent="-457200">
                  <a:lnSpc>
                    <a:spcPct val="115000"/>
                  </a:lnSpc>
                  <a:buSzPts val="2800"/>
                  <a:buFont typeface="+mj-lt"/>
                  <a:buAutoNum type="arabicPeriod"/>
                  <a:defRPr/>
                </a:pPr>
                <a:r>
                  <a:rPr lang="pt-BR" sz="2400" dirty="0"/>
                  <a:t>Fixar a hipótese nula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dirty="0"/>
                  <a:t>) e a hipótese alternativa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).</a:t>
                </a:r>
              </a:p>
              <a:p>
                <a:pPr marL="508000" lvl="0" indent="-457200">
                  <a:lnSpc>
                    <a:spcPct val="115000"/>
                  </a:lnSpc>
                  <a:buSzPts val="2800"/>
                  <a:buFont typeface="+mj-lt"/>
                  <a:buAutoNum type="arabicPeriod"/>
                  <a:defRPr/>
                </a:pPr>
                <a:r>
                  <a:rPr lang="pt-BR" sz="2400" baseline="0" dirty="0"/>
                  <a:t>Definir qual estimador</a:t>
                </a:r>
                <a:r>
                  <a:rPr lang="pt-BR" sz="2400" dirty="0"/>
                  <a:t> será utilizado (média, variância).</a:t>
                </a:r>
              </a:p>
              <a:p>
                <a:pPr marL="508000" lvl="0" indent="-457200">
                  <a:lnSpc>
                    <a:spcPct val="115000"/>
                  </a:lnSpc>
                  <a:buSzPts val="2800"/>
                  <a:buFont typeface="+mj-lt"/>
                  <a:buAutoNum type="arabicPeriod"/>
                  <a:defRPr/>
                </a:pPr>
                <a:r>
                  <a:rPr lang="pt-BR" sz="2400" baseline="0" dirty="0"/>
                  <a:t>Fixar o nível de confiança</a:t>
                </a:r>
                <a:r>
                  <a:rPr lang="pt-BR" sz="2400" dirty="0"/>
                  <a:t> (90%, 95%, 99%).</a:t>
                </a:r>
              </a:p>
              <a:p>
                <a:pPr marL="508000" lvl="0" indent="-457200">
                  <a:lnSpc>
                    <a:spcPct val="115000"/>
                  </a:lnSpc>
                  <a:buSzPts val="2800"/>
                  <a:buFont typeface="+mj-lt"/>
                  <a:buAutoNum type="arabicPeriod"/>
                  <a:defRPr/>
                </a:pPr>
                <a:r>
                  <a:rPr lang="pt-BR" sz="2400" baseline="0" dirty="0"/>
                  <a:t>Utilizar os dados da</a:t>
                </a:r>
                <a:r>
                  <a:rPr lang="pt-BR" sz="2400" dirty="0"/>
                  <a:t> amostra obtida para calcular o valor da estatística teste (</a:t>
                </a:r>
                <a:r>
                  <a:rPr lang="pt-BR" sz="2400" i="1" dirty="0"/>
                  <a:t>t</a:t>
                </a:r>
                <a:r>
                  <a:rPr lang="pt-BR" sz="2400" dirty="0"/>
                  <a:t>, F, </a:t>
                </a:r>
                <a:r>
                  <a:rPr lang="pt-BR" sz="2400" dirty="0" err="1"/>
                  <a:t>Qui</a:t>
                </a:r>
                <a:r>
                  <a:rPr lang="pt-BR" sz="2400" dirty="0"/>
                  <a:t>-Quadrado).</a:t>
                </a:r>
              </a:p>
              <a:p>
                <a:pPr marL="508000" lvl="0" indent="-457200">
                  <a:lnSpc>
                    <a:spcPct val="115000"/>
                  </a:lnSpc>
                  <a:buSzPts val="2800"/>
                  <a:buFont typeface="+mj-lt"/>
                  <a:buAutoNum type="arabicPeriod"/>
                  <a:defRPr/>
                </a:pPr>
                <a:r>
                  <a:rPr lang="pt-BR" sz="2400" baseline="0" dirty="0"/>
                  <a:t>Verificar se o valor da estatística teste esta contida ou não na região de rejeição. Caso esteja, rejeita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baseline="0" dirty="0"/>
                  <a:t>, contrário não rejeita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baseline="0" dirty="0"/>
                  <a:t>.</a:t>
                </a:r>
              </a:p>
              <a:p>
                <a:pPr marL="457200" marR="0" lvl="0" indent="-4064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Char char="●"/>
                  <a:tabLst/>
                  <a:defRPr/>
                </a:pPr>
                <a:endParaRPr kumimoji="0" lang="pt-B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457200" marR="0" lvl="0" indent="-4064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Char char="●"/>
                  <a:tabLst/>
                  <a:defRPr/>
                </a:pPr>
                <a:endParaRPr kumimoji="0" lang="pt-BR" altLang="pt-B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/>
                  <a:sym typeface="Arial"/>
                </a:endParaRPr>
              </a:p>
              <a:p>
                <a:pPr marL="457200" marR="0" lvl="0" indent="-4064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Char char="●"/>
                  <a:tabLst/>
                  <a:defRPr/>
                </a:pPr>
                <a:endParaRPr kumimoji="0" lang="pt-BR" altLang="pt-B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/>
                  <a:sym typeface="Arial"/>
                </a:endParaRPr>
              </a:p>
              <a:p>
                <a:pPr marL="457200" marR="0" lvl="0" indent="-4064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Char char="●"/>
                  <a:tabLst/>
                  <a:defRPr/>
                </a:pPr>
                <a:endParaRPr kumimoji="0" lang="pt-BR" altLang="pt-B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/>
                  <a:sym typeface="Arial"/>
                </a:endParaRPr>
              </a:p>
              <a:p>
                <a:pPr marL="457200" marR="0" lvl="0" indent="-4064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Char char="●"/>
                  <a:tabLst/>
                  <a:defRPr/>
                </a:pPr>
                <a:endParaRPr kumimoji="0" lang="pt-BR" altLang="pt-BR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6" y="1484312"/>
                <a:ext cx="8390125" cy="4526100"/>
              </a:xfrm>
              <a:prstGeom prst="rect">
                <a:avLst/>
              </a:prstGeom>
              <a:blipFill>
                <a:blip r:embed="rId3"/>
                <a:stretch>
                  <a:fillRect l="-727" t="-1346" r="-10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136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endParaRPr b="1"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No </a:t>
            </a:r>
            <a:r>
              <a:rPr lang="pt-BR" sz="2400" i="1" dirty="0">
                <a:solidFill>
                  <a:srgbClr val="FF0000"/>
                </a:solidFill>
              </a:rPr>
              <a:t>Python</a:t>
            </a:r>
            <a:r>
              <a:rPr lang="pt-BR" sz="2400" dirty="0">
                <a:solidFill>
                  <a:schemeClr val="dk1"/>
                </a:solidFill>
              </a:rPr>
              <a:t>, o teste </a:t>
            </a:r>
            <a:r>
              <a:rPr lang="pt-BR" sz="2400" i="1" dirty="0" err="1">
                <a:solidFill>
                  <a:schemeClr val="dk1"/>
                </a:solidFill>
              </a:rPr>
              <a:t>qui</a:t>
            </a:r>
            <a:r>
              <a:rPr lang="pt-BR" sz="2400" i="1" dirty="0">
                <a:solidFill>
                  <a:schemeClr val="dk1"/>
                </a:solidFill>
              </a:rPr>
              <a:t>-quadrado</a:t>
            </a:r>
            <a:r>
              <a:rPr lang="pt-BR" sz="2400" dirty="0">
                <a:solidFill>
                  <a:schemeClr val="dk1"/>
                </a:solidFill>
              </a:rPr>
              <a:t> é realizado pelas funções </a:t>
            </a:r>
            <a:r>
              <a:rPr lang="pt-BR" sz="2400" b="1" dirty="0" err="1">
                <a:solidFill>
                  <a:schemeClr val="dk1"/>
                </a:solidFill>
              </a:rPr>
              <a:t>chisquare</a:t>
            </a:r>
            <a:r>
              <a:rPr lang="pt-BR" sz="2400" b="1" dirty="0">
                <a:solidFill>
                  <a:schemeClr val="dk1"/>
                </a:solidFill>
              </a:rPr>
              <a:t>() </a:t>
            </a:r>
            <a:r>
              <a:rPr lang="pt-BR" sz="2400" dirty="0">
                <a:solidFill>
                  <a:schemeClr val="dk1"/>
                </a:solidFill>
              </a:rPr>
              <a:t>e</a:t>
            </a:r>
            <a:r>
              <a:rPr lang="pt-BR" sz="2400" b="1" dirty="0">
                <a:solidFill>
                  <a:schemeClr val="dk1"/>
                </a:solidFill>
              </a:rPr>
              <a:t> chis2_contingency()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Parâmetros: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 err="1">
                <a:solidFill>
                  <a:schemeClr val="dk1"/>
                </a:solidFill>
              </a:rPr>
              <a:t>observed</a:t>
            </a:r>
            <a:r>
              <a:rPr lang="pt-BR" sz="2000" dirty="0">
                <a:solidFill>
                  <a:schemeClr val="dk1"/>
                </a:solidFill>
              </a:rPr>
              <a:t> – tabela de contingência (tabela cruzada)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 err="1">
                <a:solidFill>
                  <a:schemeClr val="dk1"/>
                </a:solidFill>
              </a:rPr>
              <a:t>correction</a:t>
            </a:r>
            <a:r>
              <a:rPr lang="pt-BR" sz="2000" dirty="0">
                <a:solidFill>
                  <a:schemeClr val="dk1"/>
                </a:solidFill>
              </a:rPr>
              <a:t> – aplicar correção de </a:t>
            </a:r>
            <a:r>
              <a:rPr lang="pt-BR" sz="2000" dirty="0" err="1">
                <a:solidFill>
                  <a:schemeClr val="dk1"/>
                </a:solidFill>
              </a:rPr>
              <a:t>Yates</a:t>
            </a:r>
            <a:r>
              <a:rPr lang="pt-BR" sz="2000" dirty="0">
                <a:solidFill>
                  <a:schemeClr val="dk1"/>
                </a:solidFill>
              </a:rPr>
              <a:t> (usada quando temos frequências menores que 10)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749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endParaRPr i="1"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300" dirty="0">
                <a:solidFill>
                  <a:schemeClr val="dk1"/>
                </a:solidFill>
              </a:rPr>
              <a:t>O teste </a:t>
            </a:r>
            <a:r>
              <a:rPr lang="pt-BR" sz="2300" dirty="0" err="1">
                <a:solidFill>
                  <a:schemeClr val="dk1"/>
                </a:solidFill>
              </a:rPr>
              <a:t>Qui</a:t>
            </a:r>
            <a:r>
              <a:rPr lang="pt-BR" sz="2300" dirty="0">
                <a:solidFill>
                  <a:schemeClr val="dk1"/>
                </a:solidFill>
              </a:rPr>
              <a:t>-Quadrado é aplicado nos seguintes testes: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3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300" b="1" dirty="0">
                <a:solidFill>
                  <a:schemeClr val="dk1"/>
                </a:solidFill>
              </a:rPr>
              <a:t>Teste de aderência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3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300" b="1" dirty="0">
                <a:solidFill>
                  <a:schemeClr val="dk1"/>
                </a:solidFill>
              </a:rPr>
              <a:t>Teste de homogeneidade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300" b="1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300" b="1" dirty="0">
                <a:solidFill>
                  <a:schemeClr val="dk1"/>
                </a:solidFill>
              </a:rPr>
              <a:t>Teste de independência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826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de </a:t>
            </a:r>
            <a:r>
              <a:rPr lang="en-US" sz="3000" b="1" dirty="0" err="1">
                <a:solidFill>
                  <a:schemeClr val="lt1"/>
                </a:solidFill>
              </a:rPr>
              <a:t>aderência</a:t>
            </a:r>
            <a:endParaRPr i="1"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Teste de aderência busca verificar se o comportamento da população segue uma distribuição especificada.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Problema exemplo: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Um gerente deseja testar a frequência esperada e observada de pessoas que visitam uma loja por dia da semana. Os resultados são visualizados na tabela abaixo: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304652"/>
              </p:ext>
            </p:extLst>
          </p:nvPr>
        </p:nvGraphicFramePr>
        <p:xfrm>
          <a:off x="395287" y="4615331"/>
          <a:ext cx="7440708" cy="12852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846">
                  <a:extLst>
                    <a:ext uri="{9D8B030D-6E8A-4147-A177-3AD203B41FA5}">
                      <a16:colId xmlns:a16="http://schemas.microsoft.com/office/drawing/2014/main" val="1885700817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1088044431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770834387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606773706"/>
                    </a:ext>
                  </a:extLst>
                </a:gridCol>
                <a:gridCol w="635029">
                  <a:extLst>
                    <a:ext uri="{9D8B030D-6E8A-4147-A177-3AD203B41FA5}">
                      <a16:colId xmlns:a16="http://schemas.microsoft.com/office/drawing/2014/main" val="556942298"/>
                    </a:ext>
                  </a:extLst>
                </a:gridCol>
                <a:gridCol w="949683">
                  <a:extLst>
                    <a:ext uri="{9D8B030D-6E8A-4147-A177-3AD203B41FA5}">
                      <a16:colId xmlns:a16="http://schemas.microsoft.com/office/drawing/2014/main" val="434777347"/>
                    </a:ext>
                  </a:extLst>
                </a:gridCol>
                <a:gridCol w="949683">
                  <a:extLst>
                    <a:ext uri="{9D8B030D-6E8A-4147-A177-3AD203B41FA5}">
                      <a16:colId xmlns:a16="http://schemas.microsoft.com/office/drawing/2014/main" val="1076363347"/>
                    </a:ext>
                  </a:extLst>
                </a:gridCol>
                <a:gridCol w="949683">
                  <a:extLst>
                    <a:ext uri="{9D8B030D-6E8A-4147-A177-3AD203B41FA5}">
                      <a16:colId xmlns:a16="http://schemas.microsoft.com/office/drawing/2014/main" val="3334309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Dia da semana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Dom.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Seg.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/>
                        <a:t>Qua</a:t>
                      </a:r>
                      <a:r>
                        <a:rPr lang="pt-BR" sz="12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/>
                        <a:t>Qui</a:t>
                      </a:r>
                      <a:r>
                        <a:rPr lang="pt-BR" sz="12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Sex.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/>
                        <a:t>Sáb</a:t>
                      </a:r>
                      <a:r>
                        <a:rPr lang="pt-BR" sz="12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82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Frequência</a:t>
                      </a:r>
                      <a:r>
                        <a:rPr lang="pt-BR" sz="1200" baseline="0" dirty="0"/>
                        <a:t> esperada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8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Frequência</a:t>
                      </a:r>
                      <a:r>
                        <a:rPr lang="pt-BR" sz="1200" baseline="0" dirty="0"/>
                        <a:t> observada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112267"/>
                  </a:ext>
                </a:extLst>
              </a:tr>
            </a:tbl>
          </a:graphicData>
        </a:graphic>
      </p:graphicFrame>
      <p:cxnSp>
        <p:nvCxnSpPr>
          <p:cNvPr id="4" name="Conector de Seta Reta 3"/>
          <p:cNvCxnSpPr/>
          <p:nvPr/>
        </p:nvCxnSpPr>
        <p:spPr>
          <a:xfrm flipH="1">
            <a:off x="7512424" y="5004375"/>
            <a:ext cx="422182" cy="96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7921578" y="4727376"/>
            <a:ext cx="14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Estes percentuais são hipóteses do gerente.</a:t>
            </a:r>
          </a:p>
        </p:txBody>
      </p:sp>
    </p:spTree>
    <p:extLst>
      <p:ext uri="{BB962C8B-B14F-4D97-AF65-F5344CB8AC3E}">
        <p14:creationId xmlns:p14="http://schemas.microsoft.com/office/powerpoint/2010/main" val="59324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solidFill>
                      <a:schemeClr val="dk1"/>
                    </a:solidFill>
                  </a:rPr>
                  <a:t>Etapa 1: </a:t>
                </a:r>
                <a:r>
                  <a:rPr lang="pt-BR" sz="1600" dirty="0"/>
                  <a:t>Fixar a hipótese nula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/>
                  <a:t>) e a hipótese alternativa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600" dirty="0"/>
                  <a:t>)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pt-BR" sz="1600" b="1" dirty="0"/>
                  <a:t>: as frequências observadas são iguais as frequências esperadas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pt-BR" sz="1600" b="1" dirty="0"/>
                  <a:t>: as frequências observadas são diferentes das frequências esperadas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Definir o estimador: </a:t>
                </a:r>
                <a:r>
                  <a:rPr lang="pt-BR" sz="1600" b="1" dirty="0" err="1"/>
                  <a:t>qui</a:t>
                </a:r>
                <a:r>
                  <a:rPr lang="pt-BR" sz="1600" b="1" dirty="0"/>
                  <a:t>-quadrado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Fixar o nível de confiança: </a:t>
                </a:r>
                <a:r>
                  <a:rPr lang="pt-BR" sz="1600" b="1" dirty="0"/>
                  <a:t>95%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solidFill>
                      <a:schemeClr val="dk1"/>
                    </a:solidFill>
                  </a:rPr>
                  <a:t>Vamos continuar no </a:t>
                </a:r>
                <a:r>
                  <a:rPr lang="pt-BR" sz="1600" i="1" dirty="0" err="1">
                    <a:solidFill>
                      <a:srgbClr val="FF0000"/>
                    </a:solidFill>
                  </a:rPr>
                  <a:t>python</a:t>
                </a:r>
                <a:endParaRPr lang="pt-BR" sz="2400" i="1" dirty="0">
                  <a:solidFill>
                    <a:srgbClr val="FF0000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3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6815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Rejeitar ou não rejeitar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/>
                  <a:t>? 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O valor de </a:t>
                </a:r>
                <a:r>
                  <a:rPr lang="pt-BR" sz="1600" b="1" dirty="0"/>
                  <a:t>52,2</a:t>
                </a:r>
                <a:r>
                  <a:rPr lang="pt-BR" sz="1600" dirty="0"/>
                  <a:t> está dentro da região de rejeição. Deste modo, </a:t>
                </a:r>
                <a:r>
                  <a:rPr lang="pt-BR" sz="1600" b="1" dirty="0"/>
                  <a:t>rejeitamos a hipótese nula</a:t>
                </a:r>
                <a:r>
                  <a:rPr lang="pt-BR" sz="1600" dirty="0"/>
                  <a:t>, ou seja, </a:t>
                </a:r>
                <a:r>
                  <a:rPr lang="pt-BR" sz="1600" b="1" dirty="0"/>
                  <a:t>os valores esperados pelo gerente é diferente do observado</a:t>
                </a:r>
                <a:r>
                  <a:rPr lang="pt-BR" sz="1600" dirty="0"/>
                  <a:t>.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b="-24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de Seta Reta 12"/>
          <p:cNvCxnSpPr>
            <a:endCxn id="14" idx="0"/>
          </p:cNvCxnSpPr>
          <p:nvPr/>
        </p:nvCxnSpPr>
        <p:spPr>
          <a:xfrm>
            <a:off x="6203852" y="3854906"/>
            <a:ext cx="283660" cy="322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5677227" y="4177637"/>
            <a:ext cx="1620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p-</a:t>
            </a:r>
            <a:r>
              <a:rPr lang="pt-BR" i="1" dirty="0" err="1"/>
              <a:t>value</a:t>
            </a:r>
            <a:r>
              <a:rPr lang="pt-BR" dirty="0"/>
              <a:t> &lt; 0,05. rejeita H0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21025" y="1496506"/>
            <a:ext cx="2393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Criamos as frequências observadas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636385" y="2076394"/>
            <a:ext cx="2393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Criamos as frequências esperadas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001815" y="2814693"/>
            <a:ext cx="2393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Aplicamos o teste de </a:t>
            </a:r>
            <a:r>
              <a:rPr lang="pt-BR" sz="1000" dirty="0" err="1"/>
              <a:t>qui</a:t>
            </a:r>
            <a:r>
              <a:rPr lang="pt-BR" sz="1000" dirty="0"/>
              <a:t>-quadrado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44" y="1590619"/>
            <a:ext cx="5562600" cy="48577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944" y="2087187"/>
            <a:ext cx="4705350" cy="238125"/>
          </a:xfrm>
          <a:prstGeom prst="rect">
            <a:avLst/>
          </a:prstGeom>
        </p:spPr>
      </p:pic>
      <p:cxnSp>
        <p:nvCxnSpPr>
          <p:cNvPr id="17" name="Conector de Seta Reta 16"/>
          <p:cNvCxnSpPr/>
          <p:nvPr/>
        </p:nvCxnSpPr>
        <p:spPr>
          <a:xfrm flipV="1">
            <a:off x="5725551" y="1628582"/>
            <a:ext cx="895474" cy="114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endCxn id="21" idx="1"/>
          </p:cNvCxnSpPr>
          <p:nvPr/>
        </p:nvCxnSpPr>
        <p:spPr>
          <a:xfrm flipV="1">
            <a:off x="4854382" y="2199505"/>
            <a:ext cx="782003" cy="35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74" y="2859740"/>
            <a:ext cx="5026417" cy="268076"/>
          </a:xfrm>
          <a:prstGeom prst="rect">
            <a:avLst/>
          </a:prstGeom>
        </p:spPr>
      </p:pic>
      <p:cxnSp>
        <p:nvCxnSpPr>
          <p:cNvPr id="24" name="Conector de Seta Reta 23"/>
          <p:cNvCxnSpPr>
            <a:endCxn id="25" idx="1"/>
          </p:cNvCxnSpPr>
          <p:nvPr/>
        </p:nvCxnSpPr>
        <p:spPr>
          <a:xfrm flipV="1">
            <a:off x="5190978" y="2937804"/>
            <a:ext cx="810837" cy="89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m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081" y="3512456"/>
            <a:ext cx="6902510" cy="342450"/>
          </a:xfrm>
          <a:prstGeom prst="rect">
            <a:avLst/>
          </a:prstGeom>
        </p:spPr>
      </p:pic>
      <p:cxnSp>
        <p:nvCxnSpPr>
          <p:cNvPr id="23" name="Conector de Seta Reta 22"/>
          <p:cNvCxnSpPr>
            <a:endCxn id="26" idx="0"/>
          </p:cNvCxnSpPr>
          <p:nvPr/>
        </p:nvCxnSpPr>
        <p:spPr>
          <a:xfrm flipH="1">
            <a:off x="2676167" y="3818400"/>
            <a:ext cx="678008" cy="343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1624396" y="4162350"/>
            <a:ext cx="2103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Valor do </a:t>
            </a:r>
            <a:r>
              <a:rPr lang="pt-BR" dirty="0" err="1"/>
              <a:t>Qui</a:t>
            </a:r>
            <a:r>
              <a:rPr lang="pt-BR" dirty="0"/>
              <a:t>-Quadrado</a:t>
            </a:r>
          </a:p>
        </p:txBody>
      </p:sp>
    </p:spTree>
    <p:extLst>
      <p:ext uri="{BB962C8B-B14F-4D97-AF65-F5344CB8AC3E}">
        <p14:creationId xmlns:p14="http://schemas.microsoft.com/office/powerpoint/2010/main" val="1070932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de </a:t>
            </a:r>
            <a:r>
              <a:rPr lang="en-US" sz="3000" b="1" dirty="0" err="1">
                <a:solidFill>
                  <a:schemeClr val="lt1"/>
                </a:solidFill>
              </a:rPr>
              <a:t>homogeneidade</a:t>
            </a:r>
            <a:endParaRPr i="1"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Testes de homogeneidade visam comparar 2 populações quando temos variáveis categóricas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Problema exemplo: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Uma farmacêutica está buscando comparar se os pacientes que estão recebendo tratamento estão melhorando da doença.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cxnSp>
        <p:nvCxnSpPr>
          <p:cNvPr id="6" name="Conector de Seta Reta 5"/>
          <p:cNvCxnSpPr>
            <a:endCxn id="7" idx="1"/>
          </p:cNvCxnSpPr>
          <p:nvPr/>
        </p:nvCxnSpPr>
        <p:spPr>
          <a:xfrm flipV="1">
            <a:off x="5719481" y="4841438"/>
            <a:ext cx="667715" cy="369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6387196" y="4687549"/>
            <a:ext cx="1797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 dos dados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190" y="4203529"/>
            <a:ext cx="2689549" cy="201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90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solidFill>
                      <a:schemeClr val="dk1"/>
                    </a:solidFill>
                  </a:rPr>
                  <a:t>Etapa 1: </a:t>
                </a:r>
                <a:r>
                  <a:rPr lang="pt-BR" sz="1600" dirty="0"/>
                  <a:t>Fixar a hipótese nula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/>
                  <a:t>) e a hipótese alternativa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600" dirty="0"/>
                  <a:t>)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pt-BR" sz="1600" b="1" dirty="0"/>
                  <a:t>: a evolução dos pacientes tratados são iguais aos dos não tratados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pt-BR" sz="1600" b="1" dirty="0"/>
                  <a:t>: a evolução dos pacientes tratados são diferentes aos dos não tratados</a:t>
                </a: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Definir o estimador: </a:t>
                </a:r>
                <a:r>
                  <a:rPr lang="pt-BR" sz="1600" b="1" dirty="0" err="1"/>
                  <a:t>qui</a:t>
                </a:r>
                <a:r>
                  <a:rPr lang="pt-BR" sz="1600" b="1" dirty="0"/>
                  <a:t>-quadrado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Fixar o nível de confiança: </a:t>
                </a:r>
                <a:r>
                  <a:rPr lang="pt-BR" sz="1600" b="1" dirty="0"/>
                  <a:t>95%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Vamos resolver no </a:t>
                </a:r>
                <a:r>
                  <a:rPr lang="pt-BR" sz="1600" i="1" dirty="0">
                    <a:solidFill>
                      <a:srgbClr val="FF0000"/>
                    </a:solidFill>
                  </a:rPr>
                  <a:t>Python</a:t>
                </a:r>
                <a:r>
                  <a:rPr lang="pt-BR" sz="1600" dirty="0"/>
                  <a:t>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3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2929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endParaRPr i="1"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Carregar os dados do problema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Estimar as estatísticas descritivas: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5896715" y="5056305"/>
            <a:ext cx="21963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Tabela cruzada. Podemos observar que nenhuma frequência ficou menor que 10.</a:t>
            </a:r>
          </a:p>
        </p:txBody>
      </p:sp>
      <p:cxnSp>
        <p:nvCxnSpPr>
          <p:cNvPr id="12" name="Conector de Seta Reta 11"/>
          <p:cNvCxnSpPr>
            <a:endCxn id="11" idx="1"/>
          </p:cNvCxnSpPr>
          <p:nvPr/>
        </p:nvCxnSpPr>
        <p:spPr>
          <a:xfrm flipV="1">
            <a:off x="4779768" y="5533359"/>
            <a:ext cx="1116947" cy="29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endCxn id="17" idx="1"/>
          </p:cNvCxnSpPr>
          <p:nvPr/>
        </p:nvCxnSpPr>
        <p:spPr>
          <a:xfrm>
            <a:off x="4061012" y="3760402"/>
            <a:ext cx="558473" cy="433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4619485" y="4070713"/>
            <a:ext cx="27548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Criar tabela de contingência (tabela cruzada)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59" y="2223534"/>
            <a:ext cx="7821329" cy="403778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58" y="3469266"/>
            <a:ext cx="8229587" cy="2650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486" y="4584045"/>
            <a:ext cx="3457030" cy="143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05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Rejeitar ou não rejeitar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/>
                  <a:t>? 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O valor de </a:t>
                </a:r>
                <a:r>
                  <a:rPr lang="pt-BR" sz="1600" b="1" dirty="0"/>
                  <a:t>5,5569</a:t>
                </a:r>
                <a:r>
                  <a:rPr lang="pt-BR" sz="1600" dirty="0"/>
                  <a:t> está dentro da região de rejeição. Deste modo, </a:t>
                </a:r>
                <a:r>
                  <a:rPr lang="pt-BR" sz="1600" b="1" dirty="0"/>
                  <a:t>rejeitamos a hipótese nula</a:t>
                </a:r>
                <a:r>
                  <a:rPr lang="pt-BR" sz="1600" dirty="0"/>
                  <a:t>, ou seja, </a:t>
                </a:r>
                <a:r>
                  <a:rPr lang="pt-BR" sz="1600" b="1" dirty="0"/>
                  <a:t>os pacientes tratados estão melhorando da doença</a:t>
                </a:r>
                <a:r>
                  <a:rPr lang="pt-BR" sz="1600" dirty="0"/>
                  <a:t>.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de Seta Reta 12"/>
          <p:cNvCxnSpPr>
            <a:endCxn id="14" idx="1"/>
          </p:cNvCxnSpPr>
          <p:nvPr/>
        </p:nvCxnSpPr>
        <p:spPr>
          <a:xfrm flipV="1">
            <a:off x="5867959" y="1663606"/>
            <a:ext cx="682859" cy="73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6550818" y="1540495"/>
            <a:ext cx="2393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Aplicamos o teste de </a:t>
            </a:r>
            <a:r>
              <a:rPr lang="pt-BR" sz="1000" dirty="0" err="1"/>
              <a:t>qui</a:t>
            </a:r>
            <a:r>
              <a:rPr lang="pt-BR" sz="1000" dirty="0"/>
              <a:t>-quadrado.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436986" y="1841290"/>
            <a:ext cx="23935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Correção de </a:t>
            </a:r>
            <a:r>
              <a:rPr lang="pt-BR" sz="1000" dirty="0" err="1"/>
              <a:t>Yates</a:t>
            </a:r>
            <a:r>
              <a:rPr lang="pt-BR" sz="1000" dirty="0"/>
              <a:t> não aplicada porque nenhuma frequência ficou menor que 10.</a:t>
            </a:r>
          </a:p>
        </p:txBody>
      </p:sp>
      <p:cxnSp>
        <p:nvCxnSpPr>
          <p:cNvPr id="20" name="Conector de Seta Reta 19"/>
          <p:cNvCxnSpPr>
            <a:endCxn id="21" idx="1"/>
          </p:cNvCxnSpPr>
          <p:nvPr/>
        </p:nvCxnSpPr>
        <p:spPr>
          <a:xfrm flipV="1">
            <a:off x="5226527" y="3966676"/>
            <a:ext cx="792068" cy="245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6018595" y="3705066"/>
            <a:ext cx="1620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p-</a:t>
            </a:r>
            <a:r>
              <a:rPr lang="pt-BR" i="1" dirty="0" err="1"/>
              <a:t>value</a:t>
            </a:r>
            <a:r>
              <a:rPr lang="pt-BR" dirty="0"/>
              <a:t> &lt; 0,05. rejeita H0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4" y="1626117"/>
            <a:ext cx="5534585" cy="322403"/>
          </a:xfrm>
          <a:prstGeom prst="rect">
            <a:avLst/>
          </a:prstGeom>
        </p:spPr>
      </p:pic>
      <p:cxnSp>
        <p:nvCxnSpPr>
          <p:cNvPr id="17" name="Conector de Seta Reta 16"/>
          <p:cNvCxnSpPr>
            <a:endCxn id="18" idx="1"/>
          </p:cNvCxnSpPr>
          <p:nvPr/>
        </p:nvCxnSpPr>
        <p:spPr>
          <a:xfrm>
            <a:off x="5627077" y="1892398"/>
            <a:ext cx="809909" cy="225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88" y="3590258"/>
            <a:ext cx="4370367" cy="890260"/>
          </a:xfrm>
          <a:prstGeom prst="rect">
            <a:avLst/>
          </a:prstGeom>
        </p:spPr>
      </p:pic>
      <p:sp>
        <p:nvSpPr>
          <p:cNvPr id="19" name="CaixaDeTexto 18"/>
          <p:cNvSpPr txBox="1"/>
          <p:nvPr/>
        </p:nvSpPr>
        <p:spPr>
          <a:xfrm>
            <a:off x="325137" y="2060364"/>
            <a:ext cx="5240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chi: estatística </a:t>
            </a:r>
            <a:r>
              <a:rPr lang="pt-BR" dirty="0" err="1"/>
              <a:t>Qui</a:t>
            </a:r>
            <a:r>
              <a:rPr lang="pt-BR" dirty="0"/>
              <a:t>-Quadrado</a:t>
            </a:r>
          </a:p>
          <a:p>
            <a:r>
              <a:rPr lang="pt-BR" dirty="0"/>
              <a:t>p: p-</a:t>
            </a:r>
            <a:r>
              <a:rPr lang="pt-BR" dirty="0" err="1"/>
              <a:t>value</a:t>
            </a:r>
            <a:endParaRPr lang="pt-BR" dirty="0"/>
          </a:p>
          <a:p>
            <a:r>
              <a:rPr lang="pt-BR" dirty="0" err="1"/>
              <a:t>gl</a:t>
            </a:r>
            <a:r>
              <a:rPr lang="pt-BR" dirty="0"/>
              <a:t>: grau de liberdade</a:t>
            </a:r>
          </a:p>
          <a:p>
            <a:r>
              <a:rPr lang="pt-BR" dirty="0" err="1"/>
              <a:t>t_esp</a:t>
            </a:r>
            <a:r>
              <a:rPr lang="pt-BR" dirty="0"/>
              <a:t> = frequências esperadas</a:t>
            </a:r>
          </a:p>
        </p:txBody>
      </p:sp>
    </p:spTree>
    <p:extLst>
      <p:ext uri="{BB962C8B-B14F-4D97-AF65-F5344CB8AC3E}">
        <p14:creationId xmlns:p14="http://schemas.microsoft.com/office/powerpoint/2010/main" val="1345746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Testes de independência visam verificar a existência de associação entre 2 variáveis categóricas: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600" dirty="0">
                <a:solidFill>
                  <a:schemeClr val="dk1"/>
                </a:solidFill>
              </a:rPr>
              <a:t>Problema exemplo: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6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600" dirty="0">
                <a:solidFill>
                  <a:schemeClr val="dk1"/>
                </a:solidFill>
              </a:rPr>
              <a:t>Existe associação entre Saúde Financeira e Responsabilidade Social nas empresas? Vejamos os dados da tabela: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cxnSp>
        <p:nvCxnSpPr>
          <p:cNvPr id="6" name="Conector de Seta Reta 5"/>
          <p:cNvCxnSpPr>
            <a:endCxn id="7" idx="1"/>
          </p:cNvCxnSpPr>
          <p:nvPr/>
        </p:nvCxnSpPr>
        <p:spPr>
          <a:xfrm flipV="1">
            <a:off x="6159592" y="4644215"/>
            <a:ext cx="667715" cy="369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6827307" y="4490326"/>
            <a:ext cx="1797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 dos dados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366" y="4141790"/>
            <a:ext cx="4032226" cy="198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24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endParaRPr i="1"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Carregar os dados do problema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Estimar as estatísticas descritivas: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5344826" y="4421537"/>
            <a:ext cx="21963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Tabela cruzada. Podemos observar que nenhuma frequência ficou menor que 10.</a:t>
            </a:r>
          </a:p>
        </p:txBody>
      </p:sp>
      <p:cxnSp>
        <p:nvCxnSpPr>
          <p:cNvPr id="12" name="Conector de Seta Reta 11"/>
          <p:cNvCxnSpPr>
            <a:endCxn id="11" idx="1"/>
          </p:cNvCxnSpPr>
          <p:nvPr/>
        </p:nvCxnSpPr>
        <p:spPr>
          <a:xfrm flipV="1">
            <a:off x="4227879" y="4898591"/>
            <a:ext cx="1116947" cy="4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27" y="2155575"/>
            <a:ext cx="8135528" cy="34847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920" y="3637524"/>
            <a:ext cx="2598200" cy="205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75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solidFill>
                      <a:schemeClr val="dk1"/>
                    </a:solidFill>
                  </a:rPr>
                  <a:t>Etapa 1: </a:t>
                </a:r>
                <a:r>
                  <a:rPr lang="pt-BR" sz="1600" dirty="0"/>
                  <a:t>Fixar a hipótese nula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/>
                  <a:t>) e a hipótese alternativa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600" dirty="0"/>
                  <a:t>)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pt-BR" sz="1600" b="1" dirty="0"/>
                  <a:t>: não Existe associação entre Saúde Financeira e Resp. Social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pt-BR" sz="1600" b="1" dirty="0"/>
                  <a:t>: Existe associação entre Saúde Financeira e Resp. Social</a:t>
                </a: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Definir o estimador: </a:t>
                </a:r>
                <a:r>
                  <a:rPr lang="pt-BR" sz="1600" b="1" dirty="0" err="1"/>
                  <a:t>qui</a:t>
                </a:r>
                <a:r>
                  <a:rPr lang="pt-BR" sz="1600" b="1" dirty="0"/>
                  <a:t>-quadrado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Fixar o nível de confiança: </a:t>
                </a:r>
                <a:r>
                  <a:rPr lang="pt-BR" sz="1600" b="1" dirty="0"/>
                  <a:t>95%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Vamos analisar no </a:t>
                </a:r>
                <a:r>
                  <a:rPr lang="pt-BR" sz="1600" i="1" dirty="0">
                    <a:solidFill>
                      <a:srgbClr val="FF0000"/>
                    </a:solidFill>
                  </a:rPr>
                  <a:t>Python</a:t>
                </a:r>
                <a:r>
                  <a:rPr lang="pt-BR" sz="1600" dirty="0"/>
                  <a:t>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3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66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Rejeitar ou não rejeitar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/>
                  <a:t>? 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O valor de </a:t>
                </a:r>
                <a:r>
                  <a:rPr lang="pt-BR" sz="1600" b="1" dirty="0"/>
                  <a:t>5,244 NÃO</a:t>
                </a:r>
                <a:r>
                  <a:rPr lang="pt-BR" sz="1600" dirty="0"/>
                  <a:t> está dentro da região de rejeição. Deste modo, </a:t>
                </a:r>
                <a:r>
                  <a:rPr lang="pt-BR" sz="1600" b="1" dirty="0"/>
                  <a:t>não</a:t>
                </a:r>
                <a:r>
                  <a:rPr lang="pt-BR" sz="1600" dirty="0"/>
                  <a:t> </a:t>
                </a:r>
                <a:r>
                  <a:rPr lang="pt-BR" sz="1600" b="1" dirty="0"/>
                  <a:t>rejeitamos a hipótese nula</a:t>
                </a:r>
                <a:r>
                  <a:rPr lang="pt-BR" sz="1600" dirty="0"/>
                  <a:t>, ou seja, </a:t>
                </a:r>
                <a:r>
                  <a:rPr lang="pt-BR" sz="1600" b="1" dirty="0"/>
                  <a:t>não existe associação entre Saúde Financeira e Responsabilidade Social</a:t>
                </a:r>
                <a:r>
                  <a:rPr lang="pt-BR" sz="1600" dirty="0"/>
                  <a:t>.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b="-24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ixaDeTexto 13"/>
          <p:cNvSpPr txBox="1"/>
          <p:nvPr/>
        </p:nvSpPr>
        <p:spPr>
          <a:xfrm>
            <a:off x="7881666" y="1393764"/>
            <a:ext cx="1258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Aplicamos o teste </a:t>
            </a:r>
          </a:p>
          <a:p>
            <a:r>
              <a:rPr lang="pt-BR" sz="1000" dirty="0"/>
              <a:t>de </a:t>
            </a:r>
            <a:r>
              <a:rPr lang="pt-BR" sz="1000" dirty="0" err="1"/>
              <a:t>qui</a:t>
            </a:r>
            <a:r>
              <a:rPr lang="pt-BR" sz="1000" dirty="0"/>
              <a:t>-quadrado.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84877" y="1917137"/>
            <a:ext cx="23935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Correção de </a:t>
            </a:r>
            <a:r>
              <a:rPr lang="pt-BR" sz="1000" dirty="0" err="1"/>
              <a:t>Yates</a:t>
            </a:r>
            <a:r>
              <a:rPr lang="pt-BR" sz="1000" dirty="0"/>
              <a:t> não aplicada porque nenhuma frequência ficou menor que 10.</a:t>
            </a:r>
          </a:p>
        </p:txBody>
      </p:sp>
      <p:cxnSp>
        <p:nvCxnSpPr>
          <p:cNvPr id="17" name="Conector de Seta Reta 16"/>
          <p:cNvCxnSpPr>
            <a:endCxn id="18" idx="1"/>
          </p:cNvCxnSpPr>
          <p:nvPr/>
        </p:nvCxnSpPr>
        <p:spPr>
          <a:xfrm>
            <a:off x="6260123" y="1891163"/>
            <a:ext cx="424754" cy="302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endCxn id="14" idx="1"/>
          </p:cNvCxnSpPr>
          <p:nvPr/>
        </p:nvCxnSpPr>
        <p:spPr>
          <a:xfrm flipV="1">
            <a:off x="7339069" y="1593819"/>
            <a:ext cx="542597" cy="46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endCxn id="21" idx="1"/>
          </p:cNvCxnSpPr>
          <p:nvPr/>
        </p:nvCxnSpPr>
        <p:spPr>
          <a:xfrm flipV="1">
            <a:off x="5399329" y="4012883"/>
            <a:ext cx="475263" cy="2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5874592" y="3751273"/>
            <a:ext cx="1620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p-</a:t>
            </a:r>
            <a:r>
              <a:rPr lang="pt-BR" i="1" dirty="0" err="1"/>
              <a:t>value</a:t>
            </a:r>
            <a:r>
              <a:rPr lang="pt-BR" dirty="0"/>
              <a:t> &gt; 0,05. não rejeita H0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" y="1503145"/>
            <a:ext cx="6934910" cy="354239"/>
          </a:xfrm>
          <a:prstGeom prst="rect">
            <a:avLst/>
          </a:prstGeom>
        </p:spPr>
      </p:pic>
      <p:sp>
        <p:nvSpPr>
          <p:cNvPr id="19" name="CaixaDeTexto 18"/>
          <p:cNvSpPr txBox="1"/>
          <p:nvPr/>
        </p:nvSpPr>
        <p:spPr>
          <a:xfrm>
            <a:off x="325137" y="2060364"/>
            <a:ext cx="5240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chi: estatística </a:t>
            </a:r>
            <a:r>
              <a:rPr lang="pt-BR" dirty="0" err="1"/>
              <a:t>Qui</a:t>
            </a:r>
            <a:r>
              <a:rPr lang="pt-BR" dirty="0"/>
              <a:t>-Quadrado</a:t>
            </a:r>
          </a:p>
          <a:p>
            <a:r>
              <a:rPr lang="pt-BR" dirty="0"/>
              <a:t>p: p-</a:t>
            </a:r>
            <a:r>
              <a:rPr lang="pt-BR" dirty="0" err="1"/>
              <a:t>value</a:t>
            </a:r>
            <a:endParaRPr lang="pt-BR" dirty="0"/>
          </a:p>
          <a:p>
            <a:r>
              <a:rPr lang="pt-BR" dirty="0" err="1"/>
              <a:t>gl</a:t>
            </a:r>
            <a:r>
              <a:rPr lang="pt-BR" dirty="0"/>
              <a:t>: grau de liberdade</a:t>
            </a:r>
          </a:p>
          <a:p>
            <a:r>
              <a:rPr lang="pt-BR" dirty="0" err="1"/>
              <a:t>t_esp</a:t>
            </a:r>
            <a:r>
              <a:rPr lang="pt-BR" dirty="0"/>
              <a:t> = frequências esperadas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791" y="3273932"/>
            <a:ext cx="5039221" cy="94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22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Onde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estudar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mais</a:t>
            </a:r>
            <a:r>
              <a:rPr lang="en-US" sz="3000" b="1" dirty="0">
                <a:solidFill>
                  <a:schemeClr val="lt1"/>
                </a:solidFill>
              </a:rPr>
              <a:t>!!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3853984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000" dirty="0"/>
              <a:t>Leitura</a:t>
            </a: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1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29210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hape 413"/>
          <p:cNvSpPr/>
          <p:nvPr/>
        </p:nvSpPr>
        <p:spPr>
          <a:xfrm>
            <a:off x="4859713" y="1393397"/>
            <a:ext cx="3853984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000" dirty="0"/>
              <a:t>Vídeos</a:t>
            </a: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100" dirty="0"/>
              <a:t>Distribuição </a:t>
            </a:r>
            <a:r>
              <a:rPr lang="pt-BR" sz="1100" dirty="0" err="1"/>
              <a:t>Qui</a:t>
            </a:r>
            <a:r>
              <a:rPr lang="pt-BR" sz="1100" dirty="0"/>
              <a:t>-Quadrado: </a:t>
            </a:r>
            <a:r>
              <a:rPr lang="pt-BR" sz="1100" dirty="0">
                <a:hlinkClick r:id="rId3"/>
              </a:rPr>
              <a:t>https://pt.khanacademy.org/math/statistics-probability/inference-categorical-data-chi-square-tests/chi-square-goodness-of-fit-tests/v/chi-square-distribution-introduction</a:t>
            </a:r>
            <a:endParaRPr lang="pt-BR" sz="1100" dirty="0"/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1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100" dirty="0"/>
              <a:t>Teste </a:t>
            </a:r>
            <a:r>
              <a:rPr lang="pt-BR" sz="1100" dirty="0" err="1"/>
              <a:t>Qui</a:t>
            </a:r>
            <a:r>
              <a:rPr lang="pt-BR" sz="1100" dirty="0"/>
              <a:t>-Quadrado: </a:t>
            </a:r>
            <a:r>
              <a:rPr lang="pt-BR" sz="1100" dirty="0">
                <a:hlinkClick r:id="rId4"/>
              </a:rPr>
              <a:t>https://pt.khanacademy.org/math/statistics-probability/inference-categorical-data-chi-square-tests/chi-square-goodness-of-fit-tests/v/pearson-s-chi-square-test-goodness-of-fit</a:t>
            </a:r>
            <a:endParaRPr lang="pt-BR" sz="1100" dirty="0"/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100" dirty="0"/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100" dirty="0"/>
              <a:t>Teste </a:t>
            </a:r>
            <a:r>
              <a:rPr lang="pt-BR" sz="1100" dirty="0" err="1"/>
              <a:t>Qui</a:t>
            </a:r>
            <a:r>
              <a:rPr lang="pt-BR" sz="1100" dirty="0"/>
              <a:t>-Quadrado para tabelas cruzadas: </a:t>
            </a:r>
            <a:r>
              <a:rPr lang="pt-BR" sz="1100" dirty="0">
                <a:hlinkClick r:id="rId5"/>
              </a:rPr>
              <a:t>https://pt.khanacademy.org/math/statistics-probability/inference-categorical-data-chi-square-tests/chi-square-tests-for-homogeneity-and-association-independence/v/contingency-table-chi-square-test</a:t>
            </a:r>
            <a:endParaRPr lang="pt-BR" sz="1100" dirty="0"/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100" i="1" dirty="0"/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100" i="1" dirty="0">
                <a:hlinkClick r:id="rId6"/>
              </a:rPr>
              <a:t>https://machinelearningmastery.com/chi-squared-test-for-machine-learning/</a:t>
            </a:r>
            <a:endParaRPr lang="pt-BR" sz="1100" i="1" dirty="0"/>
          </a:p>
          <a:p>
            <a:pPr marL="50800">
              <a:lnSpc>
                <a:spcPct val="115000"/>
              </a:lnSpc>
              <a:buSzPts val="2800"/>
            </a:pPr>
            <a:endParaRPr lang="pt-BR" sz="1100" i="1" dirty="0"/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1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29210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2F0F96-8D81-4124-BED7-00DC4FEF1C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282" y="2177473"/>
            <a:ext cx="2441248" cy="316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2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Shape 4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Shape 455"/>
          <p:cNvPicPr preferRelativeResize="0"/>
          <p:nvPr/>
        </p:nvPicPr>
        <p:blipFill rotWithShape="1">
          <a:blip r:embed="rId4">
            <a:alphaModFix/>
          </a:blip>
          <a:srcRect l="14" r="14"/>
          <a:stretch/>
        </p:blipFill>
        <p:spPr>
          <a:xfrm>
            <a:off x="215412" y="642938"/>
            <a:ext cx="8440615" cy="5716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6483</TotalTime>
  <Words>952</Words>
  <Application>Microsoft Office PowerPoint</Application>
  <PresentationFormat>Apresentação na tela (4:3)</PresentationFormat>
  <Paragraphs>301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Cambria Math</vt:lpstr>
      <vt:lpstr>Montserrat</vt:lpstr>
      <vt:lpstr>Calibri</vt:lpstr>
      <vt:lpstr>Office Theme</vt:lpstr>
      <vt:lpstr>5_Personalizar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Alcides Carlos de Araújo</cp:lastModifiedBy>
  <cp:revision>456</cp:revision>
  <dcterms:modified xsi:type="dcterms:W3CDTF">2022-07-27T02:23:38Z</dcterms:modified>
</cp:coreProperties>
</file>