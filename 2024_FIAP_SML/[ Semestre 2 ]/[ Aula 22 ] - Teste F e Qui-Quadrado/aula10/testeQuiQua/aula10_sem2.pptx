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  <p:sldMasterId id="2147483664" r:id="rId2"/>
  </p:sldMasterIdLst>
  <p:notesMasterIdLst>
    <p:notesMasterId r:id="rId30"/>
  </p:notesMasterIdLst>
  <p:sldIdLst>
    <p:sldId id="256" r:id="rId3"/>
    <p:sldId id="257" r:id="rId4"/>
    <p:sldId id="285" r:id="rId5"/>
    <p:sldId id="414" r:id="rId6"/>
    <p:sldId id="300" r:id="rId7"/>
    <p:sldId id="348" r:id="rId8"/>
    <p:sldId id="434" r:id="rId9"/>
    <p:sldId id="416" r:id="rId10"/>
    <p:sldId id="379" r:id="rId11"/>
    <p:sldId id="435" r:id="rId12"/>
    <p:sldId id="436" r:id="rId13"/>
    <p:sldId id="389" r:id="rId14"/>
    <p:sldId id="442" r:id="rId15"/>
    <p:sldId id="443" r:id="rId16"/>
    <p:sldId id="450" r:id="rId17"/>
    <p:sldId id="437" r:id="rId18"/>
    <p:sldId id="451" r:id="rId19"/>
    <p:sldId id="452" r:id="rId20"/>
    <p:sldId id="438" r:id="rId21"/>
    <p:sldId id="453" r:id="rId22"/>
    <p:sldId id="454" r:id="rId23"/>
    <p:sldId id="449" r:id="rId24"/>
    <p:sldId id="441" r:id="rId25"/>
    <p:sldId id="455" r:id="rId26"/>
    <p:sldId id="456" r:id="rId27"/>
    <p:sldId id="343" r:id="rId28"/>
    <p:sldId id="307" r:id="rId29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31"/>
      <p:bold r:id="rId32"/>
      <p:italic r:id="rId33"/>
      <p:boldItalic r:id="rId34"/>
    </p:embeddedFont>
    <p:embeddedFont>
      <p:font typeface="Cambria Math" panose="02040503050406030204" pitchFamily="18" charset="0"/>
      <p:regular r:id="rId35"/>
    </p:embeddedFont>
    <p:embeddedFont>
      <p:font typeface="Montserrat" panose="00000500000000000000" pitchFamily="2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388E95B-7D3C-4000-9396-C2E5DE68CFB0}">
  <a:tblStyle styleId="{B388E95B-7D3C-4000-9396-C2E5DE68CFB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63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92" autoAdjust="0"/>
    <p:restoredTop sz="92875" autoAdjust="0"/>
  </p:normalViewPr>
  <p:slideViewPr>
    <p:cSldViewPr snapToGrid="0">
      <p:cViewPr varScale="1">
        <p:scale>
          <a:sx n="64" d="100"/>
          <a:sy n="64" d="100"/>
        </p:scale>
        <p:origin x="154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9.fntdata"/><Relationship Id="rId21" Type="http://schemas.openxmlformats.org/officeDocument/2006/relationships/slide" Target="slides/slide19.xml"/><Relationship Id="rId34" Type="http://schemas.openxmlformats.org/officeDocument/2006/relationships/font" Target="fonts/font4.fntdata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6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3.fntdata"/><Relationship Id="rId3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10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" name="Shape 10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9" name="Shape 10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hape 30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Shape 30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28859667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tabLst/>
              <a:defRPr/>
            </a:pPr>
            <a:endParaRPr lang="pt-BR"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40202984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22947274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tabLst/>
              <a:defRPr/>
            </a:pPr>
            <a:endParaRPr lang="pt-BR"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39264916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22905753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26607984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31750039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40922185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10309917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5933588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38424006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7910376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36250277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29733854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39962329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26297353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268067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11502388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19947496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2907351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pt-BR" sz="1100" b="0" i="0" u="none" strike="noStrike" cap="none" baseline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295457637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1008078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Shape 4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Shape 45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las">
  <p:cSld name="Telas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med"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ads Escuro MBA">
  <p:cSld name="Quads Escuro MBA">
    <p:bg>
      <p:bgPr>
        <a:blipFill rotWithShape="1"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Shape 20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 txBox="1"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body" idx="2"/>
          </p:nvPr>
        </p:nvSpPr>
        <p:spPr>
          <a:xfrm>
            <a:off x="4648200" y="1600202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9" name="Shape 4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Shape 5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Shape 51"/>
          <p:cNvSpPr txBox="1">
            <a:spLocks noGrp="1"/>
          </p:cNvSpPr>
          <p:nvPr>
            <p:ph type="body" idx="3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body" idx="4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Shape 53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Shape 54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Shape 55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Shape 59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3" name="Shape 63"/>
          <p:cNvSpPr txBox="1">
            <a:spLocks noGrp="1"/>
          </p:cNvSpPr>
          <p:nvPr>
            <p:ph type="body" idx="1"/>
          </p:nvPr>
        </p:nvSpPr>
        <p:spPr>
          <a:xfrm>
            <a:off x="3575051" y="273052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Shape 64"/>
          <p:cNvSpPr txBox="1">
            <a:spLocks noGrp="1"/>
          </p:cNvSpPr>
          <p:nvPr>
            <p:ph type="body" idx="2"/>
          </p:nvPr>
        </p:nvSpPr>
        <p:spPr>
          <a:xfrm>
            <a:off x="457200" y="1435102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" name="Shape 65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Shape 66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Shape 67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0" name="Shape 7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Shape 7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Shape 72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Shape 73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Shape 74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7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7" name="Shape 77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7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8" name="Shape 78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Shape 8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 txBox="1">
            <a:spLocks noGrp="1"/>
          </p:cNvSpPr>
          <p:nvPr>
            <p:ph type="title"/>
          </p:nvPr>
        </p:nvSpPr>
        <p:spPr>
          <a:xfrm rot="5400000">
            <a:off x="4732337" y="2171703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3" name="Shape 8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3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Shape 84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Shape 85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Shape 86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udo_D">
  <p:cSld name="Conteudo_D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Shape 8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Shape 89"/>
          <p:cNvSpPr txBox="1">
            <a:spLocks noGrp="1"/>
          </p:cNvSpPr>
          <p:nvPr>
            <p:ph type="body" idx="1"/>
          </p:nvPr>
        </p:nvSpPr>
        <p:spPr>
          <a:xfrm>
            <a:off x="251521" y="908720"/>
            <a:ext cx="7632848" cy="5328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0" name="Shape 9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91" name="Shape 91"/>
          <p:cNvSpPr txBox="1">
            <a:spLocks noGrp="1"/>
          </p:cNvSpPr>
          <p:nvPr>
            <p:ph type="body" idx="2"/>
          </p:nvPr>
        </p:nvSpPr>
        <p:spPr>
          <a:xfrm>
            <a:off x="251521" y="44626"/>
            <a:ext cx="7704534" cy="575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Slide de título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/>
        </p:nvSpPr>
        <p:spPr>
          <a:xfrm>
            <a:off x="0" y="4904650"/>
            <a:ext cx="9144300" cy="141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Shape 13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Shape 14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/>
            </a:lvl2pPr>
            <a:lvl3pPr marL="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/>
            </a:lvl3pPr>
            <a:lvl4pPr marL="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/>
            </a:lvl4pPr>
            <a:lvl5pPr marL="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/>
            </a:lvl5pPr>
            <a:lvl6pPr marL="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/>
            </a:lvl6pPr>
            <a:lvl7pPr marL="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/>
            </a:lvl7pPr>
            <a:lvl8pPr marL="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/>
            </a:lvl8pPr>
            <a:lvl9pPr marL="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4" name="Shape 9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175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" name="Shape 9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" name="Shape 9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7" name="Shape 9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pic>
        <p:nvPicPr>
          <p:cNvPr id="98" name="Shape 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Shape 99"/>
          <p:cNvSpPr/>
          <p:nvPr/>
        </p:nvSpPr>
        <p:spPr>
          <a:xfrm>
            <a:off x="0" y="4904650"/>
            <a:ext cx="9144300" cy="141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8.png"/><Relationship Id="rId4" Type="http://schemas.openxmlformats.org/officeDocument/2006/relationships/hyperlink" Target="https://www.kirinholdings.co.jp/english/news/2019/1003_01.html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8.png"/><Relationship Id="rId4" Type="http://schemas.openxmlformats.org/officeDocument/2006/relationships/hyperlink" Target="https://www.kirinholdings.co.jp/english/news/2019/1003_01.html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pt.khanacademy.org/math/statistics-probability/inference-categorical-data-chi-square-tests/chi-square-goodness-of-fit-tests/v/chi-square-distribution-introduction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3.png"/><Relationship Id="rId5" Type="http://schemas.openxmlformats.org/officeDocument/2006/relationships/hyperlink" Target="https://pt.khanacademy.org/math/statistics-probability/inference-categorical-data-chi-square-tests/chi-square-tests-for-homogeneity-and-association-independence/v/contingency-table-chi-square-test" TargetMode="External"/><Relationship Id="rId4" Type="http://schemas.openxmlformats.org/officeDocument/2006/relationships/hyperlink" Target="https://pt.khanacademy.org/math/statistics-probability/inference-categorical-data-chi-square-tests/chi-square-goodness-of-fit-tests/v/pearson-s-chi-square-test-goodness-of-fit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Shape 106" descr="FIAP-NOVO-2014-MAGENT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83125" y="2901164"/>
            <a:ext cx="3604019" cy="1051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54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Shape 111" descr="0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2120" y="972084"/>
            <a:ext cx="8391764" cy="475598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Shape 112"/>
          <p:cNvSpPr txBox="1"/>
          <p:nvPr/>
        </p:nvSpPr>
        <p:spPr>
          <a:xfrm>
            <a:off x="2095881" y="2636889"/>
            <a:ext cx="4724242" cy="1217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AULA 12</a:t>
            </a:r>
            <a:endParaRPr dirty="0"/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Shape 306"/>
          <p:cNvPicPr preferRelativeResize="0"/>
          <p:nvPr/>
        </p:nvPicPr>
        <p:blipFill rotWithShape="1">
          <a:blip r:embed="rId3">
            <a:alphaModFix/>
          </a:blip>
          <a:srcRect l="20898" r="22582"/>
          <a:stretch/>
        </p:blipFill>
        <p:spPr>
          <a:xfrm>
            <a:off x="0" y="3376031"/>
            <a:ext cx="9155651" cy="278985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Shape 307"/>
          <p:cNvSpPr txBox="1"/>
          <p:nvPr/>
        </p:nvSpPr>
        <p:spPr>
          <a:xfrm>
            <a:off x="578249" y="4047077"/>
            <a:ext cx="7999382" cy="397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2200" dirty="0">
                <a:solidFill>
                  <a:srgbClr val="FFFFFF"/>
                </a:solidFill>
              </a:rPr>
              <a:t>Data Analysis Fundamentals</a:t>
            </a:r>
          </a:p>
        </p:txBody>
      </p:sp>
      <p:sp>
        <p:nvSpPr>
          <p:cNvPr id="308" name="Shape 308"/>
          <p:cNvSpPr txBox="1"/>
          <p:nvPr/>
        </p:nvSpPr>
        <p:spPr>
          <a:xfrm>
            <a:off x="578249" y="5061038"/>
            <a:ext cx="7084983" cy="34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Alcides C. Araújo</a:t>
            </a:r>
            <a:endParaRPr sz="18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9" name="Shape 309"/>
          <p:cNvSpPr txBox="1"/>
          <p:nvPr/>
        </p:nvSpPr>
        <p:spPr>
          <a:xfrm>
            <a:off x="919775" y="1373555"/>
            <a:ext cx="7085100" cy="12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BR" sz="1800" dirty="0">
                <a:solidFill>
                  <a:srgbClr val="FFFF00"/>
                </a:solidFill>
              </a:rPr>
              <a:t>"Capacitar o aluno no entendimento de conceitos básicos de estatística e análise de dados.“</a:t>
            </a:r>
          </a:p>
          <a:p>
            <a:endParaRPr lang="pt-BR" sz="1800" dirty="0">
              <a:solidFill>
                <a:srgbClr val="FFFF00"/>
              </a:solidFill>
            </a:endParaRPr>
          </a:p>
          <a:p>
            <a:r>
              <a:rPr lang="pt-BR" sz="1800" dirty="0">
                <a:solidFill>
                  <a:srgbClr val="FFFF00"/>
                </a:solidFill>
              </a:rPr>
              <a:t>"Preparar os alunos para entender e desempenhar conceitos futuros relacionados a Análise Exploratória de Dados e </a:t>
            </a:r>
            <a:r>
              <a:rPr lang="pt-BR" sz="1800" dirty="0" err="1">
                <a:solidFill>
                  <a:srgbClr val="FFFF00"/>
                </a:solidFill>
              </a:rPr>
              <a:t>Machine</a:t>
            </a:r>
            <a:r>
              <a:rPr lang="pt-BR" sz="1800" dirty="0">
                <a:solidFill>
                  <a:srgbClr val="FFFF00"/>
                </a:solidFill>
              </a:rPr>
              <a:t> Learning"</a:t>
            </a:r>
            <a:endParaRPr sz="1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Arial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Problema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13" name="Shape 413"/>
          <p:cNvSpPr/>
          <p:nvPr/>
        </p:nvSpPr>
        <p:spPr>
          <a:xfrm>
            <a:off x="395288" y="1484312"/>
            <a:ext cx="3325065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endParaRPr lang="pt-BR" altLang="pt-BR" sz="1600" dirty="0">
              <a:latin typeface="Arial" panose="020B0604020202020204" pitchFamily="34" charset="0"/>
            </a:endParaRP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r>
              <a:rPr lang="pt-BR" altLang="pt-BR" sz="1600" noProof="0" dirty="0">
                <a:latin typeface="Arial" panose="020B0604020202020204" pitchFamily="34" charset="0"/>
              </a:rPr>
              <a:t>A cerveja é a bebida alcoólica mais consumida no mundo.</a:t>
            </a: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endParaRPr kumimoji="0" lang="pt-BR" altLang="pt-BR" sz="1600" b="0" i="0" u="none" strike="noStrike" kern="0" cap="none" spc="0" normalizeH="0" baseline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r>
              <a:rPr lang="pt-BR" altLang="pt-BR" sz="1600" dirty="0">
                <a:latin typeface="Arial" panose="020B0604020202020204" pitchFamily="34" charset="0"/>
              </a:rPr>
              <a:t>Em 2018, o Brasil esteve entre os 3 principais países produtores de cerveja do mundo</a:t>
            </a:r>
            <a:r>
              <a:rPr lang="pt-BR" altLang="pt-BR" sz="1600" noProof="0" dirty="0">
                <a:latin typeface="Arial" panose="020B0604020202020204" pitchFamily="34" charset="0"/>
              </a:rPr>
              <a:t>.</a:t>
            </a:r>
            <a:endParaRPr kumimoji="0" lang="pt-BR" altLang="pt-B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endParaRPr kumimoji="0" lang="pt-BR" altLang="pt-B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endParaRPr kumimoji="0" lang="pt-BR" altLang="pt-B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endParaRPr kumimoji="0" lang="pt-BR" altLang="pt-B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endParaRPr kumimoji="0" lang="pt-BR" altLang="pt-B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endParaRPr kumimoji="0" lang="pt-BR" altLang="pt-B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endParaRPr kumimoji="0" lang="pt-BR" altLang="pt-B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endParaRPr kumimoji="0" lang="pt-BR" altLang="pt-B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pPr marL="508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tabLst/>
              <a:defRPr/>
            </a:pPr>
            <a:endParaRPr kumimoji="0" lang="pt-BR" altLang="pt-B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endParaRPr kumimoji="0" lang="pt-BR" altLang="pt-B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1111624" y="4625417"/>
            <a:ext cx="3980329" cy="13849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Qual o tipo de cerveja preferida dos homens</a:t>
            </a:r>
            <a:r>
              <a:rPr kumimoji="0" lang="pt-BR" sz="2800" b="1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e das mulheres?</a:t>
            </a:r>
            <a:endParaRPr kumimoji="0" lang="pt-BR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074" name="Picture 2" descr="Resultado de imagem para mercado de cerveja no brasil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76"/>
          <a:stretch/>
        </p:blipFill>
        <p:spPr bwMode="auto">
          <a:xfrm>
            <a:off x="5353026" y="4701564"/>
            <a:ext cx="2473172" cy="1308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/>
          <p:cNvSpPr txBox="1"/>
          <p:nvPr/>
        </p:nvSpPr>
        <p:spPr>
          <a:xfrm>
            <a:off x="-53790" y="6091097"/>
            <a:ext cx="74496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 err="1"/>
              <a:t>Fonte:</a:t>
            </a:r>
            <a:r>
              <a:rPr lang="pt-BR" sz="1000" dirty="0" err="1">
                <a:hlinkClick r:id="rId4"/>
              </a:rPr>
              <a:t>https</a:t>
            </a:r>
            <a:r>
              <a:rPr lang="pt-BR" sz="1000" dirty="0">
                <a:hlinkClick r:id="rId4"/>
              </a:rPr>
              <a:t>://www.kirinholdings.co.jp/english/news/2019/1003_01.html</a:t>
            </a:r>
            <a:endParaRPr lang="pt-BR" sz="1000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3788" y="1712819"/>
            <a:ext cx="5098956" cy="2159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234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Conceitos</a:t>
            </a:r>
            <a:r>
              <a:rPr lang="en-US" sz="3000" b="1" dirty="0">
                <a:solidFill>
                  <a:schemeClr val="lt1"/>
                </a:solidFill>
              </a:rPr>
              <a:t> </a:t>
            </a:r>
            <a:r>
              <a:rPr lang="en-US" sz="3000" b="1" dirty="0" err="1">
                <a:solidFill>
                  <a:schemeClr val="lt1"/>
                </a:solidFill>
              </a:rPr>
              <a:t>iniciais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altLang="pt-BR" sz="2800" dirty="0">
                <a:latin typeface="Arial" panose="020B0604020202020204" pitchFamily="34" charset="0"/>
              </a:rPr>
              <a:t>Teste </a:t>
            </a:r>
            <a:r>
              <a:rPr lang="pt-BR" altLang="pt-BR" sz="2800" dirty="0" err="1">
                <a:latin typeface="Arial" panose="020B0604020202020204" pitchFamily="34" charset="0"/>
              </a:rPr>
              <a:t>Qui</a:t>
            </a:r>
            <a:r>
              <a:rPr lang="pt-BR" altLang="pt-BR" sz="2800" dirty="0">
                <a:latin typeface="Arial" panose="020B0604020202020204" pitchFamily="34" charset="0"/>
              </a:rPr>
              <a:t>-Quadrado</a:t>
            </a: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>
              <a:latin typeface="Arial" panose="020B0604020202020204" pitchFamily="34" charset="0"/>
            </a:endParaRPr>
          </a:p>
        </p:txBody>
      </p:sp>
      <p:pic>
        <p:nvPicPr>
          <p:cNvPr id="2" name="Picture 2" descr="Resultado de imagem para chi squar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504" y="2130518"/>
            <a:ext cx="6858000" cy="3771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Conceitos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Procedimento geral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Teste </a:t>
            </a:r>
            <a:r>
              <a:rPr lang="pt-BR" sz="2400" dirty="0" err="1">
                <a:solidFill>
                  <a:schemeClr val="dk1"/>
                </a:solidFill>
              </a:rPr>
              <a:t>Qui</a:t>
            </a:r>
            <a:r>
              <a:rPr lang="pt-BR" sz="2400" dirty="0">
                <a:solidFill>
                  <a:schemeClr val="dk1"/>
                </a:solidFill>
              </a:rPr>
              <a:t>-Quadrado e problemas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Testes de aderência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Testes de Homogeneidade 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Testes de independência</a:t>
            </a: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6194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Arial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Procedimento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Geral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3" name="Shape 413"/>
              <p:cNvSpPr/>
              <p:nvPr/>
            </p:nvSpPr>
            <p:spPr>
              <a:xfrm>
                <a:off x="395286" y="1484312"/>
                <a:ext cx="8390125" cy="452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457200" marR="0" lvl="0" indent="-406400" algn="l" defTabSz="914400" rtl="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Char char="●"/>
                  <a:tabLst/>
                  <a:defRPr/>
                </a:pPr>
                <a:r>
                  <a:rPr kumimoji="0" lang="pt-BR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Etapas:</a:t>
                </a:r>
              </a:p>
              <a:p>
                <a:pPr marL="457200" marR="0" lvl="0" indent="-406400" algn="l" defTabSz="914400" rtl="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Char char="●"/>
                  <a:tabLst/>
                  <a:defRPr/>
                </a:pPr>
                <a:endParaRPr kumimoji="0" lang="pt-B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  <a:p>
                <a:pPr marL="508000" lvl="0" indent="-457200">
                  <a:lnSpc>
                    <a:spcPct val="115000"/>
                  </a:lnSpc>
                  <a:buSzPts val="2800"/>
                  <a:buFont typeface="+mj-lt"/>
                  <a:buAutoNum type="arabicPeriod"/>
                  <a:defRPr/>
                </a:pPr>
                <a:r>
                  <a:rPr lang="pt-BR" sz="2400" dirty="0"/>
                  <a:t>Fixar a </a:t>
                </a:r>
                <a:r>
                  <a:rPr lang="pt-BR" sz="2400" dirty="0">
                    <a:solidFill>
                      <a:srgbClr val="FF0000"/>
                    </a:solidFill>
                  </a:rPr>
                  <a:t>hipótese nula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400" dirty="0">
                    <a:solidFill>
                      <a:srgbClr val="FF0000"/>
                    </a:solidFill>
                  </a:rPr>
                  <a:t>)</a:t>
                </a:r>
                <a:r>
                  <a:rPr lang="pt-BR" sz="2400" dirty="0"/>
                  <a:t> e a hipótese </a:t>
                </a:r>
                <a:r>
                  <a:rPr lang="pt-BR" sz="2400" dirty="0">
                    <a:solidFill>
                      <a:srgbClr val="FF0000"/>
                    </a:solidFill>
                  </a:rPr>
                  <a:t>alternativa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>
                    <a:solidFill>
                      <a:srgbClr val="FF0000"/>
                    </a:solidFill>
                  </a:rPr>
                  <a:t>)</a:t>
                </a:r>
                <a:r>
                  <a:rPr lang="pt-BR" sz="2400" dirty="0"/>
                  <a:t>.</a:t>
                </a:r>
              </a:p>
              <a:p>
                <a:pPr marL="508000" lvl="0" indent="-457200">
                  <a:lnSpc>
                    <a:spcPct val="115000"/>
                  </a:lnSpc>
                  <a:buSzPts val="2800"/>
                  <a:buFont typeface="+mj-lt"/>
                  <a:buAutoNum type="arabicPeriod"/>
                  <a:defRPr/>
                </a:pPr>
                <a:r>
                  <a:rPr lang="pt-BR" sz="2400" baseline="0" dirty="0"/>
                  <a:t>Definir qual </a:t>
                </a:r>
                <a:r>
                  <a:rPr lang="pt-BR" sz="2400" baseline="0" dirty="0">
                    <a:solidFill>
                      <a:srgbClr val="FF0000"/>
                    </a:solidFill>
                  </a:rPr>
                  <a:t>estimador</a:t>
                </a:r>
                <a:r>
                  <a:rPr lang="pt-BR" sz="2400" dirty="0"/>
                  <a:t> será utilizado (média, variância).</a:t>
                </a:r>
              </a:p>
              <a:p>
                <a:pPr marL="508000" lvl="0" indent="-457200">
                  <a:lnSpc>
                    <a:spcPct val="115000"/>
                  </a:lnSpc>
                  <a:buSzPts val="2800"/>
                  <a:buFont typeface="+mj-lt"/>
                  <a:buAutoNum type="arabicPeriod"/>
                  <a:defRPr/>
                </a:pPr>
                <a:r>
                  <a:rPr lang="pt-BR" sz="2400" baseline="0" dirty="0"/>
                  <a:t>Fixar o </a:t>
                </a:r>
                <a:r>
                  <a:rPr lang="pt-BR" sz="2400" baseline="0" dirty="0">
                    <a:solidFill>
                      <a:srgbClr val="FF0000"/>
                    </a:solidFill>
                  </a:rPr>
                  <a:t>nível de confiança</a:t>
                </a:r>
                <a:r>
                  <a:rPr lang="pt-BR" sz="2400" dirty="0">
                    <a:solidFill>
                      <a:srgbClr val="FF0000"/>
                    </a:solidFill>
                  </a:rPr>
                  <a:t> </a:t>
                </a:r>
                <a:r>
                  <a:rPr lang="pt-BR" sz="2400" dirty="0"/>
                  <a:t>(90%, 95%, 99%).</a:t>
                </a:r>
              </a:p>
              <a:p>
                <a:pPr marL="508000" lvl="0" indent="-457200">
                  <a:lnSpc>
                    <a:spcPct val="115000"/>
                  </a:lnSpc>
                  <a:buSzPts val="2800"/>
                  <a:buFont typeface="+mj-lt"/>
                  <a:buAutoNum type="arabicPeriod"/>
                  <a:defRPr/>
                </a:pPr>
                <a:r>
                  <a:rPr lang="pt-BR" sz="2400" baseline="0" dirty="0"/>
                  <a:t>Utilizar os dados da</a:t>
                </a:r>
                <a:r>
                  <a:rPr lang="pt-BR" sz="2400" dirty="0"/>
                  <a:t> amostra obtida para calcular o valor da </a:t>
                </a:r>
                <a:r>
                  <a:rPr lang="pt-BR" sz="2400" dirty="0">
                    <a:solidFill>
                      <a:srgbClr val="FF0000"/>
                    </a:solidFill>
                  </a:rPr>
                  <a:t>estatística teste </a:t>
                </a:r>
                <a:r>
                  <a:rPr lang="pt-BR" sz="2400" dirty="0"/>
                  <a:t>(</a:t>
                </a:r>
                <a:r>
                  <a:rPr lang="pt-BR" sz="2400" i="1" dirty="0"/>
                  <a:t>t</a:t>
                </a:r>
                <a:r>
                  <a:rPr lang="pt-BR" sz="2400" dirty="0"/>
                  <a:t>, F, </a:t>
                </a:r>
                <a:r>
                  <a:rPr lang="pt-BR" sz="2400" dirty="0" err="1"/>
                  <a:t>Qui</a:t>
                </a:r>
                <a:r>
                  <a:rPr lang="pt-BR" sz="2400" dirty="0"/>
                  <a:t>-Quadrado).</a:t>
                </a:r>
              </a:p>
              <a:p>
                <a:pPr marL="508000" lvl="0" indent="-457200">
                  <a:lnSpc>
                    <a:spcPct val="115000"/>
                  </a:lnSpc>
                  <a:buSzPts val="2800"/>
                  <a:buFont typeface="+mj-lt"/>
                  <a:buAutoNum type="arabicPeriod"/>
                  <a:defRPr/>
                </a:pPr>
                <a:r>
                  <a:rPr lang="pt-BR" sz="2400" baseline="0" dirty="0"/>
                  <a:t>Verificar se o valor da estatística teste esta contida ou não na região de rejeição. Caso esteja, rejeita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400" baseline="0" dirty="0"/>
                  <a:t>, contrário não rejeita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400" baseline="0" dirty="0"/>
                  <a:t>.</a:t>
                </a:r>
              </a:p>
              <a:p>
                <a:pPr marL="457200" marR="0" lvl="0" indent="-406400" algn="l" defTabSz="914400" rtl="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Char char="●"/>
                  <a:tabLst/>
                  <a:defRPr/>
                </a:pPr>
                <a:endParaRPr kumimoji="0" lang="pt-B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  <a:p>
                <a:pPr marL="457200" marR="0" lvl="0" indent="-406400" algn="l" defTabSz="914400" rtl="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Char char="●"/>
                  <a:tabLst/>
                  <a:defRPr/>
                </a:pPr>
                <a:endParaRPr kumimoji="0" lang="pt-BR" altLang="pt-B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/>
                  <a:sym typeface="Arial"/>
                </a:endParaRPr>
              </a:p>
              <a:p>
                <a:pPr marL="457200" marR="0" lvl="0" indent="-406400" algn="l" defTabSz="914400" rtl="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Char char="●"/>
                  <a:tabLst/>
                  <a:defRPr/>
                </a:pPr>
                <a:endParaRPr kumimoji="0" lang="pt-BR" altLang="pt-B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/>
                  <a:sym typeface="Arial"/>
                </a:endParaRPr>
              </a:p>
              <a:p>
                <a:pPr marL="457200" marR="0" lvl="0" indent="-406400" algn="l" defTabSz="914400" rtl="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Char char="●"/>
                  <a:tabLst/>
                  <a:defRPr/>
                </a:pPr>
                <a:endParaRPr kumimoji="0" lang="pt-BR" altLang="pt-B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/>
                  <a:sym typeface="Arial"/>
                </a:endParaRPr>
              </a:p>
              <a:p>
                <a:pPr marL="457200" marR="0" lvl="0" indent="-406400" algn="l" defTabSz="914400" rtl="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Char char="●"/>
                  <a:tabLst/>
                  <a:defRPr/>
                </a:pPr>
                <a:endParaRPr kumimoji="0" lang="pt-BR" altLang="pt-BR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413" name="Shape 4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86" y="1484312"/>
                <a:ext cx="8390125" cy="4526100"/>
              </a:xfrm>
              <a:prstGeom prst="rect">
                <a:avLst/>
              </a:prstGeom>
              <a:blipFill>
                <a:blip r:embed="rId3"/>
                <a:stretch>
                  <a:fillRect l="-727" t="-1346" r="-109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0136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Procedimento</a:t>
            </a:r>
            <a:r>
              <a:rPr lang="en-US" sz="3000" b="1" dirty="0">
                <a:solidFill>
                  <a:schemeClr val="lt1"/>
                </a:solidFill>
              </a:rPr>
              <a:t> </a:t>
            </a:r>
            <a:r>
              <a:rPr lang="en-US" sz="3000" b="1" dirty="0" err="1">
                <a:solidFill>
                  <a:schemeClr val="lt1"/>
                </a:solidFill>
              </a:rPr>
              <a:t>geral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altLang="pt-BR" sz="2800" dirty="0">
                <a:latin typeface="Arial" panose="020B0604020202020204" pitchFamily="34" charset="0"/>
              </a:rPr>
              <a:t>Exemplos de regiões de rejeição.</a:t>
            </a:r>
          </a:p>
        </p:txBody>
      </p:sp>
      <p:pic>
        <p:nvPicPr>
          <p:cNvPr id="2050" name="Picture 2" descr="Imagem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23" r="16439" b="6645"/>
          <a:stretch/>
        </p:blipFill>
        <p:spPr bwMode="auto">
          <a:xfrm>
            <a:off x="212280" y="4014216"/>
            <a:ext cx="4824016" cy="1801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Resultado de imagem para chi square test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5" t="64747" r="47336"/>
          <a:stretch/>
        </p:blipFill>
        <p:spPr bwMode="auto">
          <a:xfrm>
            <a:off x="4919622" y="2665397"/>
            <a:ext cx="3588591" cy="1889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/>
          <p:cNvSpPr txBox="1"/>
          <p:nvPr/>
        </p:nvSpPr>
        <p:spPr>
          <a:xfrm>
            <a:off x="832104" y="3610320"/>
            <a:ext cx="20939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Teste bicaudal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6311582" y="2511508"/>
            <a:ext cx="20939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Teste </a:t>
            </a:r>
            <a:r>
              <a:rPr lang="pt-BR" dirty="0" err="1"/>
              <a:t>monocaudal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039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Quais</a:t>
            </a:r>
            <a:r>
              <a:rPr lang="en-US" sz="3000" b="1" dirty="0">
                <a:solidFill>
                  <a:schemeClr val="lt1"/>
                </a:solidFill>
              </a:rPr>
              <a:t> </a:t>
            </a:r>
            <a:r>
              <a:rPr lang="en-US" sz="3000" b="1" dirty="0" err="1">
                <a:solidFill>
                  <a:schemeClr val="lt1"/>
                </a:solidFill>
              </a:rPr>
              <a:t>situações</a:t>
            </a:r>
            <a:r>
              <a:rPr lang="en-US" sz="3000" b="1" dirty="0">
                <a:solidFill>
                  <a:schemeClr val="lt1"/>
                </a:solidFill>
              </a:rPr>
              <a:t> </a:t>
            </a:r>
            <a:r>
              <a:rPr lang="en-US" sz="3000" b="1" dirty="0" err="1">
                <a:solidFill>
                  <a:schemeClr val="lt1"/>
                </a:solidFill>
              </a:rPr>
              <a:t>aplicamos</a:t>
            </a:r>
            <a:r>
              <a:rPr lang="en-US" sz="3000" b="1" dirty="0">
                <a:solidFill>
                  <a:schemeClr val="lt1"/>
                </a:solidFill>
              </a:rPr>
              <a:t>?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000" dirty="0">
                <a:solidFill>
                  <a:schemeClr val="dk1"/>
                </a:solidFill>
              </a:rPr>
              <a:t>Geralmente aplicamos quando precisamos </a:t>
            </a:r>
            <a:r>
              <a:rPr lang="pt-BR" sz="2000" dirty="0">
                <a:solidFill>
                  <a:srgbClr val="FF0000"/>
                </a:solidFill>
              </a:rPr>
              <a:t>analisar variáveis categóricas</a:t>
            </a:r>
            <a:r>
              <a:rPr lang="pt-BR" sz="2000" dirty="0">
                <a:solidFill>
                  <a:schemeClr val="dk1"/>
                </a:solidFill>
              </a:rPr>
              <a:t>.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0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000" dirty="0">
                <a:solidFill>
                  <a:schemeClr val="dk1"/>
                </a:solidFill>
              </a:rPr>
              <a:t>Exemplos: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0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000" dirty="0">
                <a:solidFill>
                  <a:schemeClr val="dk1"/>
                </a:solidFill>
              </a:rPr>
              <a:t>A frequência de pessoas no shopping esperada por um lojista está condizente com a frequência observada?</a:t>
            </a: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000" dirty="0">
                <a:solidFill>
                  <a:schemeClr val="dk1"/>
                </a:solidFill>
              </a:rPr>
              <a:t>Qual a relação entre as faixas de renda e escolaridade num município?</a:t>
            </a: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000" dirty="0">
                <a:solidFill>
                  <a:schemeClr val="dk1"/>
                </a:solidFill>
              </a:rPr>
              <a:t>Qual a associação entre faixa etária e níveis de reclamações em empresas telefônicas?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0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82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>
                <a:solidFill>
                  <a:schemeClr val="lt1"/>
                </a:solidFill>
              </a:rPr>
              <a:t>Teste Qui-</a:t>
            </a:r>
            <a:r>
              <a:rPr lang="en-US" sz="3000" b="1" dirty="0" err="1">
                <a:solidFill>
                  <a:schemeClr val="lt1"/>
                </a:solidFill>
              </a:rPr>
              <a:t>Quadrado</a:t>
            </a:r>
            <a:endParaRPr i="1"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300" dirty="0">
                <a:solidFill>
                  <a:schemeClr val="dk1"/>
                </a:solidFill>
              </a:rPr>
              <a:t>O teste </a:t>
            </a:r>
            <a:r>
              <a:rPr lang="pt-BR" sz="2300" dirty="0" err="1">
                <a:solidFill>
                  <a:schemeClr val="dk1"/>
                </a:solidFill>
              </a:rPr>
              <a:t>Qui</a:t>
            </a:r>
            <a:r>
              <a:rPr lang="pt-BR" sz="2300" dirty="0">
                <a:solidFill>
                  <a:schemeClr val="dk1"/>
                </a:solidFill>
              </a:rPr>
              <a:t>-Quadrado é aplicado nos seguintes testes: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3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300" b="1" dirty="0">
                <a:solidFill>
                  <a:schemeClr val="dk1"/>
                </a:solidFill>
              </a:rPr>
              <a:t>Teste de aderência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3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300" b="1" dirty="0">
                <a:solidFill>
                  <a:schemeClr val="dk1"/>
                </a:solidFill>
              </a:rPr>
              <a:t>Teste de homogeneidade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300" b="1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300" b="1" dirty="0">
                <a:solidFill>
                  <a:schemeClr val="dk1"/>
                </a:solidFill>
              </a:rPr>
              <a:t>Teste de independência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0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0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1826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Exemplos</a:t>
            </a:r>
            <a:r>
              <a:rPr lang="en-US" sz="3000" b="1" dirty="0">
                <a:solidFill>
                  <a:schemeClr val="lt1"/>
                </a:solidFill>
              </a:rPr>
              <a:t> de Teste Qui-</a:t>
            </a:r>
            <a:r>
              <a:rPr lang="en-US" sz="3000" b="1" dirty="0" err="1">
                <a:solidFill>
                  <a:schemeClr val="lt1"/>
                </a:solidFill>
              </a:rPr>
              <a:t>Quadrado</a:t>
            </a:r>
            <a:endParaRPr i="1"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500" dirty="0">
                <a:solidFill>
                  <a:schemeClr val="dk1"/>
                </a:solidFill>
              </a:rPr>
              <a:t>Testar a frequência esperada e observada de pessoas que visitam uma loja por dia da semana.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5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500" dirty="0">
                <a:solidFill>
                  <a:schemeClr val="dk1"/>
                </a:solidFill>
              </a:rPr>
              <a:t>Comparar os conceitos de notas de 2 turmas de alunos.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5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500" dirty="0">
                <a:solidFill>
                  <a:schemeClr val="dk1"/>
                </a:solidFill>
              </a:rPr>
              <a:t>Verificar a existência de associação entre reclamações e faixa de renda.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0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0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7717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>
                <a:solidFill>
                  <a:schemeClr val="lt1"/>
                </a:solidFill>
              </a:rPr>
              <a:t>Teste de </a:t>
            </a:r>
            <a:r>
              <a:rPr lang="en-US" sz="3000" b="1" dirty="0" err="1">
                <a:solidFill>
                  <a:schemeClr val="lt1"/>
                </a:solidFill>
              </a:rPr>
              <a:t>aderência</a:t>
            </a:r>
            <a:endParaRPr i="1"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rgbClr val="FF0000"/>
                </a:solidFill>
              </a:rPr>
              <a:t>Teste de aderência</a:t>
            </a:r>
            <a:r>
              <a:rPr lang="pt-BR" sz="2400" dirty="0">
                <a:solidFill>
                  <a:schemeClr val="dk1"/>
                </a:solidFill>
              </a:rPr>
              <a:t> busca verificar se o comportamento da população segue uma distribuição especificada.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chemeClr val="dk1"/>
                </a:solidFill>
              </a:rPr>
              <a:t>Problema exemplo:</a:t>
            </a: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000" dirty="0">
                <a:solidFill>
                  <a:schemeClr val="dk1"/>
                </a:solidFill>
              </a:rPr>
              <a:t>Um gerente deseja testar a frequência esperada e observada de pessoas que visitam uma loja por dia da semana. Os resultados são visualizados na tabela abaixo: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0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>
              <a:latin typeface="Arial" panose="020B0604020202020204" pitchFamily="34" charset="0"/>
            </a:endParaRPr>
          </a:p>
        </p:txBody>
      </p:sp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1304652"/>
              </p:ext>
            </p:extLst>
          </p:nvPr>
        </p:nvGraphicFramePr>
        <p:xfrm>
          <a:off x="395287" y="4615331"/>
          <a:ext cx="7440708" cy="12852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77846">
                  <a:extLst>
                    <a:ext uri="{9D8B030D-6E8A-4147-A177-3AD203B41FA5}">
                      <a16:colId xmlns:a16="http://schemas.microsoft.com/office/drawing/2014/main" val="1885700817"/>
                    </a:ext>
                  </a:extLst>
                </a:gridCol>
                <a:gridCol w="792928">
                  <a:extLst>
                    <a:ext uri="{9D8B030D-6E8A-4147-A177-3AD203B41FA5}">
                      <a16:colId xmlns:a16="http://schemas.microsoft.com/office/drawing/2014/main" val="1088044431"/>
                    </a:ext>
                  </a:extLst>
                </a:gridCol>
                <a:gridCol w="792928">
                  <a:extLst>
                    <a:ext uri="{9D8B030D-6E8A-4147-A177-3AD203B41FA5}">
                      <a16:colId xmlns:a16="http://schemas.microsoft.com/office/drawing/2014/main" val="770834387"/>
                    </a:ext>
                  </a:extLst>
                </a:gridCol>
                <a:gridCol w="792928">
                  <a:extLst>
                    <a:ext uri="{9D8B030D-6E8A-4147-A177-3AD203B41FA5}">
                      <a16:colId xmlns:a16="http://schemas.microsoft.com/office/drawing/2014/main" val="606773706"/>
                    </a:ext>
                  </a:extLst>
                </a:gridCol>
                <a:gridCol w="635029">
                  <a:extLst>
                    <a:ext uri="{9D8B030D-6E8A-4147-A177-3AD203B41FA5}">
                      <a16:colId xmlns:a16="http://schemas.microsoft.com/office/drawing/2014/main" val="556942298"/>
                    </a:ext>
                  </a:extLst>
                </a:gridCol>
                <a:gridCol w="949683">
                  <a:extLst>
                    <a:ext uri="{9D8B030D-6E8A-4147-A177-3AD203B41FA5}">
                      <a16:colId xmlns:a16="http://schemas.microsoft.com/office/drawing/2014/main" val="434777347"/>
                    </a:ext>
                  </a:extLst>
                </a:gridCol>
                <a:gridCol w="949683">
                  <a:extLst>
                    <a:ext uri="{9D8B030D-6E8A-4147-A177-3AD203B41FA5}">
                      <a16:colId xmlns:a16="http://schemas.microsoft.com/office/drawing/2014/main" val="1076363347"/>
                    </a:ext>
                  </a:extLst>
                </a:gridCol>
                <a:gridCol w="949683">
                  <a:extLst>
                    <a:ext uri="{9D8B030D-6E8A-4147-A177-3AD203B41FA5}">
                      <a16:colId xmlns:a16="http://schemas.microsoft.com/office/drawing/2014/main" val="33343098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Dia da semana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Dom.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Seg.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Ter.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/>
                        <a:t>Qua</a:t>
                      </a:r>
                      <a:r>
                        <a:rPr lang="pt-BR" sz="1200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/>
                        <a:t>Qui</a:t>
                      </a:r>
                      <a:r>
                        <a:rPr lang="pt-BR" sz="1200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Sex.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/>
                        <a:t>Sáb</a:t>
                      </a:r>
                      <a:r>
                        <a:rPr lang="pt-BR" sz="120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4828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Frequência</a:t>
                      </a:r>
                      <a:r>
                        <a:rPr lang="pt-BR" sz="1200" baseline="0" dirty="0"/>
                        <a:t> esperada</a:t>
                      </a:r>
                      <a:endParaRPr lang="pt-B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482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Frequência</a:t>
                      </a:r>
                      <a:r>
                        <a:rPr lang="pt-BR" sz="1200" baseline="0" dirty="0"/>
                        <a:t> observada</a:t>
                      </a:r>
                      <a:endParaRPr lang="pt-B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2112267"/>
                  </a:ext>
                </a:extLst>
              </a:tr>
            </a:tbl>
          </a:graphicData>
        </a:graphic>
      </p:graphicFrame>
      <p:cxnSp>
        <p:nvCxnSpPr>
          <p:cNvPr id="4" name="Conector de Seta Reta 3"/>
          <p:cNvCxnSpPr/>
          <p:nvPr/>
        </p:nvCxnSpPr>
        <p:spPr>
          <a:xfrm flipH="1">
            <a:off x="7512424" y="5004375"/>
            <a:ext cx="422182" cy="965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7921578" y="4727376"/>
            <a:ext cx="14066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/>
              <a:t>Estes percentuais são hipóteses do gerente.</a:t>
            </a:r>
          </a:p>
        </p:txBody>
      </p:sp>
    </p:spTree>
    <p:extLst>
      <p:ext uri="{BB962C8B-B14F-4D97-AF65-F5344CB8AC3E}">
        <p14:creationId xmlns:p14="http://schemas.microsoft.com/office/powerpoint/2010/main" val="593249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>
                <a:solidFill>
                  <a:schemeClr val="lt1"/>
                </a:solidFill>
              </a:rPr>
              <a:t>Teste Qui-</a:t>
            </a:r>
            <a:r>
              <a:rPr lang="en-US" sz="3000" b="1" dirty="0" err="1">
                <a:solidFill>
                  <a:schemeClr val="lt1"/>
                </a:solidFill>
              </a:rPr>
              <a:t>Quadrado</a:t>
            </a:r>
            <a:r>
              <a:rPr lang="en-US" sz="3000" b="1" i="1" dirty="0">
                <a:solidFill>
                  <a:schemeClr val="lt1"/>
                </a:solidFill>
              </a:rPr>
              <a:t> - </a:t>
            </a:r>
            <a:r>
              <a:rPr lang="en-US" sz="3000" b="1" dirty="0" err="1">
                <a:solidFill>
                  <a:schemeClr val="lt1"/>
                </a:solidFill>
              </a:rPr>
              <a:t>resolução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3" name="Shape 413"/>
              <p:cNvSpPr/>
              <p:nvPr/>
            </p:nvSpPr>
            <p:spPr>
              <a:xfrm>
                <a:off x="395287" y="1484312"/>
                <a:ext cx="8229600" cy="452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2400" dirty="0">
                    <a:solidFill>
                      <a:schemeClr val="dk1"/>
                    </a:solidFill>
                  </a:rPr>
                  <a:t>Neste teste precisamos:</a:t>
                </a: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2400" dirty="0">
                    <a:solidFill>
                      <a:schemeClr val="dk1"/>
                    </a:solidFill>
                  </a:rPr>
                  <a:t>Frequência esperada.</a:t>
                </a: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2400" dirty="0">
                    <a:solidFill>
                      <a:schemeClr val="dk1"/>
                    </a:solidFill>
                  </a:rPr>
                  <a:t>Frequência observada.</a:t>
                </a: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2400" dirty="0">
                    <a:solidFill>
                      <a:schemeClr val="dk1"/>
                    </a:solidFill>
                  </a:rPr>
                  <a:t>Graus de liberdade</a:t>
                </a: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2400" dirty="0">
                    <a:solidFill>
                      <a:schemeClr val="dk1"/>
                    </a:solidFill>
                  </a:rPr>
                  <a:t>A estatística de </a:t>
                </a:r>
                <a:r>
                  <a:rPr lang="pt-BR" sz="2400" dirty="0" err="1">
                    <a:solidFill>
                      <a:schemeClr val="dk1"/>
                    </a:solidFill>
                  </a:rPr>
                  <a:t>Qui</a:t>
                </a:r>
                <a:r>
                  <a:rPr lang="pt-BR" sz="2400" dirty="0">
                    <a:solidFill>
                      <a:schemeClr val="dk1"/>
                    </a:solidFill>
                  </a:rPr>
                  <a:t>-Quadrado segue:</a:t>
                </a:r>
              </a:p>
              <a:p>
                <a:pPr marL="50800" lvl="0">
                  <a:lnSpc>
                    <a:spcPct val="115000"/>
                  </a:lnSpc>
                  <a:buSzPts val="28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  <m:e>
                          <m:f>
                            <m:fPr>
                              <m:ctrlPr>
                                <a:rPr lang="pt-BR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t-BR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pt-BR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BR" sz="2400" b="0" i="1" smtClean="0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400" b="0" i="1" smtClean="0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𝑂</m:t>
                                          </m:r>
                                        </m:e>
                                        <m:sub>
                                          <m:r>
                                            <a:rPr lang="pt-BR" sz="2400" b="0" i="1" smtClean="0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pt-BR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pt-BR" sz="2400" b="0" i="1" smtClean="0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400" b="0" i="1" smtClean="0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𝐸</m:t>
                                          </m:r>
                                        </m:e>
                                        <m:sub>
                                          <m:r>
                                            <a:rPr lang="pt-BR" sz="2400" b="0" i="1" smtClean="0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pt-BR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pt-BR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pt-BR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800" dirty="0"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13" name="Shape 4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87" y="1484312"/>
                <a:ext cx="8229600" cy="4526100"/>
              </a:xfrm>
              <a:prstGeom prst="rect">
                <a:avLst/>
              </a:prstGeom>
              <a:blipFill>
                <a:blip r:embed="rId3"/>
                <a:stretch>
                  <a:fillRect l="-741" t="-134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32121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>
                <a:solidFill>
                  <a:schemeClr val="lt1"/>
                </a:solidFill>
              </a:rPr>
              <a:t>Teste Qui-</a:t>
            </a:r>
            <a:r>
              <a:rPr lang="en-US" sz="3000" b="1" dirty="0" err="1">
                <a:solidFill>
                  <a:schemeClr val="lt1"/>
                </a:solidFill>
              </a:rPr>
              <a:t>Quadrado</a:t>
            </a:r>
            <a:r>
              <a:rPr lang="en-US" sz="3000" b="1" i="1" dirty="0">
                <a:solidFill>
                  <a:schemeClr val="lt1"/>
                </a:solidFill>
              </a:rPr>
              <a:t> - </a:t>
            </a:r>
            <a:r>
              <a:rPr lang="en-US" sz="3000" b="1" dirty="0" err="1">
                <a:solidFill>
                  <a:schemeClr val="lt1"/>
                </a:solidFill>
              </a:rPr>
              <a:t>resolução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3" name="Shape 413"/>
              <p:cNvSpPr/>
              <p:nvPr/>
            </p:nvSpPr>
            <p:spPr>
              <a:xfrm>
                <a:off x="395287" y="1484312"/>
                <a:ext cx="8229600" cy="452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600" dirty="0">
                    <a:solidFill>
                      <a:schemeClr val="dk1"/>
                    </a:solidFill>
                  </a:rPr>
                  <a:t>Etapa 1: </a:t>
                </a:r>
                <a:r>
                  <a:rPr lang="pt-BR" sz="1600" dirty="0"/>
                  <a:t>Fixar a hipótese nula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1600" dirty="0"/>
                  <a:t>) e a hipótese alternativa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1600" dirty="0"/>
                  <a:t>)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pt-BR" sz="16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pt-BR" sz="1600" b="1" dirty="0"/>
                  <a:t>: as frequências observadas são iguais as frequências esperadas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pt-BR" sz="16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</m:oMath>
                </a14:m>
                <a:r>
                  <a:rPr lang="pt-BR" sz="1600" b="1" dirty="0"/>
                  <a:t>: as frequências observadas são diferentes das frequências esperadas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600" dirty="0"/>
                  <a:t>Definir o estimador: </a:t>
                </a:r>
                <a:r>
                  <a:rPr lang="pt-BR" sz="1600" b="1" dirty="0" err="1"/>
                  <a:t>qui</a:t>
                </a:r>
                <a:r>
                  <a:rPr lang="pt-BR" sz="1600" b="1" dirty="0"/>
                  <a:t>-quadrado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600" dirty="0"/>
                  <a:t>Fixar o nível de confiança: </a:t>
                </a:r>
                <a:r>
                  <a:rPr lang="pt-BR" sz="1600" b="1" dirty="0"/>
                  <a:t>95%</a:t>
                </a: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600" dirty="0"/>
                  <a:t>Obter as frequências esperadas:</a:t>
                </a: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800" dirty="0"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13" name="Shape 4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87" y="1484312"/>
                <a:ext cx="8229600" cy="4526100"/>
              </a:xfrm>
              <a:prstGeom prst="rect">
                <a:avLst/>
              </a:prstGeom>
              <a:blipFill>
                <a:blip r:embed="rId3"/>
                <a:stretch>
                  <a:fillRect l="-741" t="-363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ela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2411109"/>
              </p:ext>
            </p:extLst>
          </p:nvPr>
        </p:nvGraphicFramePr>
        <p:xfrm>
          <a:off x="673193" y="4202954"/>
          <a:ext cx="7440708" cy="17424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77846">
                  <a:extLst>
                    <a:ext uri="{9D8B030D-6E8A-4147-A177-3AD203B41FA5}">
                      <a16:colId xmlns:a16="http://schemas.microsoft.com/office/drawing/2014/main" val="1885700817"/>
                    </a:ext>
                  </a:extLst>
                </a:gridCol>
                <a:gridCol w="792928">
                  <a:extLst>
                    <a:ext uri="{9D8B030D-6E8A-4147-A177-3AD203B41FA5}">
                      <a16:colId xmlns:a16="http://schemas.microsoft.com/office/drawing/2014/main" val="1088044431"/>
                    </a:ext>
                  </a:extLst>
                </a:gridCol>
                <a:gridCol w="792928">
                  <a:extLst>
                    <a:ext uri="{9D8B030D-6E8A-4147-A177-3AD203B41FA5}">
                      <a16:colId xmlns:a16="http://schemas.microsoft.com/office/drawing/2014/main" val="770834387"/>
                    </a:ext>
                  </a:extLst>
                </a:gridCol>
                <a:gridCol w="792928">
                  <a:extLst>
                    <a:ext uri="{9D8B030D-6E8A-4147-A177-3AD203B41FA5}">
                      <a16:colId xmlns:a16="http://schemas.microsoft.com/office/drawing/2014/main" val="606773706"/>
                    </a:ext>
                  </a:extLst>
                </a:gridCol>
                <a:gridCol w="635029">
                  <a:extLst>
                    <a:ext uri="{9D8B030D-6E8A-4147-A177-3AD203B41FA5}">
                      <a16:colId xmlns:a16="http://schemas.microsoft.com/office/drawing/2014/main" val="556942298"/>
                    </a:ext>
                  </a:extLst>
                </a:gridCol>
                <a:gridCol w="949683">
                  <a:extLst>
                    <a:ext uri="{9D8B030D-6E8A-4147-A177-3AD203B41FA5}">
                      <a16:colId xmlns:a16="http://schemas.microsoft.com/office/drawing/2014/main" val="434777347"/>
                    </a:ext>
                  </a:extLst>
                </a:gridCol>
                <a:gridCol w="949683">
                  <a:extLst>
                    <a:ext uri="{9D8B030D-6E8A-4147-A177-3AD203B41FA5}">
                      <a16:colId xmlns:a16="http://schemas.microsoft.com/office/drawing/2014/main" val="1076363347"/>
                    </a:ext>
                  </a:extLst>
                </a:gridCol>
                <a:gridCol w="949683">
                  <a:extLst>
                    <a:ext uri="{9D8B030D-6E8A-4147-A177-3AD203B41FA5}">
                      <a16:colId xmlns:a16="http://schemas.microsoft.com/office/drawing/2014/main" val="33343098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Dia da semana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Dom.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Seg.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Ter.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/>
                        <a:t>Qua</a:t>
                      </a:r>
                      <a:r>
                        <a:rPr lang="pt-BR" sz="1200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/>
                        <a:t>Qui</a:t>
                      </a:r>
                      <a:r>
                        <a:rPr lang="pt-BR" sz="1200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Sex.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/>
                        <a:t>Sáb</a:t>
                      </a:r>
                      <a:r>
                        <a:rPr lang="pt-BR" sz="120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4828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Percentual</a:t>
                      </a:r>
                      <a:r>
                        <a:rPr lang="pt-BR" sz="1200" baseline="0" dirty="0"/>
                        <a:t> esperado</a:t>
                      </a:r>
                      <a:endParaRPr lang="pt-B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482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Frequência</a:t>
                      </a:r>
                      <a:r>
                        <a:rPr lang="pt-BR" sz="1200" baseline="0" dirty="0"/>
                        <a:t> esperada</a:t>
                      </a:r>
                      <a:endParaRPr lang="pt-B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135,8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27,2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54,3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54,3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54,3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81,5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2521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Frequência</a:t>
                      </a:r>
                      <a:r>
                        <a:rPr lang="pt-BR" sz="1200" baseline="0" dirty="0"/>
                        <a:t> observada</a:t>
                      </a:r>
                      <a:endParaRPr lang="pt-B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2112267"/>
                  </a:ext>
                </a:extLst>
              </a:tr>
            </a:tbl>
          </a:graphicData>
        </a:graphic>
      </p:graphicFrame>
      <p:cxnSp>
        <p:nvCxnSpPr>
          <p:cNvPr id="5" name="Conector de Seta Reta 4"/>
          <p:cNvCxnSpPr>
            <a:stCxn id="11" idx="1"/>
          </p:cNvCxnSpPr>
          <p:nvPr/>
        </p:nvCxnSpPr>
        <p:spPr>
          <a:xfrm flipH="1">
            <a:off x="2868707" y="3730807"/>
            <a:ext cx="1641380" cy="14328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/>
        </p:nvSpPr>
        <p:spPr>
          <a:xfrm>
            <a:off x="4510087" y="3576918"/>
            <a:ext cx="25809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Valor obtido por: 543*25%</a:t>
            </a:r>
          </a:p>
        </p:txBody>
      </p:sp>
    </p:spTree>
    <p:extLst>
      <p:ext uri="{BB962C8B-B14F-4D97-AF65-F5344CB8AC3E}">
        <p14:creationId xmlns:p14="http://schemas.microsoft.com/office/powerpoint/2010/main" val="5568152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>
                <a:solidFill>
                  <a:schemeClr val="lt1"/>
                </a:solidFill>
              </a:rPr>
              <a:t>Teste Qui-</a:t>
            </a:r>
            <a:r>
              <a:rPr lang="en-US" sz="3000" b="1" dirty="0" err="1">
                <a:solidFill>
                  <a:schemeClr val="lt1"/>
                </a:solidFill>
              </a:rPr>
              <a:t>Quadrado</a:t>
            </a:r>
            <a:r>
              <a:rPr lang="en-US" sz="3000" b="1" i="1" dirty="0">
                <a:solidFill>
                  <a:schemeClr val="lt1"/>
                </a:solidFill>
              </a:rPr>
              <a:t> - </a:t>
            </a:r>
            <a:r>
              <a:rPr lang="en-US" sz="3000" b="1" dirty="0" err="1">
                <a:solidFill>
                  <a:schemeClr val="lt1"/>
                </a:solidFill>
              </a:rPr>
              <a:t>resolução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3" name="Shape 413"/>
              <p:cNvSpPr/>
              <p:nvPr/>
            </p:nvSpPr>
            <p:spPr>
              <a:xfrm>
                <a:off x="395287" y="1484312"/>
                <a:ext cx="8229600" cy="452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600" dirty="0"/>
                  <a:t>Calcular o valor da estatística teste </a:t>
                </a:r>
                <a:r>
                  <a:rPr lang="pt-BR" sz="1600" dirty="0" err="1"/>
                  <a:t>Qui</a:t>
                </a:r>
                <a:r>
                  <a:rPr lang="pt-BR" sz="1600" dirty="0"/>
                  <a:t>-Quadrado.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pt-BR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pt-BR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1600" i="1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pt-BR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t-BR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pt-BR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  <m:e>
                        <m:f>
                          <m:fPr>
                            <m:ctrlPr>
                              <a:rPr lang="pt-BR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pt-BR" sz="16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pt-BR" sz="16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pt-BR" sz="16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6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𝑂</m:t>
                                        </m:r>
                                      </m:e>
                                      <m:sub>
                                        <m:r>
                                          <a:rPr lang="pt-BR" sz="16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pt-BR" sz="16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pt-BR" sz="16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6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e>
                                      <m:sub>
                                        <m:r>
                                          <a:rPr lang="pt-BR" sz="16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pt-BR" sz="16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b>
                              <m:sSubPr>
                                <m:ctrlPr>
                                  <a:rPr lang="pt-BR" sz="16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6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pt-BR" sz="16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nary>
                    <m:r>
                      <a:rPr lang="pt-BR" sz="16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=52,5</m:t>
                    </m:r>
                  </m:oMath>
                </a14:m>
                <a:endParaRPr lang="pt-BR" sz="1600" dirty="0">
                  <a:latin typeface="Cambria Math" panose="02040503050406030204" pitchFamily="18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i="1" dirty="0">
                  <a:latin typeface="Cambria Math" panose="02040503050406030204" pitchFamily="18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pt-BR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pt-B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6,  95%</m:t>
                        </m:r>
                      </m:sub>
                      <m:sup>
                        <m:r>
                          <a:rPr lang="pt-B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pt-B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a:rPr lang="pt-B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12,59</m:t>
                    </m:r>
                  </m:oMath>
                </a14:m>
                <a:r>
                  <a:rPr lang="pt-BR" sz="1600" dirty="0"/>
                  <a:t> 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600" dirty="0"/>
                  <a:t>Rejeitar ou não rejeitar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1600" dirty="0"/>
                  <a:t>? 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600" dirty="0"/>
                  <a:t>O valor de </a:t>
                </a:r>
                <a:r>
                  <a:rPr lang="pt-BR" sz="1600" b="1" dirty="0"/>
                  <a:t>52,5</a:t>
                </a:r>
                <a:r>
                  <a:rPr lang="pt-BR" sz="1600" dirty="0"/>
                  <a:t> está dentro da região de rejeição. Deste modo, </a:t>
                </a:r>
                <a:r>
                  <a:rPr lang="pt-BR" sz="1600" b="1" dirty="0"/>
                  <a:t>rejeitamos a hipótese nula</a:t>
                </a:r>
                <a:r>
                  <a:rPr lang="pt-BR" sz="1600" dirty="0"/>
                  <a:t>, ou seja, </a:t>
                </a:r>
                <a:r>
                  <a:rPr lang="pt-BR" sz="1600" b="1" dirty="0"/>
                  <a:t>os valores esperados pelo gerente é diferente do observado</a:t>
                </a:r>
                <a:r>
                  <a:rPr lang="pt-BR" sz="1600" dirty="0"/>
                  <a:t>.</a:t>
                </a: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800" dirty="0"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13" name="Shape 4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87" y="1484312"/>
                <a:ext cx="8229600" cy="4526100"/>
              </a:xfrm>
              <a:prstGeom prst="rect">
                <a:avLst/>
              </a:prstGeom>
              <a:blipFill>
                <a:blip r:embed="rId3"/>
                <a:stretch>
                  <a:fillRect l="-741" t="-363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aixaDeTexto 1"/>
          <p:cNvSpPr txBox="1"/>
          <p:nvPr/>
        </p:nvSpPr>
        <p:spPr>
          <a:xfrm>
            <a:off x="80683" y="5943600"/>
            <a:ext cx="47871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Ver detalhes na planilha: </a:t>
            </a:r>
            <a:r>
              <a:rPr lang="pt-BR" b="1" i="1" dirty="0"/>
              <a:t>exemplos_quiquadrado.xls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4078942" y="4034117"/>
            <a:ext cx="8785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12,59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5953126" y="4141839"/>
            <a:ext cx="19750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/>
              <a:t>O valor de </a:t>
            </a:r>
            <a:r>
              <a:rPr lang="pt-BR" sz="1000" b="1" dirty="0"/>
              <a:t>52,5</a:t>
            </a:r>
            <a:r>
              <a:rPr lang="pt-BR" sz="1000" dirty="0"/>
              <a:t> está dentro da região de rejeição</a:t>
            </a:r>
          </a:p>
        </p:txBody>
      </p:sp>
      <p:pic>
        <p:nvPicPr>
          <p:cNvPr id="19" name="Imagem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6856" y="1904601"/>
            <a:ext cx="3336325" cy="1809355"/>
          </a:xfrm>
          <a:prstGeom prst="rect">
            <a:avLst/>
          </a:prstGeom>
        </p:spPr>
      </p:pic>
      <p:cxnSp>
        <p:nvCxnSpPr>
          <p:cNvPr id="12" name="Conector de Seta Reta 11"/>
          <p:cNvCxnSpPr/>
          <p:nvPr/>
        </p:nvCxnSpPr>
        <p:spPr>
          <a:xfrm flipH="1">
            <a:off x="4518214" y="3599295"/>
            <a:ext cx="537880" cy="434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>
            <a:stCxn id="15" idx="0"/>
          </p:cNvCxnSpPr>
          <p:nvPr/>
        </p:nvCxnSpPr>
        <p:spPr>
          <a:xfrm flipH="1" flipV="1">
            <a:off x="5716427" y="3496235"/>
            <a:ext cx="1224217" cy="6456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09322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>
                <a:solidFill>
                  <a:schemeClr val="lt1"/>
                </a:solidFill>
              </a:rPr>
              <a:t>Teste de </a:t>
            </a:r>
            <a:r>
              <a:rPr lang="en-US" sz="3000" b="1" dirty="0" err="1">
                <a:solidFill>
                  <a:schemeClr val="lt1"/>
                </a:solidFill>
              </a:rPr>
              <a:t>homogeneidade</a:t>
            </a:r>
            <a:endParaRPr i="1"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rgbClr val="FF0000"/>
                </a:solidFill>
              </a:rPr>
              <a:t>Testes de homogeneidade</a:t>
            </a:r>
            <a:r>
              <a:rPr lang="pt-BR" sz="2400" dirty="0">
                <a:solidFill>
                  <a:schemeClr val="dk1"/>
                </a:solidFill>
              </a:rPr>
              <a:t> visam comparar 2 populações quando temos variáveis categóricas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000" dirty="0">
                <a:solidFill>
                  <a:schemeClr val="dk1"/>
                </a:solidFill>
              </a:rPr>
              <a:t>Problema exemplo: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0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000" dirty="0">
                <a:solidFill>
                  <a:schemeClr val="dk1"/>
                </a:solidFill>
              </a:rPr>
              <a:t>Uma faculdade está buscando comparar os conceitos de notas de 2 turmas de alunos.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>
              <a:latin typeface="Arial" panose="020B0604020202020204" pitchFamily="34" charset="0"/>
            </a:endParaRP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5727855"/>
              </p:ext>
            </p:extLst>
          </p:nvPr>
        </p:nvGraphicFramePr>
        <p:xfrm>
          <a:off x="1326487" y="4427072"/>
          <a:ext cx="6491025" cy="14833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77846">
                  <a:extLst>
                    <a:ext uri="{9D8B030D-6E8A-4147-A177-3AD203B41FA5}">
                      <a16:colId xmlns:a16="http://schemas.microsoft.com/office/drawing/2014/main" val="1885700817"/>
                    </a:ext>
                  </a:extLst>
                </a:gridCol>
                <a:gridCol w="792928">
                  <a:extLst>
                    <a:ext uri="{9D8B030D-6E8A-4147-A177-3AD203B41FA5}">
                      <a16:colId xmlns:a16="http://schemas.microsoft.com/office/drawing/2014/main" val="1088044431"/>
                    </a:ext>
                  </a:extLst>
                </a:gridCol>
                <a:gridCol w="792928">
                  <a:extLst>
                    <a:ext uri="{9D8B030D-6E8A-4147-A177-3AD203B41FA5}">
                      <a16:colId xmlns:a16="http://schemas.microsoft.com/office/drawing/2014/main" val="770834387"/>
                    </a:ext>
                  </a:extLst>
                </a:gridCol>
                <a:gridCol w="792928">
                  <a:extLst>
                    <a:ext uri="{9D8B030D-6E8A-4147-A177-3AD203B41FA5}">
                      <a16:colId xmlns:a16="http://schemas.microsoft.com/office/drawing/2014/main" val="606773706"/>
                    </a:ext>
                  </a:extLst>
                </a:gridCol>
                <a:gridCol w="635029">
                  <a:extLst>
                    <a:ext uri="{9D8B030D-6E8A-4147-A177-3AD203B41FA5}">
                      <a16:colId xmlns:a16="http://schemas.microsoft.com/office/drawing/2014/main" val="556942298"/>
                    </a:ext>
                  </a:extLst>
                </a:gridCol>
                <a:gridCol w="949683">
                  <a:extLst>
                    <a:ext uri="{9D8B030D-6E8A-4147-A177-3AD203B41FA5}">
                      <a16:colId xmlns:a16="http://schemas.microsoft.com/office/drawing/2014/main" val="434777347"/>
                    </a:ext>
                  </a:extLst>
                </a:gridCol>
                <a:gridCol w="949683">
                  <a:extLst>
                    <a:ext uri="{9D8B030D-6E8A-4147-A177-3AD203B41FA5}">
                      <a16:colId xmlns:a16="http://schemas.microsoft.com/office/drawing/2014/main" val="10763633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Turmas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Total.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4828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Big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482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Data Science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2112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21996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2902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>
                <a:solidFill>
                  <a:schemeClr val="lt1"/>
                </a:solidFill>
              </a:rPr>
              <a:t>Teste Qui-</a:t>
            </a:r>
            <a:r>
              <a:rPr lang="en-US" sz="3000" b="1" dirty="0" err="1">
                <a:solidFill>
                  <a:schemeClr val="lt1"/>
                </a:solidFill>
              </a:rPr>
              <a:t>Quadrado</a:t>
            </a:r>
            <a:r>
              <a:rPr lang="en-US" sz="3000" b="1" i="1" dirty="0">
                <a:solidFill>
                  <a:schemeClr val="lt1"/>
                </a:solidFill>
              </a:rPr>
              <a:t> - </a:t>
            </a:r>
            <a:r>
              <a:rPr lang="en-US" sz="3000" b="1" dirty="0" err="1">
                <a:solidFill>
                  <a:schemeClr val="lt1"/>
                </a:solidFill>
              </a:rPr>
              <a:t>resolução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3" name="Shape 413"/>
              <p:cNvSpPr/>
              <p:nvPr/>
            </p:nvSpPr>
            <p:spPr>
              <a:xfrm>
                <a:off x="395287" y="1484312"/>
                <a:ext cx="8229600" cy="452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600" dirty="0">
                    <a:solidFill>
                      <a:schemeClr val="dk1"/>
                    </a:solidFill>
                  </a:rPr>
                  <a:t>Etapa 1: </a:t>
                </a:r>
                <a:r>
                  <a:rPr lang="pt-BR" sz="1600" dirty="0"/>
                  <a:t>Fixar a hipótese nula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1600" dirty="0"/>
                  <a:t>) e a hipótese alternativa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1600" dirty="0"/>
                  <a:t>)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pt-BR" sz="16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pt-BR" sz="1600" b="1" dirty="0"/>
                  <a:t>: as notas dos alunos de Big Data são iguais aos de DS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pt-BR" sz="16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</m:oMath>
                </a14:m>
                <a:r>
                  <a:rPr lang="pt-BR" sz="1600" b="1" dirty="0"/>
                  <a:t>: as notas dos alunos de Big Data são diferentes aos de DS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600" dirty="0"/>
                  <a:t>Definir o estimador: </a:t>
                </a:r>
                <a:r>
                  <a:rPr lang="pt-BR" sz="1600" b="1" dirty="0" err="1"/>
                  <a:t>qui</a:t>
                </a:r>
                <a:r>
                  <a:rPr lang="pt-BR" sz="1600" b="1" dirty="0"/>
                  <a:t>-quadrado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600" dirty="0"/>
                  <a:t>Fixar o nível de confiança: </a:t>
                </a:r>
                <a:r>
                  <a:rPr lang="pt-BR" sz="1600" b="1" dirty="0"/>
                  <a:t>95%</a:t>
                </a: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600" dirty="0"/>
                  <a:t>Obter as frequências esperadas:</a:t>
                </a: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800" dirty="0"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13" name="Shape 4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87" y="1484312"/>
                <a:ext cx="8229600" cy="4526100"/>
              </a:xfrm>
              <a:prstGeom prst="rect">
                <a:avLst/>
              </a:prstGeom>
              <a:blipFill>
                <a:blip r:embed="rId3"/>
                <a:stretch>
                  <a:fillRect l="-741" t="-363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aixaDeTexto 10"/>
          <p:cNvSpPr txBox="1"/>
          <p:nvPr/>
        </p:nvSpPr>
        <p:spPr>
          <a:xfrm>
            <a:off x="4510087" y="3576918"/>
            <a:ext cx="25809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Valor obtido por: 23*100/200</a:t>
            </a:r>
          </a:p>
        </p:txBody>
      </p:sp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5960650"/>
              </p:ext>
            </p:extLst>
          </p:nvPr>
        </p:nvGraphicFramePr>
        <p:xfrm>
          <a:off x="932040" y="4205873"/>
          <a:ext cx="6491025" cy="14833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77846">
                  <a:extLst>
                    <a:ext uri="{9D8B030D-6E8A-4147-A177-3AD203B41FA5}">
                      <a16:colId xmlns:a16="http://schemas.microsoft.com/office/drawing/2014/main" val="1885700817"/>
                    </a:ext>
                  </a:extLst>
                </a:gridCol>
                <a:gridCol w="792928">
                  <a:extLst>
                    <a:ext uri="{9D8B030D-6E8A-4147-A177-3AD203B41FA5}">
                      <a16:colId xmlns:a16="http://schemas.microsoft.com/office/drawing/2014/main" val="1088044431"/>
                    </a:ext>
                  </a:extLst>
                </a:gridCol>
                <a:gridCol w="792928">
                  <a:extLst>
                    <a:ext uri="{9D8B030D-6E8A-4147-A177-3AD203B41FA5}">
                      <a16:colId xmlns:a16="http://schemas.microsoft.com/office/drawing/2014/main" val="770834387"/>
                    </a:ext>
                  </a:extLst>
                </a:gridCol>
                <a:gridCol w="792928">
                  <a:extLst>
                    <a:ext uri="{9D8B030D-6E8A-4147-A177-3AD203B41FA5}">
                      <a16:colId xmlns:a16="http://schemas.microsoft.com/office/drawing/2014/main" val="606773706"/>
                    </a:ext>
                  </a:extLst>
                </a:gridCol>
                <a:gridCol w="635029">
                  <a:extLst>
                    <a:ext uri="{9D8B030D-6E8A-4147-A177-3AD203B41FA5}">
                      <a16:colId xmlns:a16="http://schemas.microsoft.com/office/drawing/2014/main" val="556942298"/>
                    </a:ext>
                  </a:extLst>
                </a:gridCol>
                <a:gridCol w="949683">
                  <a:extLst>
                    <a:ext uri="{9D8B030D-6E8A-4147-A177-3AD203B41FA5}">
                      <a16:colId xmlns:a16="http://schemas.microsoft.com/office/drawing/2014/main" val="434777347"/>
                    </a:ext>
                  </a:extLst>
                </a:gridCol>
                <a:gridCol w="949683">
                  <a:extLst>
                    <a:ext uri="{9D8B030D-6E8A-4147-A177-3AD203B41FA5}">
                      <a16:colId xmlns:a16="http://schemas.microsoft.com/office/drawing/2014/main" val="10763633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Turmas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Total.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4828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Big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11,5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21,5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482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Data Science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11,5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21,5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2112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2199675"/>
                  </a:ext>
                </a:extLst>
              </a:tr>
            </a:tbl>
          </a:graphicData>
        </a:graphic>
      </p:graphicFrame>
      <p:cxnSp>
        <p:nvCxnSpPr>
          <p:cNvPr id="10" name="Conector de Seta Reta 9"/>
          <p:cNvCxnSpPr>
            <a:stCxn id="11" idx="1"/>
          </p:cNvCxnSpPr>
          <p:nvPr/>
        </p:nvCxnSpPr>
        <p:spPr>
          <a:xfrm flipH="1">
            <a:off x="3110753" y="3730807"/>
            <a:ext cx="1399334" cy="10204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29290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>
                <a:solidFill>
                  <a:schemeClr val="lt1"/>
                </a:solidFill>
              </a:rPr>
              <a:t>Teste Qui-</a:t>
            </a:r>
            <a:r>
              <a:rPr lang="en-US" sz="3000" b="1" dirty="0" err="1">
                <a:solidFill>
                  <a:schemeClr val="lt1"/>
                </a:solidFill>
              </a:rPr>
              <a:t>Quadrado</a:t>
            </a:r>
            <a:r>
              <a:rPr lang="en-US" sz="3000" b="1" i="1" dirty="0">
                <a:solidFill>
                  <a:schemeClr val="lt1"/>
                </a:solidFill>
              </a:rPr>
              <a:t> - </a:t>
            </a:r>
            <a:r>
              <a:rPr lang="en-US" sz="3000" b="1" dirty="0" err="1">
                <a:solidFill>
                  <a:schemeClr val="lt1"/>
                </a:solidFill>
              </a:rPr>
              <a:t>resolução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3" name="Shape 413"/>
              <p:cNvSpPr/>
              <p:nvPr/>
            </p:nvSpPr>
            <p:spPr>
              <a:xfrm>
                <a:off x="395287" y="1484312"/>
                <a:ext cx="8229600" cy="452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600" dirty="0"/>
                  <a:t>Calcular o valor da estatística teste </a:t>
                </a:r>
                <a:r>
                  <a:rPr lang="pt-BR" sz="1600" dirty="0" err="1"/>
                  <a:t>Qui</a:t>
                </a:r>
                <a:r>
                  <a:rPr lang="pt-BR" sz="1600" dirty="0"/>
                  <a:t>-Quadrado.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pt-BR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pt-BR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1600" i="1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pt-BR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t-BR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pt-BR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  <m:e>
                        <m:f>
                          <m:fPr>
                            <m:ctrlPr>
                              <a:rPr lang="pt-BR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pt-BR" sz="16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pt-BR" sz="16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pt-BR" sz="16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6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𝑂</m:t>
                                        </m:r>
                                      </m:e>
                                      <m:sub>
                                        <m:r>
                                          <a:rPr lang="pt-BR" sz="16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pt-BR" sz="16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pt-BR" sz="16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6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e>
                                      <m:sub>
                                        <m:r>
                                          <a:rPr lang="pt-BR" sz="16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pt-BR" sz="16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b>
                              <m:sSubPr>
                                <m:ctrlPr>
                                  <a:rPr lang="pt-BR" sz="16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6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pt-BR" sz="16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nary>
                    <m:r>
                      <a:rPr lang="pt-BR" sz="16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=9,09</m:t>
                    </m:r>
                  </m:oMath>
                </a14:m>
                <a:endParaRPr lang="pt-BR" sz="1600" dirty="0">
                  <a:latin typeface="Cambria Math" panose="02040503050406030204" pitchFamily="18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i="1" dirty="0">
                  <a:latin typeface="Cambria Math" panose="02040503050406030204" pitchFamily="18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600" dirty="0">
                    <a:latin typeface="Cambria Math" panose="02040503050406030204" pitchFamily="18" charset="0"/>
                  </a:rPr>
                  <a:t>Graus de liberdade: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600" dirty="0">
                    <a:latin typeface="Cambria Math" panose="02040503050406030204" pitchFamily="18" charset="0"/>
                  </a:rPr>
                  <a:t> (# de linhas-1) * (# de colunas-1)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pt-BR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pt-B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4,  95%</m:t>
                        </m:r>
                      </m:sub>
                      <m:sup>
                        <m:r>
                          <a:rPr lang="pt-B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pt-B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a:rPr lang="pt-B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9,49</m:t>
                    </m:r>
                  </m:oMath>
                </a14:m>
                <a:r>
                  <a:rPr lang="pt-BR" sz="1600" dirty="0"/>
                  <a:t> 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600" dirty="0"/>
                  <a:t>Rejeitar ou não rejeitar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1600" dirty="0"/>
                  <a:t>? 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600" dirty="0"/>
                  <a:t>O valor de </a:t>
                </a:r>
                <a:r>
                  <a:rPr lang="pt-BR" sz="1600" b="1" dirty="0"/>
                  <a:t>9,09</a:t>
                </a:r>
                <a:r>
                  <a:rPr lang="pt-BR" sz="1600" dirty="0"/>
                  <a:t> </a:t>
                </a:r>
                <a:r>
                  <a:rPr lang="pt-BR" sz="1600" b="1" dirty="0"/>
                  <a:t>NÃO</a:t>
                </a:r>
                <a:r>
                  <a:rPr lang="pt-BR" sz="1600" dirty="0"/>
                  <a:t> está dentro da região de rejeição. Deste modo, </a:t>
                </a:r>
                <a:r>
                  <a:rPr lang="pt-BR" sz="1600" b="1" dirty="0"/>
                  <a:t>não</a:t>
                </a:r>
                <a:r>
                  <a:rPr lang="pt-BR" sz="1600" dirty="0"/>
                  <a:t> </a:t>
                </a:r>
                <a:r>
                  <a:rPr lang="pt-BR" sz="1600" b="1" dirty="0"/>
                  <a:t>rejeitamos a hipótese nula</a:t>
                </a:r>
                <a:r>
                  <a:rPr lang="pt-BR" sz="1600" dirty="0"/>
                  <a:t>, ou seja, </a:t>
                </a:r>
                <a:r>
                  <a:rPr lang="pt-BR" sz="1600" b="1" dirty="0"/>
                  <a:t>as notas de </a:t>
                </a:r>
                <a:r>
                  <a:rPr lang="pt-BR" sz="1600" b="1" i="1" dirty="0"/>
                  <a:t>Big Data</a:t>
                </a:r>
                <a:r>
                  <a:rPr lang="pt-BR" sz="1600" b="1" dirty="0"/>
                  <a:t> são similares as notas de </a:t>
                </a:r>
                <a:r>
                  <a:rPr lang="pt-BR" sz="1600" b="1" i="1" dirty="0"/>
                  <a:t>Data Science</a:t>
                </a:r>
                <a:r>
                  <a:rPr lang="pt-BR" sz="1600" dirty="0"/>
                  <a:t>.</a:t>
                </a: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800" dirty="0"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13" name="Shape 4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87" y="1484312"/>
                <a:ext cx="8229600" cy="4526100"/>
              </a:xfrm>
              <a:prstGeom prst="rect">
                <a:avLst/>
              </a:prstGeom>
              <a:blipFill>
                <a:blip r:embed="rId3"/>
                <a:stretch>
                  <a:fillRect l="-741" t="-363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aixaDeTexto 1"/>
          <p:cNvSpPr txBox="1"/>
          <p:nvPr/>
        </p:nvSpPr>
        <p:spPr>
          <a:xfrm>
            <a:off x="80683" y="5943600"/>
            <a:ext cx="47871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Ver detalhes na planilha: </a:t>
            </a:r>
            <a:r>
              <a:rPr lang="pt-BR" b="1" i="1" dirty="0"/>
              <a:t>exemplos_quiquadrado.xls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4817129" y="3957035"/>
            <a:ext cx="8785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9,49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2927839" y="3957035"/>
            <a:ext cx="19750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/>
              <a:t>O valor de </a:t>
            </a:r>
            <a:r>
              <a:rPr lang="pt-BR" sz="1000" b="1" dirty="0"/>
              <a:t>9,09</a:t>
            </a:r>
            <a:r>
              <a:rPr lang="pt-BR" sz="1000" dirty="0"/>
              <a:t> não está dentro da região de rejeição</a:t>
            </a:r>
          </a:p>
        </p:txBody>
      </p:sp>
      <p:pic>
        <p:nvPicPr>
          <p:cNvPr id="19" name="Imagem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963" y="1901960"/>
            <a:ext cx="3336325" cy="1809355"/>
          </a:xfrm>
          <a:prstGeom prst="rect">
            <a:avLst/>
          </a:prstGeom>
        </p:spPr>
      </p:pic>
      <p:cxnSp>
        <p:nvCxnSpPr>
          <p:cNvPr id="12" name="Conector de Seta Reta 11"/>
          <p:cNvCxnSpPr/>
          <p:nvPr/>
        </p:nvCxnSpPr>
        <p:spPr>
          <a:xfrm flipH="1">
            <a:off x="5290185" y="3534713"/>
            <a:ext cx="537880" cy="434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>
            <a:stCxn id="15" idx="0"/>
          </p:cNvCxnSpPr>
          <p:nvPr/>
        </p:nvCxnSpPr>
        <p:spPr>
          <a:xfrm flipV="1">
            <a:off x="3915357" y="3521725"/>
            <a:ext cx="1341042" cy="4353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57466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>
                <a:solidFill>
                  <a:schemeClr val="lt1"/>
                </a:solidFill>
              </a:rPr>
              <a:t>Teste Qui-</a:t>
            </a:r>
            <a:r>
              <a:rPr lang="en-US" sz="3000" b="1" dirty="0" err="1">
                <a:solidFill>
                  <a:schemeClr val="lt1"/>
                </a:solidFill>
              </a:rPr>
              <a:t>Quadrado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400" dirty="0">
                <a:solidFill>
                  <a:srgbClr val="FF0000"/>
                </a:solidFill>
              </a:rPr>
              <a:t>Testes de independência</a:t>
            </a:r>
            <a:r>
              <a:rPr lang="pt-BR" sz="2400" dirty="0">
                <a:solidFill>
                  <a:schemeClr val="dk1"/>
                </a:solidFill>
              </a:rPr>
              <a:t> visam verificar a existência de associação entre 2 variáveis categóricas: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1600" dirty="0">
                <a:solidFill>
                  <a:schemeClr val="dk1"/>
                </a:solidFill>
              </a:rPr>
              <a:t>Problema exemplo: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1600" dirty="0">
                <a:solidFill>
                  <a:schemeClr val="dk1"/>
                </a:solidFill>
              </a:rPr>
              <a:t>Existe associação entre o número de reclamações e o nível de renda dos clientes? Vejamos os dados da tabela: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>
              <a:latin typeface="Arial" panose="020B0604020202020204" pitchFamily="34" charset="0"/>
            </a:endParaRPr>
          </a:p>
        </p:txBody>
      </p:sp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5579113"/>
              </p:ext>
            </p:extLst>
          </p:nvPr>
        </p:nvGraphicFramePr>
        <p:xfrm>
          <a:off x="1462087" y="3785372"/>
          <a:ext cx="6096000" cy="22250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33953438"/>
                    </a:ext>
                  </a:extLst>
                </a:gridCol>
                <a:gridCol w="1630737">
                  <a:extLst>
                    <a:ext uri="{9D8B030D-6E8A-4147-A177-3AD203B41FA5}">
                      <a16:colId xmlns:a16="http://schemas.microsoft.com/office/drawing/2014/main" val="2442656542"/>
                    </a:ext>
                  </a:extLst>
                </a:gridCol>
                <a:gridCol w="1855694">
                  <a:extLst>
                    <a:ext uri="{9D8B030D-6E8A-4147-A177-3AD203B41FA5}">
                      <a16:colId xmlns:a16="http://schemas.microsoft.com/office/drawing/2014/main" val="3866134092"/>
                    </a:ext>
                  </a:extLst>
                </a:gridCol>
                <a:gridCol w="1085569">
                  <a:extLst>
                    <a:ext uri="{9D8B030D-6E8A-4147-A177-3AD203B41FA5}">
                      <a16:colId xmlns:a16="http://schemas.microsoft.com/office/drawing/2014/main" val="41351712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Renda</a:t>
                      </a: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&lt;</a:t>
                      </a:r>
                      <a:r>
                        <a:rPr lang="pt-BR" sz="1200" baseline="0" dirty="0"/>
                        <a:t> 106 reclamações</a:t>
                      </a:r>
                      <a:endParaRPr lang="pt-BR" sz="1200" dirty="0"/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1200" baseline="0" dirty="0"/>
                        <a:t>&gt;= 106 reclamações</a:t>
                      </a:r>
                      <a:endParaRPr lang="pt-BR" sz="1200" dirty="0"/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Total</a:t>
                      </a: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507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2079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890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039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D+E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4906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26321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91244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>
                <a:solidFill>
                  <a:schemeClr val="lt1"/>
                </a:solidFill>
              </a:rPr>
              <a:t>Teste Qui-</a:t>
            </a:r>
            <a:r>
              <a:rPr lang="en-US" sz="3000" b="1" dirty="0" err="1">
                <a:solidFill>
                  <a:schemeClr val="lt1"/>
                </a:solidFill>
              </a:rPr>
              <a:t>Quadrado</a:t>
            </a:r>
            <a:r>
              <a:rPr lang="en-US" sz="3000" b="1" i="1" dirty="0">
                <a:solidFill>
                  <a:schemeClr val="lt1"/>
                </a:solidFill>
              </a:rPr>
              <a:t> - </a:t>
            </a:r>
            <a:r>
              <a:rPr lang="en-US" sz="3000" b="1" dirty="0" err="1">
                <a:solidFill>
                  <a:schemeClr val="lt1"/>
                </a:solidFill>
              </a:rPr>
              <a:t>resolução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3" name="Shape 413"/>
              <p:cNvSpPr/>
              <p:nvPr/>
            </p:nvSpPr>
            <p:spPr>
              <a:xfrm>
                <a:off x="395287" y="1484312"/>
                <a:ext cx="8229600" cy="452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600" dirty="0">
                    <a:solidFill>
                      <a:schemeClr val="dk1"/>
                    </a:solidFill>
                  </a:rPr>
                  <a:t>Etapa 1: </a:t>
                </a:r>
                <a:r>
                  <a:rPr lang="pt-BR" sz="1600" dirty="0"/>
                  <a:t>Fixar a hipótese nula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1600" dirty="0"/>
                  <a:t>) e a hipótese alternativa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1600" dirty="0"/>
                  <a:t>)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pt-BR" sz="16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pt-BR" sz="1600" b="1" dirty="0"/>
                  <a:t>: não Existe associação entre nível de renda e número de reclamações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pt-BR" sz="16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</m:oMath>
                </a14:m>
                <a:r>
                  <a:rPr lang="pt-BR" sz="1600" b="1"/>
                  <a:t>: Existe </a:t>
                </a:r>
                <a:r>
                  <a:rPr lang="pt-BR" sz="1600" b="1" dirty="0"/>
                  <a:t>associação entre nível de renda e número de reclamações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600" dirty="0"/>
                  <a:t>Definir o estimador: </a:t>
                </a:r>
                <a:r>
                  <a:rPr lang="pt-BR" sz="1600" b="1" dirty="0" err="1"/>
                  <a:t>qui</a:t>
                </a:r>
                <a:r>
                  <a:rPr lang="pt-BR" sz="1600" b="1" dirty="0"/>
                  <a:t>-quadrado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600" dirty="0"/>
                  <a:t>Fixar o nível de confiança: </a:t>
                </a:r>
                <a:r>
                  <a:rPr lang="pt-BR" sz="1600" b="1" dirty="0"/>
                  <a:t>95%</a:t>
                </a: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600" dirty="0"/>
                  <a:t>Obter as frequências esperadas:</a:t>
                </a: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800" dirty="0"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13" name="Shape 4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87" y="1484312"/>
                <a:ext cx="8229600" cy="4526100"/>
              </a:xfrm>
              <a:prstGeom prst="rect">
                <a:avLst/>
              </a:prstGeom>
              <a:blipFill>
                <a:blip r:embed="rId3"/>
                <a:stretch>
                  <a:fillRect l="-741" t="-363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aixaDeTexto 10"/>
          <p:cNvSpPr txBox="1"/>
          <p:nvPr/>
        </p:nvSpPr>
        <p:spPr>
          <a:xfrm>
            <a:off x="4510087" y="3576918"/>
            <a:ext cx="25809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Valor obtido por: 40*18/80</a:t>
            </a:r>
          </a:p>
        </p:txBody>
      </p:sp>
      <p:cxnSp>
        <p:nvCxnSpPr>
          <p:cNvPr id="10" name="Conector de Seta Reta 9"/>
          <p:cNvCxnSpPr>
            <a:stCxn id="11" idx="1"/>
          </p:cNvCxnSpPr>
          <p:nvPr/>
        </p:nvCxnSpPr>
        <p:spPr>
          <a:xfrm flipH="1">
            <a:off x="3917577" y="3730807"/>
            <a:ext cx="592510" cy="7784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ela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9100315"/>
              </p:ext>
            </p:extLst>
          </p:nvPr>
        </p:nvGraphicFramePr>
        <p:xfrm>
          <a:off x="1462087" y="3964666"/>
          <a:ext cx="6096000" cy="22250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33953438"/>
                    </a:ext>
                  </a:extLst>
                </a:gridCol>
                <a:gridCol w="1630737">
                  <a:extLst>
                    <a:ext uri="{9D8B030D-6E8A-4147-A177-3AD203B41FA5}">
                      <a16:colId xmlns:a16="http://schemas.microsoft.com/office/drawing/2014/main" val="2442656542"/>
                    </a:ext>
                  </a:extLst>
                </a:gridCol>
                <a:gridCol w="1855694">
                  <a:extLst>
                    <a:ext uri="{9D8B030D-6E8A-4147-A177-3AD203B41FA5}">
                      <a16:colId xmlns:a16="http://schemas.microsoft.com/office/drawing/2014/main" val="3866134092"/>
                    </a:ext>
                  </a:extLst>
                </a:gridCol>
                <a:gridCol w="1085569">
                  <a:extLst>
                    <a:ext uri="{9D8B030D-6E8A-4147-A177-3AD203B41FA5}">
                      <a16:colId xmlns:a16="http://schemas.microsoft.com/office/drawing/2014/main" val="41351712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Renda</a:t>
                      </a: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&lt;</a:t>
                      </a:r>
                      <a:r>
                        <a:rPr lang="pt-BR" sz="1200" baseline="0" dirty="0"/>
                        <a:t> 106 reclamações</a:t>
                      </a:r>
                      <a:endParaRPr lang="pt-BR" sz="1200" dirty="0"/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1200" baseline="0" dirty="0"/>
                        <a:t>&gt;= 106 reclamações</a:t>
                      </a:r>
                      <a:endParaRPr lang="pt-BR" sz="1200" dirty="0"/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Total</a:t>
                      </a: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507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2079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890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9,5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9,5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039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D+E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11,5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11,5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4906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26321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0668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>
                <a:solidFill>
                  <a:schemeClr val="lt1"/>
                </a:solidFill>
              </a:rPr>
              <a:t>Teste Qui-</a:t>
            </a:r>
            <a:r>
              <a:rPr lang="en-US" sz="3000" b="1" dirty="0" err="1">
                <a:solidFill>
                  <a:schemeClr val="lt1"/>
                </a:solidFill>
              </a:rPr>
              <a:t>Quadrado</a:t>
            </a:r>
            <a:r>
              <a:rPr lang="en-US" sz="3000" b="1" i="1" dirty="0">
                <a:solidFill>
                  <a:schemeClr val="lt1"/>
                </a:solidFill>
              </a:rPr>
              <a:t> - </a:t>
            </a:r>
            <a:r>
              <a:rPr lang="en-US" sz="3000" b="1" dirty="0" err="1">
                <a:solidFill>
                  <a:schemeClr val="lt1"/>
                </a:solidFill>
              </a:rPr>
              <a:t>resolução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3" name="Shape 413"/>
              <p:cNvSpPr/>
              <p:nvPr/>
            </p:nvSpPr>
            <p:spPr>
              <a:xfrm>
                <a:off x="395287" y="1484312"/>
                <a:ext cx="8229600" cy="452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600" dirty="0"/>
                  <a:t>Calcular o valor da estatística teste </a:t>
                </a:r>
                <a:r>
                  <a:rPr lang="pt-BR" sz="1600" dirty="0" err="1"/>
                  <a:t>Qui</a:t>
                </a:r>
                <a:r>
                  <a:rPr lang="pt-BR" sz="1600" dirty="0"/>
                  <a:t>-Quadrado.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pt-BR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pt-BR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1600" i="1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pt-BR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t-BR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pt-BR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  <m:e>
                        <m:f>
                          <m:fPr>
                            <m:ctrlPr>
                              <a:rPr lang="pt-BR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pt-BR" sz="16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pt-BR" sz="16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pt-BR" sz="16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6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𝑂</m:t>
                                        </m:r>
                                      </m:e>
                                      <m:sub>
                                        <m:r>
                                          <a:rPr lang="pt-BR" sz="16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pt-BR" sz="16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pt-BR" sz="16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6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e>
                                      <m:sub>
                                        <m:r>
                                          <a:rPr lang="pt-BR" sz="16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pt-BR" sz="16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b>
                              <m:sSubPr>
                                <m:ctrlPr>
                                  <a:rPr lang="pt-BR" sz="16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6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pt-BR" sz="16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nary>
                    <m:r>
                      <a:rPr lang="pt-BR" sz="16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=1,54</m:t>
                    </m:r>
                  </m:oMath>
                </a14:m>
                <a:endParaRPr lang="pt-BR" sz="1600" dirty="0">
                  <a:latin typeface="Cambria Math" panose="02040503050406030204" pitchFamily="18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i="1" dirty="0">
                  <a:latin typeface="Cambria Math" panose="02040503050406030204" pitchFamily="18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600" dirty="0">
                    <a:latin typeface="Cambria Math" panose="02040503050406030204" pitchFamily="18" charset="0"/>
                  </a:rPr>
                  <a:t>Graus de liberdade: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600" dirty="0">
                    <a:latin typeface="Cambria Math" panose="02040503050406030204" pitchFamily="18" charset="0"/>
                  </a:rPr>
                  <a:t> (# de linhas-1) * (# de colunas-1)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pt-BR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pt-B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3,  95%</m:t>
                        </m:r>
                      </m:sub>
                      <m:sup>
                        <m:r>
                          <a:rPr lang="pt-B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pt-B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a:rPr lang="pt-B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7,81</m:t>
                    </m:r>
                  </m:oMath>
                </a14:m>
                <a:r>
                  <a:rPr lang="pt-BR" sz="1600" dirty="0"/>
                  <a:t> 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600" dirty="0"/>
                  <a:t>Rejeitar ou não rejeitar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1600" dirty="0"/>
                  <a:t>? 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600" dirty="0"/>
                  <a:t>O valor de </a:t>
                </a:r>
                <a:r>
                  <a:rPr lang="pt-BR" sz="1600" b="1" dirty="0"/>
                  <a:t>1,54</a:t>
                </a:r>
                <a:r>
                  <a:rPr lang="pt-BR" sz="1600" dirty="0"/>
                  <a:t> </a:t>
                </a:r>
                <a:r>
                  <a:rPr lang="pt-BR" sz="1600" b="1" dirty="0"/>
                  <a:t>NÃO</a:t>
                </a:r>
                <a:r>
                  <a:rPr lang="pt-BR" sz="1600" dirty="0"/>
                  <a:t> está dentro da região de rejeição. Deste modo, </a:t>
                </a:r>
                <a:r>
                  <a:rPr lang="pt-BR" sz="1600" b="1" dirty="0"/>
                  <a:t>não</a:t>
                </a:r>
                <a:r>
                  <a:rPr lang="pt-BR" sz="1600" dirty="0"/>
                  <a:t> </a:t>
                </a:r>
                <a:r>
                  <a:rPr lang="pt-BR" sz="1600" b="1" dirty="0"/>
                  <a:t>rejeitamos a hipótese nula</a:t>
                </a:r>
                <a:r>
                  <a:rPr lang="pt-BR" sz="1600" dirty="0"/>
                  <a:t>, ou seja, </a:t>
                </a:r>
                <a:r>
                  <a:rPr lang="pt-BR" sz="1600" b="1" dirty="0"/>
                  <a:t>não existe associação entre renda e número de reclamações</a:t>
                </a:r>
                <a:r>
                  <a:rPr lang="pt-BR" sz="1600" dirty="0"/>
                  <a:t>.</a:t>
                </a: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800" dirty="0"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13" name="Shape 4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87" y="1484312"/>
                <a:ext cx="8229600" cy="4526100"/>
              </a:xfrm>
              <a:prstGeom prst="rect">
                <a:avLst/>
              </a:prstGeom>
              <a:blipFill>
                <a:blip r:embed="rId3"/>
                <a:stretch>
                  <a:fillRect l="-741" t="-363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aixaDeTexto 1"/>
          <p:cNvSpPr txBox="1"/>
          <p:nvPr/>
        </p:nvSpPr>
        <p:spPr>
          <a:xfrm>
            <a:off x="80683" y="5943600"/>
            <a:ext cx="47871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Ver detalhes na planilha: </a:t>
            </a:r>
            <a:r>
              <a:rPr lang="pt-BR" b="1" i="1" dirty="0"/>
              <a:t>exemplos_quiquadrado.xls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4817129" y="3957035"/>
            <a:ext cx="8785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7,81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2927839" y="3957035"/>
            <a:ext cx="19750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/>
              <a:t>O valor de </a:t>
            </a:r>
            <a:r>
              <a:rPr lang="pt-BR" sz="1000" b="1" dirty="0"/>
              <a:t>1,54</a:t>
            </a:r>
            <a:r>
              <a:rPr lang="pt-BR" sz="1000" dirty="0"/>
              <a:t> não está dentro da região de rejeição</a:t>
            </a:r>
          </a:p>
        </p:txBody>
      </p:sp>
      <p:pic>
        <p:nvPicPr>
          <p:cNvPr id="19" name="Imagem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963" y="1901960"/>
            <a:ext cx="3336325" cy="1809355"/>
          </a:xfrm>
          <a:prstGeom prst="rect">
            <a:avLst/>
          </a:prstGeom>
        </p:spPr>
      </p:pic>
      <p:cxnSp>
        <p:nvCxnSpPr>
          <p:cNvPr id="12" name="Conector de Seta Reta 11"/>
          <p:cNvCxnSpPr/>
          <p:nvPr/>
        </p:nvCxnSpPr>
        <p:spPr>
          <a:xfrm flipH="1">
            <a:off x="5290185" y="3534713"/>
            <a:ext cx="537880" cy="434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>
            <a:stCxn id="15" idx="0"/>
          </p:cNvCxnSpPr>
          <p:nvPr/>
        </p:nvCxnSpPr>
        <p:spPr>
          <a:xfrm flipV="1">
            <a:off x="3915357" y="3521725"/>
            <a:ext cx="1341042" cy="4353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16221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Arial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Problema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13" name="Shape 413"/>
          <p:cNvSpPr/>
          <p:nvPr/>
        </p:nvSpPr>
        <p:spPr>
          <a:xfrm>
            <a:off x="395288" y="1484312"/>
            <a:ext cx="3325065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endParaRPr lang="pt-BR" altLang="pt-BR" sz="1600" dirty="0">
              <a:latin typeface="Arial" panose="020B0604020202020204" pitchFamily="34" charset="0"/>
            </a:endParaRP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r>
              <a:rPr lang="pt-BR" altLang="pt-BR" sz="1600" noProof="0" dirty="0">
                <a:latin typeface="Arial" panose="020B0604020202020204" pitchFamily="34" charset="0"/>
              </a:rPr>
              <a:t>A cerveja é a bebida alcoólica mais consumida no mundo.</a:t>
            </a: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endParaRPr kumimoji="0" lang="pt-BR" altLang="pt-BR" sz="1600" b="0" i="0" u="none" strike="noStrike" kern="0" cap="none" spc="0" normalizeH="0" baseline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r>
              <a:rPr lang="pt-BR" altLang="pt-BR" sz="1600" dirty="0">
                <a:latin typeface="Arial" panose="020B0604020202020204" pitchFamily="34" charset="0"/>
              </a:rPr>
              <a:t>Em 2018, o Brasil esteve entre os 3 principais países produtores de cerveja do mundo</a:t>
            </a:r>
            <a:r>
              <a:rPr lang="pt-BR" altLang="pt-BR" sz="1600" noProof="0" dirty="0">
                <a:latin typeface="Arial" panose="020B0604020202020204" pitchFamily="34" charset="0"/>
              </a:rPr>
              <a:t>.</a:t>
            </a:r>
            <a:endParaRPr kumimoji="0" lang="pt-BR" altLang="pt-B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endParaRPr kumimoji="0" lang="pt-BR" altLang="pt-B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endParaRPr kumimoji="0" lang="pt-BR" altLang="pt-B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endParaRPr kumimoji="0" lang="pt-BR" altLang="pt-B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endParaRPr kumimoji="0" lang="pt-BR" altLang="pt-B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endParaRPr kumimoji="0" lang="pt-BR" altLang="pt-B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endParaRPr kumimoji="0" lang="pt-BR" altLang="pt-B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endParaRPr kumimoji="0" lang="pt-BR" altLang="pt-B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pPr marL="508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tabLst/>
              <a:defRPr/>
            </a:pPr>
            <a:endParaRPr kumimoji="0" lang="pt-BR" altLang="pt-B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  <a:tabLst/>
              <a:defRPr/>
            </a:pPr>
            <a:endParaRPr kumimoji="0" lang="pt-BR" altLang="pt-B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1111624" y="4625417"/>
            <a:ext cx="3980329" cy="13849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Qual o tipo de cerveja preferida dos homens</a:t>
            </a:r>
            <a:r>
              <a:rPr kumimoji="0" lang="pt-BR" sz="2800" b="1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e das mulheres?</a:t>
            </a:r>
            <a:endParaRPr kumimoji="0" lang="pt-BR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074" name="Picture 2" descr="Resultado de imagem para mercado de cerveja no brasil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76"/>
          <a:stretch/>
        </p:blipFill>
        <p:spPr bwMode="auto">
          <a:xfrm>
            <a:off x="5353026" y="4701564"/>
            <a:ext cx="2473172" cy="1308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/>
          <p:cNvSpPr txBox="1"/>
          <p:nvPr/>
        </p:nvSpPr>
        <p:spPr>
          <a:xfrm>
            <a:off x="-53790" y="6091097"/>
            <a:ext cx="74496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 err="1"/>
              <a:t>Fonte:</a:t>
            </a:r>
            <a:r>
              <a:rPr lang="pt-BR" sz="1000" dirty="0" err="1">
                <a:hlinkClick r:id="rId4"/>
              </a:rPr>
              <a:t>https</a:t>
            </a:r>
            <a:r>
              <a:rPr lang="pt-BR" sz="1000" dirty="0">
                <a:hlinkClick r:id="rId4"/>
              </a:rPr>
              <a:t>://www.kirinholdings.co.jp/english/news/2019/1003_01.html</a:t>
            </a:r>
            <a:endParaRPr lang="pt-BR" sz="1000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3788" y="1712819"/>
            <a:ext cx="5098956" cy="2159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3505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Resolução</a:t>
            </a:r>
            <a:r>
              <a:rPr lang="en-US" sz="3000" b="1" dirty="0">
                <a:solidFill>
                  <a:schemeClr val="lt1"/>
                </a:solidFill>
              </a:rPr>
              <a:t> do </a:t>
            </a:r>
            <a:r>
              <a:rPr lang="en-US" sz="3000" b="1" dirty="0" err="1">
                <a:solidFill>
                  <a:schemeClr val="lt1"/>
                </a:solidFill>
              </a:rPr>
              <a:t>problema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000" dirty="0">
                <a:solidFill>
                  <a:schemeClr val="dk1"/>
                </a:solidFill>
              </a:rPr>
              <a:t>A seguinte pesquisa foi realizada: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0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0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0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0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0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0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0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0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2000" dirty="0">
                <a:solidFill>
                  <a:schemeClr val="dk1"/>
                </a:solidFill>
              </a:rPr>
              <a:t>Vamos seguir as etapas para testar a hipótese.</a:t>
            </a: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0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18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2400" dirty="0">
              <a:solidFill>
                <a:schemeClr val="dk1"/>
              </a:solidFill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altLang="pt-BR" sz="2800" dirty="0">
              <a:latin typeface="Arial" panose="020B0604020202020204" pitchFamily="34" charset="0"/>
            </a:endParaRPr>
          </a:p>
        </p:txBody>
      </p:sp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6772890"/>
              </p:ext>
            </p:extLst>
          </p:nvPr>
        </p:nvGraphicFramePr>
        <p:xfrm>
          <a:off x="1022397" y="2218709"/>
          <a:ext cx="7099205" cy="2148829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419841">
                  <a:extLst>
                    <a:ext uri="{9D8B030D-6E8A-4147-A177-3AD203B41FA5}">
                      <a16:colId xmlns:a16="http://schemas.microsoft.com/office/drawing/2014/main" val="3957938551"/>
                    </a:ext>
                  </a:extLst>
                </a:gridCol>
                <a:gridCol w="1419841">
                  <a:extLst>
                    <a:ext uri="{9D8B030D-6E8A-4147-A177-3AD203B41FA5}">
                      <a16:colId xmlns:a16="http://schemas.microsoft.com/office/drawing/2014/main" val="3673407846"/>
                    </a:ext>
                  </a:extLst>
                </a:gridCol>
                <a:gridCol w="1419841">
                  <a:extLst>
                    <a:ext uri="{9D8B030D-6E8A-4147-A177-3AD203B41FA5}">
                      <a16:colId xmlns:a16="http://schemas.microsoft.com/office/drawing/2014/main" val="1028611027"/>
                    </a:ext>
                  </a:extLst>
                </a:gridCol>
                <a:gridCol w="1419841">
                  <a:extLst>
                    <a:ext uri="{9D8B030D-6E8A-4147-A177-3AD203B41FA5}">
                      <a16:colId xmlns:a16="http://schemas.microsoft.com/office/drawing/2014/main" val="1626097544"/>
                    </a:ext>
                  </a:extLst>
                </a:gridCol>
                <a:gridCol w="1419841">
                  <a:extLst>
                    <a:ext uri="{9D8B030D-6E8A-4147-A177-3AD203B41FA5}">
                      <a16:colId xmlns:a16="http://schemas.microsoft.com/office/drawing/2014/main" val="1009370435"/>
                    </a:ext>
                  </a:extLst>
                </a:gridCol>
              </a:tblGrid>
              <a:tr h="75757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Gênero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i="1" dirty="0"/>
                        <a:t>Light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Comum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Escura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Total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7566421"/>
                  </a:ext>
                </a:extLst>
              </a:tr>
              <a:tr h="463752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Masculino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5192338"/>
                  </a:ext>
                </a:extLst>
              </a:tr>
              <a:tr h="463752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Feminino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6608319"/>
                  </a:ext>
                </a:extLst>
              </a:tr>
              <a:tr h="463752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3776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03255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>
                <a:solidFill>
                  <a:schemeClr val="lt1"/>
                </a:solidFill>
              </a:rPr>
              <a:t>Teste Qui-</a:t>
            </a:r>
            <a:r>
              <a:rPr lang="en-US" sz="3000" b="1" dirty="0" err="1">
                <a:solidFill>
                  <a:schemeClr val="lt1"/>
                </a:solidFill>
              </a:rPr>
              <a:t>Quadrado</a:t>
            </a:r>
            <a:r>
              <a:rPr lang="en-US" sz="3000" b="1" i="1" dirty="0">
                <a:solidFill>
                  <a:schemeClr val="lt1"/>
                </a:solidFill>
              </a:rPr>
              <a:t> - </a:t>
            </a:r>
            <a:r>
              <a:rPr lang="en-US" sz="3000" b="1" dirty="0" err="1">
                <a:solidFill>
                  <a:schemeClr val="lt1"/>
                </a:solidFill>
              </a:rPr>
              <a:t>resolução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3" name="Shape 413"/>
              <p:cNvSpPr/>
              <p:nvPr/>
            </p:nvSpPr>
            <p:spPr>
              <a:xfrm>
                <a:off x="395287" y="1484312"/>
                <a:ext cx="8229600" cy="452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600" dirty="0">
                    <a:solidFill>
                      <a:schemeClr val="dk1"/>
                    </a:solidFill>
                  </a:rPr>
                  <a:t>Etapa 1: </a:t>
                </a:r>
                <a:r>
                  <a:rPr lang="pt-BR" sz="1600" dirty="0"/>
                  <a:t>Fixar a hipótese nula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1600" dirty="0"/>
                  <a:t>) e a hipótese alternativa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1600" dirty="0"/>
                  <a:t>)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pt-BR" sz="16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pt-BR" sz="1600" b="1" dirty="0"/>
                  <a:t>: não Existe associação entre tipo de cerveja e gênero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pt-BR" sz="16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</m:oMath>
                </a14:m>
                <a:r>
                  <a:rPr lang="pt-BR" sz="1600" b="1" dirty="0"/>
                  <a:t>: Existe associação entre tipo de cerveja e gênero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600" dirty="0"/>
                  <a:t>Definir o estimador: </a:t>
                </a:r>
                <a:r>
                  <a:rPr lang="pt-BR" sz="1600" b="1" dirty="0" err="1"/>
                  <a:t>qui</a:t>
                </a:r>
                <a:r>
                  <a:rPr lang="pt-BR" sz="1600" b="1" dirty="0"/>
                  <a:t>-quadrado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600" dirty="0"/>
                  <a:t>Fixar o nível de confiança: </a:t>
                </a:r>
                <a:r>
                  <a:rPr lang="pt-BR" sz="1600" b="1" dirty="0"/>
                  <a:t>95%</a:t>
                </a: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600" dirty="0"/>
                  <a:t>Obter as frequências esperadas:</a:t>
                </a: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800" dirty="0"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13" name="Shape 4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87" y="1484312"/>
                <a:ext cx="8229600" cy="4526100"/>
              </a:xfrm>
              <a:prstGeom prst="rect">
                <a:avLst/>
              </a:prstGeom>
              <a:blipFill>
                <a:blip r:embed="rId3"/>
                <a:stretch>
                  <a:fillRect l="-741" t="-363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aixaDeTexto 10"/>
          <p:cNvSpPr txBox="1"/>
          <p:nvPr/>
        </p:nvSpPr>
        <p:spPr>
          <a:xfrm>
            <a:off x="4796957" y="3204184"/>
            <a:ext cx="25809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Valor obtido por: 50*80/150</a:t>
            </a:r>
          </a:p>
        </p:txBody>
      </p:sp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4701039"/>
              </p:ext>
            </p:extLst>
          </p:nvPr>
        </p:nvGraphicFramePr>
        <p:xfrm>
          <a:off x="960484" y="3926971"/>
          <a:ext cx="7099205" cy="2148829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419841">
                  <a:extLst>
                    <a:ext uri="{9D8B030D-6E8A-4147-A177-3AD203B41FA5}">
                      <a16:colId xmlns:a16="http://schemas.microsoft.com/office/drawing/2014/main" val="3957938551"/>
                    </a:ext>
                  </a:extLst>
                </a:gridCol>
                <a:gridCol w="1419841">
                  <a:extLst>
                    <a:ext uri="{9D8B030D-6E8A-4147-A177-3AD203B41FA5}">
                      <a16:colId xmlns:a16="http://schemas.microsoft.com/office/drawing/2014/main" val="3673407846"/>
                    </a:ext>
                  </a:extLst>
                </a:gridCol>
                <a:gridCol w="1419841">
                  <a:extLst>
                    <a:ext uri="{9D8B030D-6E8A-4147-A177-3AD203B41FA5}">
                      <a16:colId xmlns:a16="http://schemas.microsoft.com/office/drawing/2014/main" val="1028611027"/>
                    </a:ext>
                  </a:extLst>
                </a:gridCol>
                <a:gridCol w="1419841">
                  <a:extLst>
                    <a:ext uri="{9D8B030D-6E8A-4147-A177-3AD203B41FA5}">
                      <a16:colId xmlns:a16="http://schemas.microsoft.com/office/drawing/2014/main" val="1626097544"/>
                    </a:ext>
                  </a:extLst>
                </a:gridCol>
                <a:gridCol w="1419841">
                  <a:extLst>
                    <a:ext uri="{9D8B030D-6E8A-4147-A177-3AD203B41FA5}">
                      <a16:colId xmlns:a16="http://schemas.microsoft.com/office/drawing/2014/main" val="1009370435"/>
                    </a:ext>
                  </a:extLst>
                </a:gridCol>
              </a:tblGrid>
              <a:tr h="75757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Gênero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i="1" dirty="0"/>
                        <a:t>Light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Comum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Escura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Total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7566421"/>
                  </a:ext>
                </a:extLst>
              </a:tr>
              <a:tr h="463752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Masculino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26,6666667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37,33333333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5192338"/>
                  </a:ext>
                </a:extLst>
              </a:tr>
              <a:tr h="463752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Feminino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23,3333333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32,66666667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6608319"/>
                  </a:ext>
                </a:extLst>
              </a:tr>
              <a:tr h="463752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377615"/>
                  </a:ext>
                </a:extLst>
              </a:tr>
            </a:tbl>
          </a:graphicData>
        </a:graphic>
      </p:graphicFrame>
      <p:cxnSp>
        <p:nvCxnSpPr>
          <p:cNvPr id="10" name="Conector de Seta Reta 9"/>
          <p:cNvCxnSpPr>
            <a:stCxn id="11" idx="1"/>
          </p:cNvCxnSpPr>
          <p:nvPr/>
        </p:nvCxnSpPr>
        <p:spPr>
          <a:xfrm flipH="1">
            <a:off x="3567953" y="3358073"/>
            <a:ext cx="1229004" cy="1447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42077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>
                <a:solidFill>
                  <a:schemeClr val="lt1"/>
                </a:solidFill>
              </a:rPr>
              <a:t>Teste Qui-</a:t>
            </a:r>
            <a:r>
              <a:rPr lang="en-US" sz="3000" b="1" dirty="0" err="1">
                <a:solidFill>
                  <a:schemeClr val="lt1"/>
                </a:solidFill>
              </a:rPr>
              <a:t>Quadrado</a:t>
            </a:r>
            <a:r>
              <a:rPr lang="en-US" sz="3000" b="1" i="1" dirty="0">
                <a:solidFill>
                  <a:schemeClr val="lt1"/>
                </a:solidFill>
              </a:rPr>
              <a:t> - </a:t>
            </a:r>
            <a:r>
              <a:rPr lang="en-US" sz="3000" b="1" dirty="0" err="1">
                <a:solidFill>
                  <a:schemeClr val="lt1"/>
                </a:solidFill>
              </a:rPr>
              <a:t>resolução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3" name="Shape 413"/>
              <p:cNvSpPr/>
              <p:nvPr/>
            </p:nvSpPr>
            <p:spPr>
              <a:xfrm>
                <a:off x="395287" y="1484312"/>
                <a:ext cx="8229600" cy="452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600" dirty="0"/>
                  <a:t>Calcular o valor da estatística teste </a:t>
                </a:r>
                <a:r>
                  <a:rPr lang="pt-BR" sz="1600" dirty="0" err="1"/>
                  <a:t>Qui</a:t>
                </a:r>
                <a:r>
                  <a:rPr lang="pt-BR" sz="1600" dirty="0"/>
                  <a:t>-Quadrado.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pt-BR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pt-BR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1600" i="1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pt-BR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t-BR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pt-BR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  <m:e>
                        <m:f>
                          <m:fPr>
                            <m:ctrlPr>
                              <a:rPr lang="pt-BR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pt-BR" sz="16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pt-BR" sz="16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pt-BR" sz="16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6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𝑂</m:t>
                                        </m:r>
                                      </m:e>
                                      <m:sub>
                                        <m:r>
                                          <a:rPr lang="pt-BR" sz="16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pt-BR" sz="16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pt-BR" sz="16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6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e>
                                      <m:sub>
                                        <m:r>
                                          <a:rPr lang="pt-BR" sz="16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pt-BR" sz="16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b>
                              <m:sSubPr>
                                <m:ctrlPr>
                                  <a:rPr lang="pt-BR" sz="16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6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pt-BR" sz="16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nary>
                    <m:r>
                      <a:rPr lang="pt-BR" sz="16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=6,12</m:t>
                    </m:r>
                  </m:oMath>
                </a14:m>
                <a:endParaRPr lang="pt-BR" sz="1600" dirty="0">
                  <a:latin typeface="Cambria Math" panose="02040503050406030204" pitchFamily="18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i="1" dirty="0">
                  <a:latin typeface="Cambria Math" panose="02040503050406030204" pitchFamily="18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600" dirty="0">
                    <a:latin typeface="Cambria Math" panose="02040503050406030204" pitchFamily="18" charset="0"/>
                  </a:rPr>
                  <a:t>Graus de liberdade: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600" dirty="0">
                    <a:latin typeface="Cambria Math" panose="02040503050406030204" pitchFamily="18" charset="0"/>
                  </a:rPr>
                  <a:t> (# de linhas-1) * (# de colunas-1)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pt-BR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pt-B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2,  95%</m:t>
                        </m:r>
                      </m:sub>
                      <m:sup>
                        <m:r>
                          <a:rPr lang="pt-B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pt-B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a:rPr lang="pt-B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5,99</m:t>
                    </m:r>
                  </m:oMath>
                </a14:m>
                <a:r>
                  <a:rPr lang="pt-BR" sz="1600" dirty="0"/>
                  <a:t> 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1600" dirty="0"/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600" dirty="0"/>
                  <a:t>Rejeitar ou não rejeitar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1600" dirty="0"/>
                  <a:t>? </a:t>
                </a: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r>
                  <a:rPr lang="pt-BR" sz="1600" dirty="0"/>
                  <a:t>O valor de </a:t>
                </a:r>
                <a:r>
                  <a:rPr lang="pt-BR" sz="1600" b="1" dirty="0"/>
                  <a:t>6,12</a:t>
                </a:r>
                <a:r>
                  <a:rPr lang="pt-BR" sz="1600" dirty="0"/>
                  <a:t> está dentro da região de rejeição. Deste modo, </a:t>
                </a:r>
                <a:r>
                  <a:rPr lang="pt-BR" sz="1600" b="1" dirty="0"/>
                  <a:t>rejeitamos a hipótese nula</a:t>
                </a:r>
                <a:r>
                  <a:rPr lang="pt-BR" sz="1600" dirty="0"/>
                  <a:t>, ou seja, </a:t>
                </a:r>
                <a:r>
                  <a:rPr lang="pt-BR" sz="1600" b="1" dirty="0"/>
                  <a:t>existe associação entre gênero e tipo de cerveja</a:t>
                </a:r>
                <a:r>
                  <a:rPr lang="pt-BR" sz="1600" dirty="0"/>
                  <a:t>.</a:t>
                </a: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lvl="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sz="2400" dirty="0">
                  <a:solidFill>
                    <a:schemeClr val="dk1"/>
                  </a:solidFill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400" dirty="0">
                  <a:latin typeface="Arial" panose="020B0604020202020204" pitchFamily="34" charset="0"/>
                </a:endParaRPr>
              </a:p>
              <a:p>
                <a:pPr marL="457200" indent="-406400">
                  <a:lnSpc>
                    <a:spcPct val="115000"/>
                  </a:lnSpc>
                  <a:buSzPts val="2800"/>
                  <a:buFont typeface="Arial"/>
                  <a:buChar char="●"/>
                </a:pPr>
                <a:endParaRPr lang="pt-BR" altLang="pt-BR" sz="2800" dirty="0"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13" name="Shape 4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87" y="1484312"/>
                <a:ext cx="8229600" cy="4526100"/>
              </a:xfrm>
              <a:prstGeom prst="rect">
                <a:avLst/>
              </a:prstGeom>
              <a:blipFill>
                <a:blip r:embed="rId3"/>
                <a:stretch>
                  <a:fillRect l="-741" t="-363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aixaDeTexto 1"/>
          <p:cNvSpPr txBox="1"/>
          <p:nvPr/>
        </p:nvSpPr>
        <p:spPr>
          <a:xfrm>
            <a:off x="80683" y="5943600"/>
            <a:ext cx="47871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Ver detalhes na planilha: </a:t>
            </a:r>
            <a:r>
              <a:rPr lang="pt-BR" b="1" i="1" dirty="0"/>
              <a:t>exemplos_quiquadrado.xls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4817129" y="3957035"/>
            <a:ext cx="8785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5,99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5953125" y="4064757"/>
            <a:ext cx="19750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/>
              <a:t>O valor de </a:t>
            </a:r>
            <a:r>
              <a:rPr lang="pt-BR" sz="1000" b="1" dirty="0"/>
              <a:t>6,12</a:t>
            </a:r>
            <a:r>
              <a:rPr lang="pt-BR" sz="1000" dirty="0"/>
              <a:t> está dentro da região de rejeição</a:t>
            </a:r>
          </a:p>
        </p:txBody>
      </p:sp>
      <p:pic>
        <p:nvPicPr>
          <p:cNvPr id="19" name="Imagem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963" y="1901960"/>
            <a:ext cx="3336325" cy="1809355"/>
          </a:xfrm>
          <a:prstGeom prst="rect">
            <a:avLst/>
          </a:prstGeom>
        </p:spPr>
      </p:pic>
      <p:cxnSp>
        <p:nvCxnSpPr>
          <p:cNvPr id="12" name="Conector de Seta Reta 11"/>
          <p:cNvCxnSpPr/>
          <p:nvPr/>
        </p:nvCxnSpPr>
        <p:spPr>
          <a:xfrm flipH="1">
            <a:off x="5290185" y="3534713"/>
            <a:ext cx="537880" cy="434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>
            <a:stCxn id="15" idx="0"/>
          </p:cNvCxnSpPr>
          <p:nvPr/>
        </p:nvCxnSpPr>
        <p:spPr>
          <a:xfrm flipH="1" flipV="1">
            <a:off x="6131859" y="3534713"/>
            <a:ext cx="808784" cy="5300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53835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/>
          <p:nvPr/>
        </p:nvSpPr>
        <p:spPr>
          <a:xfrm>
            <a:off x="457200" y="350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Onde</a:t>
            </a:r>
            <a:r>
              <a:rPr lang="en-US" sz="3000" b="1" dirty="0">
                <a:solidFill>
                  <a:schemeClr val="lt1"/>
                </a:solidFill>
              </a:rPr>
              <a:t> </a:t>
            </a:r>
            <a:r>
              <a:rPr lang="en-US" sz="3000" b="1" dirty="0" err="1">
                <a:solidFill>
                  <a:schemeClr val="lt1"/>
                </a:solidFill>
              </a:rPr>
              <a:t>estudar</a:t>
            </a:r>
            <a:r>
              <a:rPr lang="en-US" sz="3000" b="1" dirty="0">
                <a:solidFill>
                  <a:schemeClr val="lt1"/>
                </a:solidFill>
              </a:rPr>
              <a:t> </a:t>
            </a:r>
            <a:r>
              <a:rPr lang="en-US" sz="3000" b="1" dirty="0" err="1">
                <a:solidFill>
                  <a:schemeClr val="lt1"/>
                </a:solidFill>
              </a:rPr>
              <a:t>mais</a:t>
            </a:r>
            <a:r>
              <a:rPr lang="en-US" sz="3000" b="1" dirty="0">
                <a:solidFill>
                  <a:schemeClr val="lt1"/>
                </a:solidFill>
              </a:rPr>
              <a:t>!!</a:t>
            </a:r>
            <a:endParaRPr dirty="0"/>
          </a:p>
        </p:txBody>
      </p:sp>
      <p:sp>
        <p:nvSpPr>
          <p:cNvPr id="413" name="Shape 413"/>
          <p:cNvSpPr/>
          <p:nvPr/>
        </p:nvSpPr>
        <p:spPr>
          <a:xfrm>
            <a:off x="395287" y="1484312"/>
            <a:ext cx="3853984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r>
              <a:rPr lang="pt-BR" sz="2000" dirty="0"/>
              <a:t>Leitura</a:t>
            </a:r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dirty="0"/>
          </a:p>
          <a:p>
            <a:pPr marL="457200" lvl="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11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b="0" i="0" u="none" strike="noStrike" cap="none" dirty="0">
              <a:solidFill>
                <a:srgbClr val="000000"/>
              </a:solidFill>
              <a:sym typeface="Arial"/>
            </a:endParaRPr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b="0" i="0" u="none" strike="noStrike" cap="none" dirty="0">
              <a:solidFill>
                <a:srgbClr val="000000"/>
              </a:solidFill>
              <a:sym typeface="Arial"/>
            </a:endParaRPr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b="0" i="0" u="none" strike="noStrike" cap="none" dirty="0">
              <a:solidFill>
                <a:srgbClr val="000000"/>
              </a:solidFill>
              <a:sym typeface="Arial"/>
            </a:endParaRPr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b="0" i="0" u="none" strike="noStrike" cap="none" dirty="0">
              <a:solidFill>
                <a:srgbClr val="000000"/>
              </a:solidFill>
              <a:sym typeface="Arial"/>
            </a:endParaRPr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8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8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2" indent="-292100" algn="l" rtl="0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2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Shape 413"/>
          <p:cNvSpPr/>
          <p:nvPr/>
        </p:nvSpPr>
        <p:spPr>
          <a:xfrm>
            <a:off x="4859713" y="1393397"/>
            <a:ext cx="3853984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r>
              <a:rPr lang="pt-BR" sz="2000" dirty="0"/>
              <a:t>Vídeos</a:t>
            </a:r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b="0" i="0" u="none" strike="noStrike" cap="none" dirty="0">
              <a:solidFill>
                <a:srgbClr val="000000"/>
              </a:solidFill>
              <a:sym typeface="Arial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1100" dirty="0"/>
              <a:t>Distribuição </a:t>
            </a:r>
            <a:r>
              <a:rPr lang="pt-BR" sz="1100" dirty="0" err="1"/>
              <a:t>Qui</a:t>
            </a:r>
            <a:r>
              <a:rPr lang="pt-BR" sz="1100" dirty="0"/>
              <a:t>-Quadrado: </a:t>
            </a:r>
            <a:r>
              <a:rPr lang="pt-BR" sz="1100" dirty="0">
                <a:hlinkClick r:id="rId3"/>
              </a:rPr>
              <a:t>https://pt.khanacademy.org/math/statistics-probability/inference-categorical-data-chi-square-tests/chi-square-goodness-of-fit-tests/v/chi-square-distribution-introduction</a:t>
            </a:r>
            <a:endParaRPr lang="pt-BR" sz="1100" dirty="0"/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1100" b="0" i="0" u="none" strike="noStrike" cap="none" dirty="0">
              <a:solidFill>
                <a:srgbClr val="000000"/>
              </a:solidFill>
              <a:sym typeface="Arial"/>
            </a:endParaRPr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1100" dirty="0"/>
              <a:t>Teste </a:t>
            </a:r>
            <a:r>
              <a:rPr lang="pt-BR" sz="1100" dirty="0" err="1"/>
              <a:t>Qui</a:t>
            </a:r>
            <a:r>
              <a:rPr lang="pt-BR" sz="1100" dirty="0"/>
              <a:t>-Quadrado: </a:t>
            </a:r>
            <a:r>
              <a:rPr lang="pt-BR" sz="1100" dirty="0">
                <a:hlinkClick r:id="rId4"/>
              </a:rPr>
              <a:t>https://pt.khanacademy.org/math/statistics-probability/inference-categorical-data-chi-square-tests/chi-square-goodness-of-fit-tests/v/pearson-s-chi-square-test-goodness-of-fit</a:t>
            </a:r>
            <a:endParaRPr lang="pt-BR" sz="1100" dirty="0"/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1100" dirty="0"/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r>
              <a:rPr lang="pt-BR" sz="1100" dirty="0"/>
              <a:t>Teste </a:t>
            </a:r>
            <a:r>
              <a:rPr lang="pt-BR" sz="1100" dirty="0" err="1"/>
              <a:t>Qui</a:t>
            </a:r>
            <a:r>
              <a:rPr lang="pt-BR" sz="1100" dirty="0"/>
              <a:t>-Quadrado para tabelas cruzadas: </a:t>
            </a:r>
            <a:r>
              <a:rPr lang="pt-BR" sz="1100" dirty="0">
                <a:hlinkClick r:id="rId5"/>
              </a:rPr>
              <a:t>https://pt.khanacademy.org/math/statistics-probability/inference-categorical-data-chi-square-tests/chi-square-tests-for-homogeneity-and-association-independence/v/contingency-table-chi-square-test</a:t>
            </a:r>
            <a:endParaRPr lang="pt-BR" sz="1100" i="1" dirty="0"/>
          </a:p>
          <a:p>
            <a:pPr marL="457200" indent="-406400">
              <a:lnSpc>
                <a:spcPct val="115000"/>
              </a:lnSpc>
              <a:buSzPts val="2800"/>
              <a:buFont typeface="Arial"/>
              <a:buChar char="●"/>
            </a:pPr>
            <a:endParaRPr lang="pt-BR" sz="1100" b="0" i="0" u="none" strike="noStrike" cap="none" dirty="0">
              <a:solidFill>
                <a:srgbClr val="000000"/>
              </a:solidFill>
              <a:sym typeface="Arial"/>
            </a:endParaRPr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2" indent="-292100" algn="l" rtl="0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2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2F0F96-8D81-4124-BED7-00DC4FEF1C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4282" y="2177473"/>
            <a:ext cx="2441248" cy="3162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724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Shape 4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Shape 455"/>
          <p:cNvPicPr preferRelativeResize="0"/>
          <p:nvPr/>
        </p:nvPicPr>
        <p:blipFill rotWithShape="1">
          <a:blip r:embed="rId4">
            <a:alphaModFix/>
          </a:blip>
          <a:srcRect l="14" r="14"/>
          <a:stretch/>
        </p:blipFill>
        <p:spPr>
          <a:xfrm>
            <a:off x="215412" y="642938"/>
            <a:ext cx="8440615" cy="5716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5_Personalizar design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5927</TotalTime>
  <Words>1545</Words>
  <Application>Microsoft Office PowerPoint</Application>
  <PresentationFormat>Apresentação na tela (4:3)</PresentationFormat>
  <Paragraphs>543</Paragraphs>
  <Slides>27</Slides>
  <Notes>27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27</vt:i4>
      </vt:variant>
    </vt:vector>
  </HeadingPairs>
  <TitlesOfParts>
    <vt:vector size="33" baseType="lpstr">
      <vt:lpstr>Montserrat</vt:lpstr>
      <vt:lpstr>Arial</vt:lpstr>
      <vt:lpstr>Cambria Math</vt:lpstr>
      <vt:lpstr>Calibri</vt:lpstr>
      <vt:lpstr>Office Theme</vt:lpstr>
      <vt:lpstr>5_Personalizar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Alcides Carlos de Araújo</cp:lastModifiedBy>
  <cp:revision>436</cp:revision>
  <dcterms:modified xsi:type="dcterms:W3CDTF">2022-07-27T02:23:56Z</dcterms:modified>
</cp:coreProperties>
</file>